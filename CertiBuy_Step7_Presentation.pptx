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18"/>
    <p:sldId id="268" r:id="rId19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Confidence</c:v>
                </c:pt>
              </c:strCache>
            </c:strRef>
          </c:tx>
          <c:spPr>
            <a:solidFill>
              <a:srgbClr val="6C4BB6"/>
            </a:solidFill>
            <a:ln w="44450" cap="flat">
              <a:solidFill>
                <a:srgbClr val="6C4B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6C4BB6"/>
              </a:solidFill>
              <a:ln w="9525" cap="flat">
                <a:solidFill>
                  <a:srgbClr val="6C4B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Trigger</c:v>
                  </c:pt>
                  <c:pt idx="1">
                    <c:v>Discovery</c:v>
                  </c:pt>
                  <c:pt idx="2">
                    <c:v>Comparison</c:v>
                  </c:pt>
                  <c:pt idx="3">
                    <c:v>Verification</c:v>
                  </c:pt>
                  <c:pt idx="4">
                    <c:v>Decision</c:v>
                  </c:pt>
                  <c:pt idx="5">
                    <c:v>Post-purchase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</c:v>
                </c:pt>
                <c:pt idx="1">
                  <c:v>58</c:v>
                </c:pt>
                <c:pt idx="2">
                  <c:v>30</c:v>
                </c:pt>
                <c:pt idx="3">
                  <c:v>68</c:v>
                </c:pt>
                <c:pt idx="4">
                  <c:v>88</c:v>
                </c:pt>
                <c:pt idx="5">
                  <c:v>78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1" i="0" u="none" strike="noStrike">
                <a:solidFill>
                  <a:srgbClr val="433C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image" Target="../media/image-4-2.png"/><Relationship Id="rId7" Type="http://schemas.openxmlformats.org/officeDocument/2006/relationships/image" Target="../media/image-4-2.png"/><Relationship Id="rId8" Type="http://schemas.openxmlformats.org/officeDocument/2006/relationships/image" Target="../media/image-4-2.png"/><Relationship Id="rId9" Type="http://schemas.openxmlformats.org/officeDocument/2006/relationships/image" Target="../media/image-4-9.png"/><Relationship Id="rId10" Type="http://schemas.openxmlformats.org/officeDocument/2006/relationships/image" Target="../media/image-4-2.png"/><Relationship Id="rId11" Type="http://schemas.openxmlformats.org/officeDocument/2006/relationships/image" Target="../media/image-4-2.png"/><Relationship Id="rId12" Type="http://schemas.openxmlformats.org/officeDocument/2006/relationships/image" Target="../media/image-4-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3.png"/><Relationship Id="rId15" Type="http://schemas.openxmlformats.org/officeDocument/2006/relationships/image" Target="../media/image-4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7" Type="http://schemas.openxmlformats.org/officeDocument/2006/relationships/chart" Target="/ppt/charts/chart1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8" Type="http://schemas.openxmlformats.org/officeDocument/2006/relationships/image" Target="../media/p_image6.png"/><Relationship Id="rId3" Type="http://schemas.openxmlformats.org/officeDocument/2006/relationships/image" Target="../media/p_image1.png"/><Relationship Id="rId7" Type="http://schemas.openxmlformats.org/officeDocument/2006/relationships/image" Target="../media/p_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p_image4.png"/><Relationship Id="rId5" Type="http://schemas.openxmlformats.org/officeDocument/2006/relationships/image" Target="../media/p_image3.png"/><Relationship Id="rId10" Type="http://schemas.openxmlformats.org/officeDocument/2006/relationships/image" Target="../media/p_image8.png"/><Relationship Id="rId4" Type="http://schemas.openxmlformats.org/officeDocument/2006/relationships/image" Target="../media/p_image2.png"/><Relationship Id="rId9" Type="http://schemas.openxmlformats.org/officeDocument/2006/relationships/image" Target="../media/p_image7.png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p_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p_image11.png"/><Relationship Id="rId4" Type="http://schemas.openxmlformats.org/officeDocument/2006/relationships/image" Target="../media/p_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0"/>
            <a:ext cx="3456432" cy="6858000"/>
          </a:xfrm>
          <a:prstGeom prst="rect">
            <a:avLst/>
          </a:prstGeom>
          <a:solidFill>
            <a:srgbClr val="160B30"/>
          </a:solidFill>
          <a:ln/>
        </p:spPr>
      </p:sp>
      <p:pic>
        <p:nvPicPr>
          <p:cNvPr id="3" name="Image 0" descr="/home/claude/certibuy/avatar.png"/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732520" y="0"/>
            <a:ext cx="3456432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32520" y="0"/>
            <a:ext cx="822960" cy="6858000"/>
          </a:xfrm>
          <a:prstGeom prst="rect">
            <a:avLst/>
          </a:prstGeom>
          <a:solidFill>
            <a:srgbClr val="160B30">
              <a:alpha val="6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777240" y="685800"/>
            <a:ext cx="603504" cy="603504"/>
          </a:xfrm>
          <a:prstGeom prst="ellipse">
            <a:avLst/>
          </a:prstGeom>
          <a:solidFill>
            <a:srgbClr val="6C4BB6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6" name="Image 1" descr="/home/claude/certibuy/ic_shield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850392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81328" y="6583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CertiBuy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1490472" y="106070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C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TRUSTED RESALE MARKETPLACE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777240" y="224028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 Persona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with AI</a:t>
            </a:r>
            <a:endParaRPr lang="en-US" sz="4600" dirty="0"/>
          </a:p>
        </p:txBody>
      </p:sp>
      <p:sp>
        <p:nvSpPr>
          <p:cNvPr id="10" name="Text 6"/>
          <p:cNvSpPr/>
          <p:nvPr/>
        </p:nvSpPr>
        <p:spPr>
          <a:xfrm>
            <a:off x="795528" y="4069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A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trust-first persona and product-strategy synthesis — grounding three real qualitative interviews, extending them with AI-synthesized adjacent segments, and tracing every insight back to its source.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795528" y="5257800"/>
            <a:ext cx="2395728" cy="841248"/>
          </a:xfrm>
          <a:prstGeom prst="roundRect">
            <a:avLst>
              <a:gd name="adj" fmla="val 6522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8C7BB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60120" y="5394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BUYERS + 1 SELLER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960120" y="57058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interviews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374136" y="5257800"/>
            <a:ext cx="2395728" cy="841248"/>
          </a:xfrm>
          <a:prstGeom prst="roundRect">
            <a:avLst>
              <a:gd name="adj" fmla="val 6522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8C7BB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538728" y="5394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AI RESPONDENTS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3538728" y="57058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extension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952744" y="5257800"/>
            <a:ext cx="2395728" cy="841248"/>
          </a:xfrm>
          <a:prstGeom prst="roundRect">
            <a:avLst>
              <a:gd name="adj" fmla="val 6522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8C7BB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117336" y="5394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TRACEABILITY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117336" y="57058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[REAL] · [AI] · [BOTH]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79552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FA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with AI  ·  Batch 02  ·  Step 7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C4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 &amp; 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studied, and how this deck unfolds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160520" cy="4480560"/>
          </a:xfrm>
          <a:prstGeom prst="roundRect">
            <a:avLst>
              <a:gd name="adj" fmla="val 1758"/>
            </a:avLst>
          </a:prstGeom>
          <a:solidFill>
            <a:srgbClr val="2A2440"/>
          </a:solidFill>
          <a:ln/>
          <a:effectLst>
            <a:outerShdw sx="100000" sy="100000" kx="0" ky="0" algn="bl" rotWithShape="0" blurRad="114300" dist="38100" dir="8100000">
              <a:srgbClr val="2A244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566928" cy="566928"/>
          </a:xfrm>
          <a:prstGeom prst="ellipse">
            <a:avLst/>
          </a:prstGeom>
          <a:solidFill>
            <a:srgbClr val="6C4BB6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6" name="Image 0" descr="/home/claude/certibuy/ic_mobile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16712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20482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FOCUS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572768" y="2249424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Buying &amp; selling pre-owned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gadgets on CertiBuy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8680" y="320040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A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trusted resale marketplace for smartphones, laptops and tablets — where the same person both upgrades and resells, and trust gates every transaction before price.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8680" y="4297680"/>
            <a:ext cx="365760" cy="365760"/>
          </a:xfrm>
          <a:prstGeom prst="ellipse">
            <a:avLst/>
          </a:prstGeom>
          <a:solidFill>
            <a:srgbClr val="7A3B8F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11" name="Image 1" descr="/home/claude/certibuy/ic_recycl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4398264"/>
            <a:ext cx="164592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53312" y="4297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upgrade-resell loop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68680" y="4864608"/>
            <a:ext cx="365760" cy="365760"/>
          </a:xfrm>
          <a:prstGeom prst="ellipse">
            <a:avLst/>
          </a:prstGeom>
          <a:solidFill>
            <a:srgbClr val="7A3B8F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14" name="Image 2" descr="/home/claude/certibuy/ic_shield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965192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53312" y="4864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deficit blocks conversion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68680" y="5431536"/>
            <a:ext cx="365760" cy="365760"/>
          </a:xfrm>
          <a:prstGeom prst="ellipse">
            <a:avLst/>
          </a:prstGeom>
          <a:solidFill>
            <a:srgbClr val="7A3B8F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17" name="Image 3" descr="/home/claude/certibuy/ic_handshak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5532120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53312" y="54315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two-sided market to design for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5029200" y="1783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4DD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20" name="Text 14"/>
          <p:cNvSpPr/>
          <p:nvPr/>
        </p:nvSpPr>
        <p:spPr>
          <a:xfrm>
            <a:off x="5715000" y="18013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approach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5715000" y="209397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interviewed and why they matter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5029200" y="24048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4DD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5715000" y="2423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5715000" y="271576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→ synthesize → consolidate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029200" y="302666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4DD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26" name="Text 20"/>
          <p:cNvSpPr/>
          <p:nvPr/>
        </p:nvSpPr>
        <p:spPr>
          <a:xfrm>
            <a:off x="5715000" y="30449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5715000" y="33375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findings that shape strategy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029200" y="364845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4DD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29" name="Text 23"/>
          <p:cNvSpPr/>
          <p:nvPr/>
        </p:nvSpPr>
        <p:spPr>
          <a:xfrm>
            <a:off x="5715000" y="36667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persona</a:t>
            </a:r>
            <a:endParaRPr lang="en-US" sz="1450" dirty="0"/>
          </a:p>
        </p:txBody>
      </p:sp>
      <p:sp>
        <p:nvSpPr>
          <p:cNvPr id="30" name="Text 24"/>
          <p:cNvSpPr/>
          <p:nvPr/>
        </p:nvSpPr>
        <p:spPr>
          <a:xfrm>
            <a:off x="5715000" y="39593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Trust-Gated Upgrader” card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5029200" y="427024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4DD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32" name="Text 26"/>
          <p:cNvSpPr/>
          <p:nvPr/>
        </p:nvSpPr>
        <p:spPr>
          <a:xfrm>
            <a:off x="5715000" y="42885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maps</a:t>
            </a:r>
            <a:endParaRPr lang="en-US" sz="1450" dirty="0"/>
          </a:p>
        </p:txBody>
      </p:sp>
      <p:sp>
        <p:nvSpPr>
          <p:cNvPr id="33" name="Text 27"/>
          <p:cNvSpPr/>
          <p:nvPr/>
        </p:nvSpPr>
        <p:spPr>
          <a:xfrm>
            <a:off x="5715000" y="458114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authentication &amp; seller safety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5029200" y="4892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4DD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600" dirty="0"/>
          </a:p>
        </p:txBody>
      </p:sp>
      <p:sp>
        <p:nvSpPr>
          <p:cNvPr id="35" name="Text 29"/>
          <p:cNvSpPr/>
          <p:nvPr/>
        </p:nvSpPr>
        <p:spPr>
          <a:xfrm>
            <a:off x="5715000" y="49103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matrix</a:t>
            </a:r>
            <a:endParaRPr lang="en-US" sz="1450" dirty="0"/>
          </a:p>
        </p:txBody>
      </p:sp>
      <p:sp>
        <p:nvSpPr>
          <p:cNvPr id="36" name="Text 30"/>
          <p:cNvSpPr/>
          <p:nvPr/>
        </p:nvSpPr>
        <p:spPr>
          <a:xfrm>
            <a:off x="5715000" y="520293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vs AI, with full traceability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5029200" y="55138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4DD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600" dirty="0"/>
          </a:p>
        </p:txBody>
      </p:sp>
      <p:sp>
        <p:nvSpPr>
          <p:cNvPr id="38" name="Text 32"/>
          <p:cNvSpPr/>
          <p:nvPr/>
        </p:nvSpPr>
        <p:spPr>
          <a:xfrm>
            <a:off x="5715000" y="5532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implications</a:t>
            </a:r>
            <a:endParaRPr lang="en-US" sz="1450" dirty="0"/>
          </a:p>
        </p:txBody>
      </p:sp>
      <p:sp>
        <p:nvSpPr>
          <p:cNvPr id="39" name="Text 33"/>
          <p:cNvSpPr/>
          <p:nvPr/>
        </p:nvSpPr>
        <p:spPr>
          <a:xfrm>
            <a:off x="5715000" y="582472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CertiBuy should invest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CertiBuy  ·  Consumer Persona &amp; Product Strategy</a:t>
            </a:r>
            <a:endParaRPr lang="en-US" sz="850" dirty="0"/>
          </a:p>
        </p:txBody>
      </p:sp>
      <p:sp>
        <p:nvSpPr>
          <p:cNvPr id="41" name="Text 3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C4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real voices anchor the truth; AI widens the lens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45-minute open-ended interviews surfaced real motivations and contradictions. Real evidence is authoritative; synthetic respondents only fill gaps the three-person sample could not reach.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84448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11680"/>
            <a:ext cx="91440" cy="2331720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240280"/>
            <a:ext cx="548640" cy="548640"/>
          </a:xfrm>
          <a:prstGeom prst="ellipse">
            <a:avLst/>
          </a:prstGeom>
          <a:solidFill>
            <a:srgbClr val="1F6FB2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8" name="Image 0" descr="/home/claude/certibuy/ic_search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38658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2494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RISHABH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508760" y="25603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· Gurgaon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22960" y="2971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price-sensitive, EMI-led. Prefers offline for trust — but would switch online for fast support &amp; clear warranty.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" y="39684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[REAL]  </a:t>
            </a:r>
            <a:pPr indent="0" marL="0">
              <a:buNone/>
            </a:pPr>
            <a:r>
              <a:rPr lang="en-US" sz="100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upgrader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325112" y="2011680"/>
            <a:ext cx="3584448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25112" y="2011680"/>
            <a:ext cx="91440" cy="2331720"/>
          </a:xfrm>
          <a:prstGeom prst="rect">
            <a:avLst/>
          </a:prstGeom>
          <a:solidFill>
            <a:srgbClr val="7A3B8F"/>
          </a:solidFill>
          <a:ln/>
        </p:spPr>
      </p:sp>
      <p:sp>
        <p:nvSpPr>
          <p:cNvPr id="15" name="Shape 12"/>
          <p:cNvSpPr/>
          <p:nvPr/>
        </p:nvSpPr>
        <p:spPr>
          <a:xfrm>
            <a:off x="4599432" y="2240280"/>
            <a:ext cx="548640" cy="548640"/>
          </a:xfrm>
          <a:prstGeom prst="ellipse">
            <a:avLst/>
          </a:prstGeom>
          <a:solidFill>
            <a:srgbClr val="7A3B8F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16" name="Image 1" descr="/home/claude/certibuy/ic_video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2386584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85232" y="22494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GIA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5285232" y="25603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3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· Hyderabad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599432" y="2971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pro on the Apple/Samsung ecosystem. 7-step journey; stalls at comparison, converts on video verification.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599432" y="39684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3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[REAL]  </a:t>
            </a:r>
            <a:pPr indent="0" marL="0">
              <a:buNone/>
            </a:pPr>
            <a:r>
              <a:rPr lang="en-US" sz="100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Research-first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8101584" y="2011680"/>
            <a:ext cx="3584448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101584" y="2011680"/>
            <a:ext cx="91440" cy="2331720"/>
          </a:xfrm>
          <a:prstGeom prst="rect">
            <a:avLst/>
          </a:prstGeom>
          <a:solidFill>
            <a:srgbClr val="6C4BB6"/>
          </a:solidFill>
          <a:ln/>
        </p:spPr>
      </p:sp>
      <p:sp>
        <p:nvSpPr>
          <p:cNvPr id="23" name="Shape 19"/>
          <p:cNvSpPr/>
          <p:nvPr/>
        </p:nvSpPr>
        <p:spPr>
          <a:xfrm>
            <a:off x="8375904" y="2240280"/>
            <a:ext cx="548640" cy="548640"/>
          </a:xfrm>
          <a:prstGeom prst="ellipse">
            <a:avLst/>
          </a:prstGeom>
          <a:solidFill>
            <a:srgbClr val="6C4BB6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24" name="Image 2" descr="/home/claude/certibuy/ic_warehous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386584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061704" y="22494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SELLER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9061704" y="25603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4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alone · employed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8375904" y="2971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Resells to fund upgrades. Wants a neutral handoff centre — direct buyer visits feel genuinely unsafe.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8375904" y="39684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4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[REAL]  </a:t>
            </a:r>
            <a:pPr indent="0" marL="0">
              <a:buNone/>
            </a:pPr>
            <a:r>
              <a:rPr lang="en-US" sz="100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Safety-gated supply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548640" y="4572000"/>
            <a:ext cx="11091672" cy="1463040"/>
          </a:xfrm>
          <a:prstGeom prst="roundRect">
            <a:avLst>
              <a:gd name="adj" fmla="val 4375"/>
            </a:avLst>
          </a:prstGeom>
          <a:solidFill>
            <a:srgbClr val="E4DDF1"/>
          </a:solidFill>
          <a:ln/>
        </p:spPr>
      </p:sp>
      <p:sp>
        <p:nvSpPr>
          <p:cNvPr id="30" name="Shape 25"/>
          <p:cNvSpPr/>
          <p:nvPr/>
        </p:nvSpPr>
        <p:spPr>
          <a:xfrm>
            <a:off x="777240" y="4773168"/>
            <a:ext cx="502920" cy="502920"/>
          </a:xfrm>
          <a:prstGeom prst="ellipse">
            <a:avLst/>
          </a:prstGeom>
          <a:solidFill>
            <a:srgbClr val="2A2440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31" name="Image 3" descr="/home/claude/certibuy/ic_robo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910328"/>
            <a:ext cx="228600" cy="2286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417320" y="47731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AI-SYNTHESIZED EXTENSION — 6 adjacent segments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1417320" y="5047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to populate the edge-case spectrum the real sample could not see — held as hypotheses, never validated fact.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1417320" y="5413248"/>
            <a:ext cx="32461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35" name="Text 29"/>
          <p:cNvSpPr/>
          <p:nvPr/>
        </p:nvSpPr>
        <p:spPr>
          <a:xfrm>
            <a:off x="1527048" y="54132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4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[AI]  </a:t>
            </a:r>
            <a:pPr indent="0" marL="0">
              <a:buNone/>
            </a:pPr>
            <a:r>
              <a:rPr lang="en-US" sz="95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Vikram · Power user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4846320" y="5413248"/>
            <a:ext cx="32461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37" name="Text 31"/>
          <p:cNvSpPr/>
          <p:nvPr/>
        </p:nvSpPr>
        <p:spPr>
          <a:xfrm>
            <a:off x="4956048" y="54132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4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[AI]  </a:t>
            </a:r>
            <a:pPr indent="0" marL="0">
              <a:buNone/>
            </a:pPr>
            <a:r>
              <a:rPr lang="en-US" sz="95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· Budget adopter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8275320" y="5413248"/>
            <a:ext cx="32461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39" name="Text 33"/>
          <p:cNvSpPr/>
          <p:nvPr/>
        </p:nvSpPr>
        <p:spPr>
          <a:xfrm>
            <a:off x="8385048" y="54132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4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[AI]  </a:t>
            </a:r>
            <a:pPr indent="0" marL="0">
              <a:buNone/>
            </a:pPr>
            <a:r>
              <a:rPr lang="en-US" sz="95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Meera · Proxy buyer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1417320" y="5742432"/>
            <a:ext cx="32461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41" name="Text 35"/>
          <p:cNvSpPr/>
          <p:nvPr/>
        </p:nvSpPr>
        <p:spPr>
          <a:xfrm>
            <a:off x="1527048" y="57424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4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[AI]  </a:t>
            </a:r>
            <a:pPr indent="0" marL="0">
              <a:buNone/>
            </a:pPr>
            <a:r>
              <a:rPr lang="en-US" sz="95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· Churned detractor</a:t>
            </a:r>
            <a:endParaRPr 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4846320" y="5742432"/>
            <a:ext cx="32461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43" name="Text 37"/>
          <p:cNvSpPr/>
          <p:nvPr/>
        </p:nvSpPr>
        <p:spPr>
          <a:xfrm>
            <a:off x="4956048" y="57424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4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[AI]  </a:t>
            </a:r>
            <a:pPr indent="0" marL="0">
              <a:buNone/>
            </a:pPr>
            <a:r>
              <a:rPr lang="en-US" sz="95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Sunita · Dormant seller</a:t>
            </a:r>
            <a:endParaRPr lang="en-US" sz="950" dirty="0"/>
          </a:p>
        </p:txBody>
      </p:sp>
      <p:sp>
        <p:nvSpPr>
          <p:cNvPr id="44" name="Shape 38"/>
          <p:cNvSpPr/>
          <p:nvPr/>
        </p:nvSpPr>
        <p:spPr>
          <a:xfrm>
            <a:off x="8275320" y="5742432"/>
            <a:ext cx="32461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45" name="Text 39"/>
          <p:cNvSpPr/>
          <p:nvPr/>
        </p:nvSpPr>
        <p:spPr>
          <a:xfrm>
            <a:off x="8385048" y="57424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4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[AI]  </a:t>
            </a:r>
            <a:pPr indent="0" marL="0">
              <a:buNone/>
            </a:pPr>
            <a:r>
              <a:rPr lang="en-US" sz="95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· Skeptic</a:t>
            </a:r>
            <a:endParaRPr lang="en-US" sz="950" dirty="0"/>
          </a:p>
        </p:txBody>
      </p:sp>
      <p:sp>
        <p:nvSpPr>
          <p:cNvPr id="46" name="Text 4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CertiBuy  ·  Consumer Persona &amp; Product Strategy</a:t>
            </a:r>
            <a:endParaRPr lang="en-US" sz="850" dirty="0"/>
          </a:p>
        </p:txBody>
      </p:sp>
      <p:sp>
        <p:nvSpPr>
          <p:cNvPr id="47" name="Text 4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C4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prompting turned raw transcripts into a defensible persona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56432" cy="3657600"/>
          </a:xfrm>
          <a:prstGeom prst="roundRect">
            <a:avLst>
              <a:gd name="adj" fmla="val 2116"/>
            </a:avLst>
          </a:prstGeom>
          <a:solidFill>
            <a:srgbClr val="F4F1FA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1F6FB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423160"/>
            <a:ext cx="3456432" cy="640080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011680"/>
            <a:ext cx="658368" cy="65836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8" name="Image 0" descr="/home/claude/certibuy/ic_database_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185416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27632" y="2029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0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627632" y="224942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 IN</a:t>
            </a:r>
            <a:endParaRPr lang="en-US" sz="15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DATA</a:t>
            </a:r>
            <a:endParaRPr lang="en-US" sz="1500" dirty="0"/>
          </a:p>
        </p:txBody>
      </p:sp>
      <p:pic>
        <p:nvPicPr>
          <p:cNvPr id="11" name="Image 1" descr="/home/claude/certibuy/ic_check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328416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70432" y="3273552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3 transcripts</a:t>
            </a:r>
            <a:endParaRPr lang="en-US" sz="1100" dirty="0"/>
          </a:p>
        </p:txBody>
      </p:sp>
      <p:pic>
        <p:nvPicPr>
          <p:cNvPr id="13" name="Image 2" descr="/home/claude/certibuy/ic_check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041648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3986784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motivations, pains,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triggers, emotional drivers</a:t>
            </a:r>
            <a:endParaRPr lang="en-US" sz="1100" dirty="0"/>
          </a:p>
        </p:txBody>
      </p:sp>
      <p:pic>
        <p:nvPicPr>
          <p:cNvPr id="15" name="Image 3" descr="/home/claude/certibuy/ic_check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754880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70432" y="4700016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back where AI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overreaches or invents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4361688" y="1783080"/>
            <a:ext cx="3456432" cy="3657600"/>
          </a:xfrm>
          <a:prstGeom prst="roundRect">
            <a:avLst>
              <a:gd name="adj" fmla="val 2116"/>
            </a:avLst>
          </a:prstGeom>
          <a:solidFill>
            <a:srgbClr val="F4F1FA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361688" y="1783080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7A3B8F"/>
          </a:solidFill>
          <a:ln/>
        </p:spPr>
      </p:sp>
      <p:sp>
        <p:nvSpPr>
          <p:cNvPr id="19" name="Shape 13"/>
          <p:cNvSpPr/>
          <p:nvPr/>
        </p:nvSpPr>
        <p:spPr>
          <a:xfrm>
            <a:off x="4361688" y="2423160"/>
            <a:ext cx="3456432" cy="640080"/>
          </a:xfrm>
          <a:prstGeom prst="rect">
            <a:avLst/>
          </a:prstGeom>
          <a:solidFill>
            <a:srgbClr val="7A3B8F"/>
          </a:solidFill>
          <a:ln/>
        </p:spPr>
      </p:sp>
      <p:sp>
        <p:nvSpPr>
          <p:cNvPr id="20" name="Shape 14"/>
          <p:cNvSpPr/>
          <p:nvPr/>
        </p:nvSpPr>
        <p:spPr>
          <a:xfrm>
            <a:off x="4636008" y="2011680"/>
            <a:ext cx="658368" cy="65836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21" name="Image 4" descr="/home/claude/certibuy/ic_layers_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744" y="2185416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440680" y="2029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0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B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5440680" y="224942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SYNTHESIZE</a:t>
            </a:r>
            <a:endParaRPr lang="en-US" sz="15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EXTEND</a:t>
            </a:r>
            <a:endParaRPr lang="en-US" sz="1500" dirty="0"/>
          </a:p>
        </p:txBody>
      </p:sp>
      <p:pic>
        <p:nvPicPr>
          <p:cNvPr id="24" name="Image 5" descr="/home/claude/certibuy/ic_check_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4296" y="3328416"/>
            <a:ext cx="219456" cy="2194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983480" y="3273552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6 adjacent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 profiles</a:t>
            </a:r>
            <a:endParaRPr lang="en-US" sz="1100" dirty="0"/>
          </a:p>
        </p:txBody>
      </p:sp>
      <p:pic>
        <p:nvPicPr>
          <p:cNvPr id="26" name="Image 6" descr="/home/claude/certibuy/ic_check_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4296" y="4041648"/>
            <a:ext cx="219456" cy="219456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4983480" y="3986784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life-stage &amp; income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variations + edge cases</a:t>
            </a:r>
            <a:endParaRPr lang="en-US" sz="1100" dirty="0"/>
          </a:p>
        </p:txBody>
      </p:sp>
      <p:pic>
        <p:nvPicPr>
          <p:cNvPr id="28" name="Image 7" descr="/home/claude/certibuy/ic_check_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4296" y="4754880"/>
            <a:ext cx="219456" cy="219456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4983480" y="4700016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hidden drivers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articulated by users</a:t>
            </a:r>
            <a:endParaRPr lang="en-US" sz="1100" dirty="0"/>
          </a:p>
        </p:txBody>
      </p:sp>
      <p:sp>
        <p:nvSpPr>
          <p:cNvPr id="30" name="Shape 20"/>
          <p:cNvSpPr/>
          <p:nvPr/>
        </p:nvSpPr>
        <p:spPr>
          <a:xfrm>
            <a:off x="8174736" y="1783080"/>
            <a:ext cx="3456432" cy="3657600"/>
          </a:xfrm>
          <a:prstGeom prst="roundRect">
            <a:avLst>
              <a:gd name="adj" fmla="val 2116"/>
            </a:avLst>
          </a:prstGeom>
          <a:solidFill>
            <a:srgbClr val="F4F1FA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sp>
        <p:nvSpPr>
          <p:cNvPr id="31" name="Shape 21"/>
          <p:cNvSpPr/>
          <p:nvPr/>
        </p:nvSpPr>
        <p:spPr>
          <a:xfrm>
            <a:off x="8174736" y="1783080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6C4BB6"/>
          </a:solidFill>
          <a:ln/>
        </p:spPr>
      </p:sp>
      <p:sp>
        <p:nvSpPr>
          <p:cNvPr id="32" name="Shape 22"/>
          <p:cNvSpPr/>
          <p:nvPr/>
        </p:nvSpPr>
        <p:spPr>
          <a:xfrm>
            <a:off x="8174736" y="2423160"/>
            <a:ext cx="3456432" cy="640080"/>
          </a:xfrm>
          <a:prstGeom prst="rect">
            <a:avLst/>
          </a:prstGeom>
          <a:solidFill>
            <a:srgbClr val="6C4BB6"/>
          </a:solidFill>
          <a:ln/>
        </p:spPr>
      </p:sp>
      <p:sp>
        <p:nvSpPr>
          <p:cNvPr id="33" name="Shape 23"/>
          <p:cNvSpPr/>
          <p:nvPr/>
        </p:nvSpPr>
        <p:spPr>
          <a:xfrm>
            <a:off x="8449056" y="2011680"/>
            <a:ext cx="658368" cy="65836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34" name="Image 8" descr="/home/claude/certibuy/ic_consolidate_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22792" y="2185416"/>
            <a:ext cx="310896" cy="310896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9253728" y="2029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0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C</a:t>
            </a:r>
            <a:endParaRPr lang="en-US" sz="1100" dirty="0"/>
          </a:p>
        </p:txBody>
      </p:sp>
      <p:sp>
        <p:nvSpPr>
          <p:cNvPr id="36" name="Text 25"/>
          <p:cNvSpPr/>
          <p:nvPr/>
        </p:nvSpPr>
        <p:spPr>
          <a:xfrm>
            <a:off x="9253728" y="224942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CONSOLIDATE</a:t>
            </a:r>
            <a:endParaRPr lang="en-US" sz="1500" dirty="0"/>
          </a:p>
        </p:txBody>
      </p:sp>
      <p:pic>
        <p:nvPicPr>
          <p:cNvPr id="37" name="Image 9" descr="/home/claude/certibuy/ic_check_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7344" y="3328416"/>
            <a:ext cx="219456" cy="219456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8796528" y="3273552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into one composite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real evidence as spine</a:t>
            </a:r>
            <a:endParaRPr lang="en-US" sz="1100" dirty="0"/>
          </a:p>
        </p:txBody>
      </p:sp>
      <p:pic>
        <p:nvPicPr>
          <p:cNvPr id="39" name="Image 10" descr="/home/claude/certibuy/ic_check_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67344" y="4041648"/>
            <a:ext cx="219456" cy="219456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8796528" y="3986784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every attribute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[REAL] · [AI] · [BOTH]</a:t>
            </a:r>
            <a:endParaRPr lang="en-US" sz="1100" dirty="0"/>
          </a:p>
        </p:txBody>
      </p:sp>
      <p:pic>
        <p:nvPicPr>
          <p:cNvPr id="41" name="Image 11" descr="/home/claude/certibuy/ic_check_g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67344" y="4754880"/>
            <a:ext cx="219456" cy="219456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8796528" y="4700016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assumptions; build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matrix</a:t>
            </a:r>
            <a:endParaRPr lang="en-US" sz="1100" dirty="0"/>
          </a:p>
        </p:txBody>
      </p:sp>
      <p:sp>
        <p:nvSpPr>
          <p:cNvPr id="43" name="Shape 29"/>
          <p:cNvSpPr/>
          <p:nvPr/>
        </p:nvSpPr>
        <p:spPr>
          <a:xfrm>
            <a:off x="3959352" y="3383280"/>
            <a:ext cx="457200" cy="457200"/>
          </a:xfrm>
          <a:prstGeom prst="ellipse">
            <a:avLst/>
          </a:prstGeom>
          <a:solidFill>
            <a:srgbClr val="2A2440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44" name="Image 12" descr="/home/claude/certibuy/ic_arrow_w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78224" y="3502152"/>
            <a:ext cx="219456" cy="219456"/>
          </a:xfrm>
          <a:prstGeom prst="rect">
            <a:avLst/>
          </a:prstGeom>
        </p:spPr>
      </p:pic>
      <p:sp>
        <p:nvSpPr>
          <p:cNvPr id="45" name="Shape 30"/>
          <p:cNvSpPr/>
          <p:nvPr/>
        </p:nvSpPr>
        <p:spPr>
          <a:xfrm>
            <a:off x="7772400" y="3383280"/>
            <a:ext cx="457200" cy="457200"/>
          </a:xfrm>
          <a:prstGeom prst="ellipse">
            <a:avLst/>
          </a:prstGeom>
          <a:solidFill>
            <a:srgbClr val="2A2440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46" name="Image 13" descr="/home/claude/certibuy/ic_arrow_w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91272" y="3502152"/>
            <a:ext cx="219456" cy="219456"/>
          </a:xfrm>
          <a:prstGeom prst="rect">
            <a:avLst/>
          </a:prstGeom>
        </p:spPr>
      </p:pic>
      <p:sp>
        <p:nvSpPr>
          <p:cNvPr id="47" name="Shape 31"/>
          <p:cNvSpPr/>
          <p:nvPr/>
        </p:nvSpPr>
        <p:spPr>
          <a:xfrm>
            <a:off x="548640" y="5669280"/>
            <a:ext cx="11091672" cy="658368"/>
          </a:xfrm>
          <a:prstGeom prst="roundRect">
            <a:avLst>
              <a:gd name="adj" fmla="val 8333"/>
            </a:avLst>
          </a:prstGeom>
          <a:solidFill>
            <a:srgbClr val="2A2440"/>
          </a:solidFill>
          <a:ln/>
        </p:spPr>
      </p:sp>
      <p:sp>
        <p:nvSpPr>
          <p:cNvPr id="48" name="Shape 32"/>
          <p:cNvSpPr/>
          <p:nvPr/>
        </p:nvSpPr>
        <p:spPr>
          <a:xfrm>
            <a:off x="777240" y="5788152"/>
            <a:ext cx="420624" cy="420624"/>
          </a:xfrm>
          <a:prstGeom prst="ellipse">
            <a:avLst/>
          </a:prstGeom>
          <a:solidFill>
            <a:srgbClr val="B26A00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49" name="Image 14" descr="/home/claude/certibuy/ic_finger_w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6968" y="5897880"/>
            <a:ext cx="201168" cy="201168"/>
          </a:xfrm>
          <a:prstGeom prst="rect">
            <a:avLst/>
          </a:prstGeom>
        </p:spPr>
      </p:pic>
      <p:sp>
        <p:nvSpPr>
          <p:cNvPr id="50" name="Text 33"/>
          <p:cNvSpPr/>
          <p:nvPr/>
        </p:nvSpPr>
        <p:spPr>
          <a:xfrm>
            <a:off x="1325880" y="566928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principle:  </a:t>
            </a:r>
            <a:pPr indent="0" marL="0">
              <a:buNone/>
            </a:pPr>
            <a:r>
              <a:rPr lang="en-US" sz="1250" dirty="0">
                <a:solidFill>
                  <a:srgbClr val="DA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findings always take precedence — synthetic insight extends the perimeter but never overrides the spine.</a:t>
            </a:r>
            <a:endParaRPr lang="en-US" sz="1250" dirty="0"/>
          </a:p>
        </p:txBody>
      </p:sp>
      <p:sp>
        <p:nvSpPr>
          <p:cNvPr id="51" name="Text 3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CertiBuy  ·  Consumer Persona &amp; Product Strategy</a:t>
            </a:r>
            <a:endParaRPr lang="en-US" sz="850" dirty="0"/>
          </a:p>
        </p:txBody>
      </p:sp>
      <p:sp>
        <p:nvSpPr>
          <p:cNvPr id="52" name="Text 3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C4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findings that converge across both research streams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39112"/>
            <a:ext cx="566928" cy="566928"/>
          </a:xfrm>
          <a:prstGeom prst="ellipse">
            <a:avLst/>
          </a:prstGeom>
          <a:solidFill>
            <a:srgbClr val="1F6FB2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6" name="Image 0" descr="/home/claude/certibuy/ic_shield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185416"/>
            <a:ext cx="274320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74920" y="2075688"/>
            <a:ext cx="523037" cy="219456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</p:sp>
      <p:sp>
        <p:nvSpPr>
          <p:cNvPr id="8" name="Text 5"/>
          <p:cNvSpPr/>
          <p:nvPr/>
        </p:nvSpPr>
        <p:spPr>
          <a:xfrm>
            <a:off x="5074920" y="2075688"/>
            <a:ext cx="5230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[BOTH]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554480" y="20574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is the gating condition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41248" y="27432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transaction proceeds until authenticity &amp; condition certainty are resolved. Price is always second.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41248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01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153912" y="1783080"/>
            <a:ext cx="54864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28232" y="2039112"/>
            <a:ext cx="566928" cy="56692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14" name="Image 1" descr="/home/claude/certibuy/ic_cert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2185416"/>
            <a:ext cx="274320" cy="2743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0680192" y="2075688"/>
            <a:ext cx="523037" cy="219456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</p:sp>
      <p:sp>
        <p:nvSpPr>
          <p:cNvPr id="16" name="Text 12"/>
          <p:cNvSpPr/>
          <p:nvPr/>
        </p:nvSpPr>
        <p:spPr>
          <a:xfrm>
            <a:off x="10680192" y="2075688"/>
            <a:ext cx="5230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[BOTH]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7159752" y="20574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Certification is the master key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6446520" y="27432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Visible, graded, independent inspection is the single highest-leverage intervention — over-determined in the data.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44652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02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48640" y="4069080"/>
            <a:ext cx="3584448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22960" y="4325112"/>
            <a:ext cx="566928" cy="566928"/>
          </a:xfrm>
          <a:prstGeom prst="ellipse">
            <a:avLst/>
          </a:prstGeom>
          <a:solidFill>
            <a:srgbClr val="7A3B8F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22" name="Image 2" descr="/home/claude/certibuy/ic_recycl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471416"/>
            <a:ext cx="274320" cy="27432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3172968" y="4361688"/>
            <a:ext cx="523037" cy="219456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</p:sp>
      <p:sp>
        <p:nvSpPr>
          <p:cNvPr id="24" name="Text 19"/>
          <p:cNvSpPr/>
          <p:nvPr/>
        </p:nvSpPr>
        <p:spPr>
          <a:xfrm>
            <a:off x="3172968" y="4361688"/>
            <a:ext cx="5230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[BOTH]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822960" y="4965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A3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822960" y="5184648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A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upgrade-resell loop is the engine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822960" y="5696712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Reselling funds upgrading — reframing CertiBuy as recurring upgrade infrastructure.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4325112" y="4069080"/>
            <a:ext cx="3584448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599432" y="4325112"/>
            <a:ext cx="566928" cy="566928"/>
          </a:xfrm>
          <a:prstGeom prst="ellipse">
            <a:avLst/>
          </a:prstGeom>
          <a:solidFill>
            <a:srgbClr val="6C4BB6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30" name="Image 3" descr="/home/claude/certibuy/ic_warehous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4471416"/>
            <a:ext cx="274320" cy="274320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6949440" y="4361688"/>
            <a:ext cx="523037" cy="219456"/>
          </a:xfrm>
          <a:prstGeom prst="roundRect">
            <a:avLst>
              <a:gd name="adj" fmla="val 16667"/>
            </a:avLst>
          </a:prstGeom>
          <a:solidFill>
            <a:srgbClr val="1F6FB2"/>
          </a:solidFill>
          <a:ln/>
        </p:spPr>
      </p:sp>
      <p:sp>
        <p:nvSpPr>
          <p:cNvPr id="32" name="Text 26"/>
          <p:cNvSpPr/>
          <p:nvPr/>
        </p:nvSpPr>
        <p:spPr>
          <a:xfrm>
            <a:off x="6949440" y="4361688"/>
            <a:ext cx="5230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[REAL]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4599432" y="4965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C4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4599432" y="5184648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A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Sellers are structurally underserved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4599432" y="5696712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Buyer-bias plus acute safety concerns create real supply-side churn risk.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8101584" y="4069080"/>
            <a:ext cx="3584448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8375904" y="4325112"/>
            <a:ext cx="566928" cy="566928"/>
          </a:xfrm>
          <a:prstGeom prst="ellipse">
            <a:avLst/>
          </a:prstGeom>
          <a:solidFill>
            <a:srgbClr val="B26A00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38" name="Image 4" descr="/home/claude/certibuy/ic_rupe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08" y="4471416"/>
            <a:ext cx="274320" cy="274320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10725912" y="4361688"/>
            <a:ext cx="523037" cy="219456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</p:sp>
      <p:sp>
        <p:nvSpPr>
          <p:cNvPr id="40" name="Text 33"/>
          <p:cNvSpPr/>
          <p:nvPr/>
        </p:nvSpPr>
        <p:spPr>
          <a:xfrm>
            <a:off x="10725912" y="4361688"/>
            <a:ext cx="5230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[BOTH]</a:t>
            </a:r>
            <a:endParaRPr lang="en-US" sz="850" dirty="0"/>
          </a:p>
        </p:txBody>
      </p:sp>
      <p:sp>
        <p:nvSpPr>
          <p:cNvPr id="41" name="Text 34"/>
          <p:cNvSpPr/>
          <p:nvPr/>
        </p:nvSpPr>
        <p:spPr>
          <a:xfrm>
            <a:off x="8375904" y="4965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8375904" y="5184648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A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sensitivity collapses with trust</a:t>
            </a:r>
            <a:endParaRPr lang="en-US" sz="1400" dirty="0"/>
          </a:p>
        </p:txBody>
      </p:sp>
      <p:sp>
        <p:nvSpPr>
          <p:cNvPr id="43" name="Text 36"/>
          <p:cNvSpPr/>
          <p:nvPr/>
        </p:nvSpPr>
        <p:spPr>
          <a:xfrm>
            <a:off x="8375904" y="5696712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buyers pay a premium for guaranteed authenticity; discount is a fallback.</a:t>
            </a:r>
            <a:endParaRPr lang="en-US" sz="1050" dirty="0"/>
          </a:p>
        </p:txBody>
      </p:sp>
      <p:sp>
        <p:nvSpPr>
          <p:cNvPr id="44" name="Text 37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CertiBuy  ·  Consumer Persona &amp; Product Strategy</a:t>
            </a:r>
            <a:endParaRPr lang="en-US" sz="850" dirty="0"/>
          </a:p>
        </p:txBody>
      </p:sp>
      <p:sp>
        <p:nvSpPr>
          <p:cNvPr id="45" name="Text 3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JOURNEY 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Confidence dips into paralysis at comparison, peaks as relief at decision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1764792" cy="2788920"/>
          </a:xfrm>
          <a:prstGeom prst="roundRect">
            <a:avLst>
              <a:gd name="adj" fmla="val 3109"/>
            </a:avLst>
          </a:prstGeom>
          <a:solidFill>
            <a:srgbClr val="F4F1FA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828800"/>
            <a:ext cx="1764792" cy="64008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6" name="Shape 4"/>
          <p:cNvSpPr/>
          <p:nvPr/>
        </p:nvSpPr>
        <p:spPr>
          <a:xfrm>
            <a:off x="1175004" y="2029968"/>
            <a:ext cx="548640" cy="548640"/>
          </a:xfrm>
          <a:prstGeom prst="ellipse">
            <a:avLst/>
          </a:prstGeom>
          <a:solidFill>
            <a:srgbClr val="1F6FB2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7" name="Image 0" descr="/home/claude/certibuy/ic_bolt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1308" y="217627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2648" y="269748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58368" y="3017520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Launch, need or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milestone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58368" y="3657600"/>
            <a:ext cx="1581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[BOTH]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58368" y="3913632"/>
            <a:ext cx="158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Anticipation +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guilt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441448" y="1828800"/>
            <a:ext cx="1764792" cy="2788920"/>
          </a:xfrm>
          <a:prstGeom prst="roundRect">
            <a:avLst>
              <a:gd name="adj" fmla="val 3109"/>
            </a:avLst>
          </a:prstGeom>
          <a:solidFill>
            <a:srgbClr val="F4F1FA"/>
          </a:solidFill>
          <a:ln/>
        </p:spPr>
      </p:sp>
      <p:sp>
        <p:nvSpPr>
          <p:cNvPr id="13" name="Shape 10"/>
          <p:cNvSpPr/>
          <p:nvPr/>
        </p:nvSpPr>
        <p:spPr>
          <a:xfrm>
            <a:off x="2441448" y="1828800"/>
            <a:ext cx="1764792" cy="64008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14" name="Shape 11"/>
          <p:cNvSpPr/>
          <p:nvPr/>
        </p:nvSpPr>
        <p:spPr>
          <a:xfrm>
            <a:off x="3049524" y="2029968"/>
            <a:ext cx="548640" cy="548640"/>
          </a:xfrm>
          <a:prstGeom prst="ellipse">
            <a:avLst/>
          </a:prstGeom>
          <a:solidFill>
            <a:srgbClr val="1F6FB2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15" name="Image 1" descr="/home/claude/certibuy/ic_search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828" y="2176272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87168" y="269748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2532888" y="3017520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options;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shortlists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2532888" y="3657600"/>
            <a:ext cx="1581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[REAL]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2532888" y="3913632"/>
            <a:ext cx="158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Curious but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315968" y="1828800"/>
            <a:ext cx="1764792" cy="2788920"/>
          </a:xfrm>
          <a:prstGeom prst="roundRect">
            <a:avLst>
              <a:gd name="adj" fmla="val 3109"/>
            </a:avLst>
          </a:prstGeom>
          <a:solidFill>
            <a:srgbClr val="F4F1FA"/>
          </a:solidFill>
          <a:ln/>
        </p:spPr>
      </p:sp>
      <p:sp>
        <p:nvSpPr>
          <p:cNvPr id="21" name="Shape 17"/>
          <p:cNvSpPr/>
          <p:nvPr/>
        </p:nvSpPr>
        <p:spPr>
          <a:xfrm>
            <a:off x="4315968" y="1828800"/>
            <a:ext cx="1764792" cy="64008"/>
          </a:xfrm>
          <a:prstGeom prst="rect">
            <a:avLst/>
          </a:prstGeom>
          <a:solidFill>
            <a:srgbClr val="B0413E"/>
          </a:solidFill>
          <a:ln/>
        </p:spPr>
      </p:sp>
      <p:sp>
        <p:nvSpPr>
          <p:cNvPr id="22" name="Shape 18"/>
          <p:cNvSpPr/>
          <p:nvPr/>
        </p:nvSpPr>
        <p:spPr>
          <a:xfrm>
            <a:off x="4924044" y="2029968"/>
            <a:ext cx="548640" cy="548640"/>
          </a:xfrm>
          <a:prstGeom prst="ellipse">
            <a:avLst/>
          </a:prstGeom>
          <a:solidFill>
            <a:srgbClr val="B0413E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23" name="Image 2" descr="/home/claude/certibuy/ic_scal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0348" y="2176272"/>
            <a:ext cx="256032" cy="25603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361688" y="269748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4407408" y="3017520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options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 the decision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407408" y="3657600"/>
            <a:ext cx="1581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[REAL]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4407408" y="3913632"/>
            <a:ext cx="158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Paralysis /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peak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6190488" y="1828800"/>
            <a:ext cx="1764792" cy="2788920"/>
          </a:xfrm>
          <a:prstGeom prst="roundRect">
            <a:avLst>
              <a:gd name="adj" fmla="val 3109"/>
            </a:avLst>
          </a:prstGeom>
          <a:solidFill>
            <a:srgbClr val="F4F1FA"/>
          </a:solidFill>
          <a:ln/>
        </p:spPr>
      </p:sp>
      <p:sp>
        <p:nvSpPr>
          <p:cNvPr id="29" name="Shape 24"/>
          <p:cNvSpPr/>
          <p:nvPr/>
        </p:nvSpPr>
        <p:spPr>
          <a:xfrm>
            <a:off x="6190488" y="1828800"/>
            <a:ext cx="1764792" cy="64008"/>
          </a:xfrm>
          <a:prstGeom prst="rect">
            <a:avLst/>
          </a:prstGeom>
          <a:solidFill>
            <a:srgbClr val="B26A00"/>
          </a:solidFill>
          <a:ln/>
        </p:spPr>
      </p:sp>
      <p:sp>
        <p:nvSpPr>
          <p:cNvPr id="30" name="Shape 25"/>
          <p:cNvSpPr/>
          <p:nvPr/>
        </p:nvSpPr>
        <p:spPr>
          <a:xfrm>
            <a:off x="6798564" y="2029968"/>
            <a:ext cx="548640" cy="548640"/>
          </a:xfrm>
          <a:prstGeom prst="ellipse">
            <a:avLst/>
          </a:prstGeom>
          <a:solidFill>
            <a:srgbClr val="B26A00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31" name="Image 3" descr="/home/claude/certibuy/ic_cer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4868" y="2176272"/>
            <a:ext cx="256032" cy="25603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236208" y="269748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6281928" y="3017520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Certification, video,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real-unit data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6281928" y="3657600"/>
            <a:ext cx="1581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[BOTH]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6281928" y="3913632"/>
            <a:ext cx="158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forming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breaking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8065008" y="1828800"/>
            <a:ext cx="1764792" cy="2788920"/>
          </a:xfrm>
          <a:prstGeom prst="roundRect">
            <a:avLst>
              <a:gd name="adj" fmla="val 3109"/>
            </a:avLst>
          </a:prstGeom>
          <a:solidFill>
            <a:srgbClr val="F4F1FA"/>
          </a:solidFill>
          <a:ln/>
        </p:spPr>
      </p:sp>
      <p:sp>
        <p:nvSpPr>
          <p:cNvPr id="37" name="Shape 31"/>
          <p:cNvSpPr/>
          <p:nvPr/>
        </p:nvSpPr>
        <p:spPr>
          <a:xfrm>
            <a:off x="8065008" y="1828800"/>
            <a:ext cx="1764792" cy="640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8" name="Shape 32"/>
          <p:cNvSpPr/>
          <p:nvPr/>
        </p:nvSpPr>
        <p:spPr>
          <a:xfrm>
            <a:off x="8673084" y="2029968"/>
            <a:ext cx="548640" cy="54864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39" name="Image 4" descr="/home/claude/certibuy/ic_check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9660" y="2066544"/>
            <a:ext cx="475488" cy="47548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8110728" y="269748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50" dirty="0"/>
          </a:p>
        </p:txBody>
      </p:sp>
      <p:sp>
        <p:nvSpPr>
          <p:cNvPr id="41" name="Text 34"/>
          <p:cNvSpPr/>
          <p:nvPr/>
        </p:nvSpPr>
        <p:spPr>
          <a:xfrm>
            <a:off x="8156448" y="3017520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Authenticity +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 align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8156448" y="3657600"/>
            <a:ext cx="1581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[BOTH]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8156448" y="3913632"/>
            <a:ext cx="158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 /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950" dirty="0"/>
          </a:p>
        </p:txBody>
      </p:sp>
      <p:sp>
        <p:nvSpPr>
          <p:cNvPr id="44" name="Shape 37"/>
          <p:cNvSpPr/>
          <p:nvPr/>
        </p:nvSpPr>
        <p:spPr>
          <a:xfrm>
            <a:off x="9939528" y="1828800"/>
            <a:ext cx="1764792" cy="2788920"/>
          </a:xfrm>
          <a:prstGeom prst="roundRect">
            <a:avLst>
              <a:gd name="adj" fmla="val 3109"/>
            </a:avLst>
          </a:prstGeom>
          <a:solidFill>
            <a:srgbClr val="F4F1FA"/>
          </a:solidFill>
          <a:ln/>
        </p:spPr>
      </p:sp>
      <p:sp>
        <p:nvSpPr>
          <p:cNvPr id="45" name="Shape 38"/>
          <p:cNvSpPr/>
          <p:nvPr/>
        </p:nvSpPr>
        <p:spPr>
          <a:xfrm>
            <a:off x="9939528" y="1828800"/>
            <a:ext cx="1764792" cy="64008"/>
          </a:xfrm>
          <a:prstGeom prst="rect">
            <a:avLst/>
          </a:prstGeom>
          <a:solidFill>
            <a:srgbClr val="6C4BB6"/>
          </a:solidFill>
          <a:ln/>
        </p:spPr>
      </p:sp>
      <p:sp>
        <p:nvSpPr>
          <p:cNvPr id="46" name="Shape 39"/>
          <p:cNvSpPr/>
          <p:nvPr/>
        </p:nvSpPr>
        <p:spPr>
          <a:xfrm>
            <a:off x="10547604" y="2029968"/>
            <a:ext cx="548640" cy="548640"/>
          </a:xfrm>
          <a:prstGeom prst="ellipse">
            <a:avLst/>
          </a:prstGeom>
          <a:solidFill>
            <a:srgbClr val="6C4BB6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47" name="Image 5" descr="/home/claude/certibuy/ic_thumb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3908" y="2176272"/>
            <a:ext cx="256032" cy="256032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9985248" y="269748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POST-PURCHASE</a:t>
            </a:r>
            <a:endParaRPr lang="en-US" sz="1150" dirty="0"/>
          </a:p>
        </p:txBody>
      </p:sp>
      <p:sp>
        <p:nvSpPr>
          <p:cNvPr id="49" name="Text 41"/>
          <p:cNvSpPr/>
          <p:nvPr/>
        </p:nvSpPr>
        <p:spPr>
          <a:xfrm>
            <a:off x="10030968" y="3017520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speed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advocacy</a:t>
            </a:r>
            <a:endParaRPr lang="en-US" sz="1000" dirty="0"/>
          </a:p>
        </p:txBody>
      </p:sp>
      <p:sp>
        <p:nvSpPr>
          <p:cNvPr id="50" name="Text 42"/>
          <p:cNvSpPr/>
          <p:nvPr/>
        </p:nvSpPr>
        <p:spPr>
          <a:xfrm>
            <a:off x="10030968" y="3657600"/>
            <a:ext cx="1581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4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[AI]</a:t>
            </a:r>
            <a:endParaRPr lang="en-US" sz="900" dirty="0"/>
          </a:p>
        </p:txBody>
      </p:sp>
      <p:sp>
        <p:nvSpPr>
          <p:cNvPr id="51" name="Text 43"/>
          <p:cNvSpPr/>
          <p:nvPr/>
        </p:nvSpPr>
        <p:spPr>
          <a:xfrm>
            <a:off x="10030968" y="3913632"/>
            <a:ext cx="158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or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detraction</a:t>
            </a:r>
            <a:endParaRPr lang="en-US" sz="950" dirty="0"/>
          </a:p>
        </p:txBody>
      </p:sp>
      <p:sp>
        <p:nvSpPr>
          <p:cNvPr id="52" name="Text 44"/>
          <p:cNvSpPr/>
          <p:nvPr/>
        </p:nvSpPr>
        <p:spPr>
          <a:xfrm>
            <a:off x="566928" y="4892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CONFIDENCE THROUGH THE TRANSACTION</a:t>
            </a:r>
            <a:endParaRPr lang="en-US" sz="1000" dirty="0"/>
          </a:p>
        </p:txBody>
      </p:sp>
      <p:graphicFrame>
        <p:nvGraphicFramePr>
          <p:cNvPr id="53" name="Chart 0" descr=""/>
          <p:cNvGraphicFramePr/>
          <p:nvPr/>
        </p:nvGraphicFramePr>
        <p:xfrm>
          <a:off x="457200" y="5120640"/>
          <a:ext cx="11247120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54" name="Text 4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CertiBuy  ·  Consumer Persona &amp; Product Strategy</a:t>
            </a:r>
            <a:endParaRPr lang="en-US" sz="850" dirty="0"/>
          </a:p>
        </p:txBody>
      </p:sp>
      <p:sp>
        <p:nvSpPr>
          <p:cNvPr id="55" name="Text 4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C4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SAFETY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Designing supply-side dignity into the CertiBuy 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seller — living alone — named direct buyer visits as genuinely unsafe. A neutral, platform-mediated handoff turns a churn risk into a category-first moat.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383280" cy="4297680"/>
          </a:xfrm>
          <a:prstGeom prst="roundRect">
            <a:avLst>
              <a:gd name="adj" fmla="val 2162"/>
            </a:avLst>
          </a:prstGeom>
          <a:solidFill>
            <a:srgbClr val="2A2440"/>
          </a:solidFill>
          <a:ln/>
          <a:effectLst>
            <a:outerShdw sx="100000" sy="100000" kx="0" ky="0" algn="bl" rotWithShape="0" blurRad="114300" dist="38100" dir="8100000">
              <a:srgbClr val="2A244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194560"/>
            <a:ext cx="530352" cy="530352"/>
          </a:xfrm>
          <a:prstGeom prst="ellipse">
            <a:avLst/>
          </a:prstGeom>
          <a:solidFill>
            <a:srgbClr val="B0413E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7" name="Image 0" descr="/home/claude/certibuy/ic_warn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340864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240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0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508760" y="24505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Unsafe doorstep</a:t>
            </a: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41248" y="3200400"/>
            <a:ext cx="365760" cy="365760"/>
          </a:xfrm>
          <a:prstGeom prst="ellipse">
            <a:avLst/>
          </a:prstGeom>
          <a:solidFill>
            <a:srgbClr val="7A3B8F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11" name="Image 1" descr="/home/claude/certibuy/ic_pin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3300984"/>
            <a:ext cx="164592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3154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A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Strangers at the door of someone who lives alone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41248" y="3840480"/>
            <a:ext cx="365760" cy="365760"/>
          </a:xfrm>
          <a:prstGeom prst="ellipse">
            <a:avLst/>
          </a:prstGeom>
          <a:solidFill>
            <a:srgbClr val="7A3B8F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14" name="Image 2" descr="/home/claude/certibuy/ic_clo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941064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3794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A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inspection timings disrupt a 9-to-5 life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41248" y="4480560"/>
            <a:ext cx="365760" cy="365760"/>
          </a:xfrm>
          <a:prstGeom prst="ellipse">
            <a:avLst/>
          </a:prstGeom>
          <a:solidFill>
            <a:srgbClr val="7A3B8F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17" name="Image 3" descr="/home/claude/certibuy/ic_rupe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581144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434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A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Doorstep renegotiation &amp; lowball bargaining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841248" y="5120640"/>
            <a:ext cx="365760" cy="365760"/>
          </a:xfrm>
          <a:prstGeom prst="ellipse">
            <a:avLst/>
          </a:prstGeom>
          <a:solidFill>
            <a:srgbClr val="7A3B8F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20" name="Image 4" descr="/home/claude/certibuy/ic_user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5221224"/>
            <a:ext cx="164592" cy="16459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25880" y="5074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A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feels buyer-biased — sellers undervalued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841248" y="5806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C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“Buyers should visit the platform's location, not the seller's residence.”  [REAL]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4206240" y="1993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4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PLATFORM-MEDIATED HANDOFF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206240" y="2377440"/>
            <a:ext cx="74340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206240" y="2377440"/>
            <a:ext cx="91440" cy="841248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26" name="Shape 19"/>
          <p:cNvSpPr/>
          <p:nvPr/>
        </p:nvSpPr>
        <p:spPr>
          <a:xfrm>
            <a:off x="4434840" y="2523744"/>
            <a:ext cx="548640" cy="548640"/>
          </a:xfrm>
          <a:prstGeom prst="ellipse">
            <a:avLst/>
          </a:prstGeom>
          <a:solidFill>
            <a:srgbClr val="1F6FB2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27" name="Image 5" descr="/home/claude/certibuy/ic_mobil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1144" y="2670048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120640" y="248716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DD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29" name="Text 21"/>
          <p:cNvSpPr/>
          <p:nvPr/>
        </p:nvSpPr>
        <p:spPr>
          <a:xfrm>
            <a:off x="5623560" y="249631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App-scheduled pickup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5623560" y="2788920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picks a weekend slot in-app — no direct buyer coordination.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4206240" y="3337560"/>
            <a:ext cx="74340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4206240" y="3337560"/>
            <a:ext cx="91440" cy="841248"/>
          </a:xfrm>
          <a:prstGeom prst="rect">
            <a:avLst/>
          </a:prstGeom>
          <a:solidFill>
            <a:srgbClr val="7A3B8F"/>
          </a:solidFill>
          <a:ln/>
        </p:spPr>
      </p:sp>
      <p:sp>
        <p:nvSpPr>
          <p:cNvPr id="33" name="Shape 25"/>
          <p:cNvSpPr/>
          <p:nvPr/>
        </p:nvSpPr>
        <p:spPr>
          <a:xfrm>
            <a:off x="4434840" y="3483864"/>
            <a:ext cx="548640" cy="548640"/>
          </a:xfrm>
          <a:prstGeom prst="ellipse">
            <a:avLst/>
          </a:prstGeom>
          <a:solidFill>
            <a:srgbClr val="7A3B8F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34" name="Image 6" descr="/home/claude/certibuy/ic_warehous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1144" y="3630168"/>
            <a:ext cx="256032" cy="25603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120640" y="344728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DD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36" name="Text 27"/>
          <p:cNvSpPr/>
          <p:nvPr/>
        </p:nvSpPr>
        <p:spPr>
          <a:xfrm>
            <a:off x="5623560" y="345643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inspection centre</a:t>
            </a:r>
            <a:endParaRPr lang="en-US" sz="1350" dirty="0"/>
          </a:p>
        </p:txBody>
      </p:sp>
      <p:sp>
        <p:nvSpPr>
          <p:cNvPr id="37" name="Text 28"/>
          <p:cNvSpPr/>
          <p:nvPr/>
        </p:nvSpPr>
        <p:spPr>
          <a:xfrm>
            <a:off x="5623560" y="3749040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collects &amp; inspects at a warehouse. The home stays private.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4206240" y="4297680"/>
            <a:ext cx="74340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4206240" y="4297680"/>
            <a:ext cx="91440" cy="841248"/>
          </a:xfrm>
          <a:prstGeom prst="rect">
            <a:avLst/>
          </a:prstGeom>
          <a:solidFill>
            <a:srgbClr val="6C4BB6"/>
          </a:solidFill>
          <a:ln/>
        </p:spPr>
      </p:sp>
      <p:sp>
        <p:nvSpPr>
          <p:cNvPr id="40" name="Shape 31"/>
          <p:cNvSpPr/>
          <p:nvPr/>
        </p:nvSpPr>
        <p:spPr>
          <a:xfrm>
            <a:off x="4434840" y="4443984"/>
            <a:ext cx="548640" cy="548640"/>
          </a:xfrm>
          <a:prstGeom prst="ellipse">
            <a:avLst/>
          </a:prstGeom>
          <a:solidFill>
            <a:srgbClr val="6C4BB6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41" name="Image 7" descr="/home/claude/certibuy/ic_lock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1144" y="4590288"/>
            <a:ext cx="256032" cy="25603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120640" y="440740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DD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43" name="Text 33"/>
          <p:cNvSpPr/>
          <p:nvPr/>
        </p:nvSpPr>
        <p:spPr>
          <a:xfrm>
            <a:off x="5623560" y="441655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Anonymised identity</a:t>
            </a:r>
            <a:endParaRPr lang="en-US" sz="1350" dirty="0"/>
          </a:p>
        </p:txBody>
      </p:sp>
      <p:sp>
        <p:nvSpPr>
          <p:cNvPr id="44" name="Text 34"/>
          <p:cNvSpPr/>
          <p:nvPr/>
        </p:nvSpPr>
        <p:spPr>
          <a:xfrm>
            <a:off x="5623560" y="4709160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mediator layer hides personal contact details from both sides.</a:t>
            </a:r>
            <a:endParaRPr lang="en-US" sz="1050" dirty="0"/>
          </a:p>
        </p:txBody>
      </p:sp>
      <p:sp>
        <p:nvSpPr>
          <p:cNvPr id="45" name="Shape 35"/>
          <p:cNvSpPr/>
          <p:nvPr/>
        </p:nvSpPr>
        <p:spPr>
          <a:xfrm>
            <a:off x="4206240" y="5257800"/>
            <a:ext cx="74340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sp>
        <p:nvSpPr>
          <p:cNvPr id="46" name="Shape 36"/>
          <p:cNvSpPr/>
          <p:nvPr/>
        </p:nvSpPr>
        <p:spPr>
          <a:xfrm>
            <a:off x="4206240" y="5257800"/>
            <a:ext cx="91440" cy="84124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7" name="Shape 37"/>
          <p:cNvSpPr/>
          <p:nvPr/>
        </p:nvSpPr>
        <p:spPr>
          <a:xfrm>
            <a:off x="4434840" y="5404104"/>
            <a:ext cx="548640" cy="54864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48" name="Image 8" descr="/home/claude/certibuy/ic_handshak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1144" y="5550408"/>
            <a:ext cx="256032" cy="256032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5120640" y="536752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DD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50" name="Text 39"/>
          <p:cNvSpPr/>
          <p:nvPr/>
        </p:nvSpPr>
        <p:spPr>
          <a:xfrm>
            <a:off x="5623560" y="537667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index + fair payout</a:t>
            </a:r>
            <a:endParaRPr lang="en-US" sz="1350" dirty="0"/>
          </a:p>
        </p:txBody>
      </p:sp>
      <p:sp>
        <p:nvSpPr>
          <p:cNvPr id="51" name="Text 40"/>
          <p:cNvSpPr/>
          <p:nvPr/>
        </p:nvSpPr>
        <p:spPr>
          <a:xfrm>
            <a:off x="5623560" y="5669280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maintenance pre-empts haggling; fast, dignified payout.</a:t>
            </a:r>
            <a:endParaRPr lang="en-US" sz="1050" dirty="0"/>
          </a:p>
        </p:txBody>
      </p:sp>
      <p:sp>
        <p:nvSpPr>
          <p:cNvPr id="52" name="Text 41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CertiBuy  ·  Consumer Persona &amp; Product Strategy</a:t>
            </a:r>
            <a:endParaRPr lang="en-US" sz="850" dirty="0"/>
          </a:p>
        </p:txBody>
      </p:sp>
      <p:sp>
        <p:nvSpPr>
          <p:cNvPr id="53" name="Text 4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C4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TRACEABILITY MATRIX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attribute traced to its source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955280" y="841248"/>
            <a:ext cx="523037" cy="219456"/>
          </a:xfrm>
          <a:prstGeom prst="roundRect">
            <a:avLst>
              <a:gd name="adj" fmla="val 16667"/>
            </a:avLst>
          </a:prstGeom>
          <a:solidFill>
            <a:srgbClr val="1F6FB2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0" y="841248"/>
            <a:ext cx="5230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[REAL]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668512" y="822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interviews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784080" y="841248"/>
            <a:ext cx="391363" cy="219456"/>
          </a:xfrm>
          <a:prstGeom prst="roundRect">
            <a:avLst>
              <a:gd name="adj" fmla="val 16667"/>
            </a:avLst>
          </a:prstGeom>
          <a:solidFill>
            <a:srgbClr val="6C4BB6"/>
          </a:solidFill>
          <a:ln/>
        </p:spPr>
      </p:sp>
      <p:sp>
        <p:nvSpPr>
          <p:cNvPr id="8" name="Text 6"/>
          <p:cNvSpPr/>
          <p:nvPr/>
        </p:nvSpPr>
        <p:spPr>
          <a:xfrm>
            <a:off x="9784080" y="841248"/>
            <a:ext cx="391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[AI]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497312" y="822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475720" y="841248"/>
            <a:ext cx="523037" cy="219456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11475720" y="841248"/>
            <a:ext cx="5230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[BOTH]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2188952" y="822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sources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657600"/>
                <a:gridCol w="3657600"/>
                <a:gridCol w="130759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PERSONA ATTRIBUTE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EVIDENCE IN REAL INTERVIEWS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EVIDENCE IN AI SYNTHESIS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2440"/>
                          </a:solidFill>
                        </a:rPr>
                        <a:t>Trust as the gate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3C5C"/>
                          </a:solidFill>
                        </a:rPr>
                        <a:t>All 3 name trust as the #1 precondition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3C5C"/>
                          </a:solidFill>
                        </a:rPr>
                        <a:t>Carried as universal driver across profiles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[BOTH]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2440"/>
                          </a:solidFill>
                        </a:rPr>
                        <a:t>Certification need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3C5C"/>
                          </a:solidFill>
                        </a:rPr>
                        <a:t>All 3 cite inspection / verification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3C5C"/>
                          </a:solidFill>
                        </a:rPr>
                        <a:t>Priya, Aditya, Rahul, Meera demand it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[BOTH]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2440"/>
                          </a:solidFill>
                        </a:rPr>
                        <a:t>Upgrade-resell loop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3C5C"/>
                          </a:solidFill>
                        </a:rPr>
                        <a:t>Seller resells on upgrade; Gia upgrades often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3C5C"/>
                          </a:solidFill>
                        </a:rPr>
                        <a:t>Vikram 15–20 txns/yr; Sunita idle devices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[BOTH]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2440"/>
                          </a:solidFill>
                        </a:rPr>
                        <a:t>Peer / family validation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3C5C"/>
                          </a:solidFill>
                        </a:rPr>
                        <a:t>Both buyers name friends/family + YouTube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3C5C"/>
                          </a:solidFill>
                        </a:rPr>
                        <a:t>Meera defers to children; Priya to one friend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[BOTH]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2440"/>
                          </a:solidFill>
                        </a:rPr>
                        <a:t>Premium for authenticity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3C5C"/>
                          </a:solidFill>
                        </a:rPr>
                        <a:t>Both buyers pay more for guaranteed authenticity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3C5C"/>
                          </a:solidFill>
                        </a:rPr>
                        <a:t>Fee-sensitive only at the margin (Vikram)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[BOTH]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2440"/>
                          </a:solidFill>
                        </a:rPr>
                        <a:t>Seller safety / mediation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3C5C"/>
                          </a:solidFill>
                        </a:rPr>
                        <a:t>Seller lives alone; wants warehouse model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3C5C"/>
                          </a:solidFill>
                        </a:rPr>
                        <a:t>Sunita resents doorstep haggling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[BOTH]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2440"/>
                          </a:solidFill>
                        </a:rPr>
                        <a:t>Speed &gt; trust (power user)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B6AECB"/>
                          </a:solidFill>
                        </a:rPr>
                        <a:t>— not observed in real sample —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3C5C"/>
                          </a:solidFill>
                        </a:rPr>
                        <a:t>Vikram only; held as a hypothesis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C4BB6"/>
                          </a:solidFill>
                        </a:rPr>
                        <a:t>[AI]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2440"/>
                          </a:solidFill>
                        </a:rPr>
                        <a:t>Refurbished social stigma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B6AECB"/>
                          </a:solidFill>
                        </a:rPr>
                        <a:t>— not observed in real sample —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3C5C"/>
                          </a:solidFill>
                        </a:rPr>
                        <a:t>Priya: 'WhatsApp-seller' association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C4BB6"/>
                          </a:solidFill>
                        </a:rPr>
                        <a:t>[AI]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2440"/>
                          </a:solidFill>
                        </a:rPr>
                        <a:t>Latent dormant supply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B6AECB"/>
                          </a:solidFill>
                        </a:rPr>
                        <a:t>— not observed in real sample —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3C5C"/>
                          </a:solidFill>
                        </a:rPr>
                        <a:t>Sunita holds 3 idle phones; donates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C4BB6"/>
                          </a:solidFill>
                        </a:rPr>
                        <a:t>[AI]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row is [BOTH], the real evidence is the authoritative anchor and synthetic evidence is corroborating extension. [AI]-only rows are held as hypotheses, not findings.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CertiBuy  ·  Consumer Persona &amp; Product Strategy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C4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IMPLICATIONS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moves the persona points CertiBuy toward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84448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66928" cy="56692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6" name="Image 0" descr="/home/claude/certibuy/ic_cert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112264"/>
            <a:ext cx="274320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18688" y="2002536"/>
            <a:ext cx="523037" cy="219456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</p:sp>
      <p:sp>
        <p:nvSpPr>
          <p:cNvPr id="8" name="Text 5"/>
          <p:cNvSpPr/>
          <p:nvPr/>
        </p:nvSpPr>
        <p:spPr>
          <a:xfrm>
            <a:off x="3218688" y="2002536"/>
            <a:ext cx="5230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[BOTH]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22960" y="262432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A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Tiered certification as a pricing layer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313639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Visible, graded, independent inspection. Authentication justifies margin and protects resale value.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25112" y="1691640"/>
            <a:ext cx="3584448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99432" y="1965960"/>
            <a:ext cx="566928" cy="566928"/>
          </a:xfrm>
          <a:prstGeom prst="ellipse">
            <a:avLst/>
          </a:prstGeom>
          <a:solidFill>
            <a:srgbClr val="7A3B8F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13" name="Image 1" descr="/home/claude/certibuy/ic_recycl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2112264"/>
            <a:ext cx="274320" cy="2743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995160" y="2002536"/>
            <a:ext cx="523037" cy="219456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</p:sp>
      <p:sp>
        <p:nvSpPr>
          <p:cNvPr id="15" name="Text 11"/>
          <p:cNvSpPr/>
          <p:nvPr/>
        </p:nvSpPr>
        <p:spPr>
          <a:xfrm>
            <a:off x="6995160" y="2002536"/>
            <a:ext cx="5230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[BOTH]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4599432" y="262432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A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Reframe as upgrade infrastructure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599432" y="313639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linked sell-then-buy loop and a guilt-free, circular-economy narrative no competitor owns.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101584" y="1691640"/>
            <a:ext cx="3584448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75904" y="1965960"/>
            <a:ext cx="566928" cy="566928"/>
          </a:xfrm>
          <a:prstGeom prst="ellipse">
            <a:avLst/>
          </a:prstGeom>
          <a:solidFill>
            <a:srgbClr val="6C4BB6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20" name="Image 2" descr="/home/claude/certibuy/ic_warehous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112264"/>
            <a:ext cx="274320" cy="27432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0771632" y="2002536"/>
            <a:ext cx="523037" cy="219456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</p:sp>
      <p:sp>
        <p:nvSpPr>
          <p:cNvPr id="22" name="Text 17"/>
          <p:cNvSpPr/>
          <p:nvPr/>
        </p:nvSpPr>
        <p:spPr>
          <a:xfrm>
            <a:off x="10771632" y="2002536"/>
            <a:ext cx="5230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[BOTH]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8375904" y="262432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A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Seller safety &amp; dignity architecture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375904" y="313639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handoff centre, anonymised identity, app-scheduled pickup, and a maintenance 'care index'.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48640" y="3977640"/>
            <a:ext cx="3584448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1F6FB2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27" name="Image 3" descr="/home/claude/certibuy/ic_robo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4398264"/>
            <a:ext cx="274320" cy="27432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3218688" y="4288536"/>
            <a:ext cx="391363" cy="219456"/>
          </a:xfrm>
          <a:prstGeom prst="roundRect">
            <a:avLst>
              <a:gd name="adj" fmla="val 16667"/>
            </a:avLst>
          </a:prstGeom>
          <a:solidFill>
            <a:srgbClr val="6C4BB6"/>
          </a:solidFill>
          <a:ln/>
        </p:spPr>
      </p:sp>
      <p:sp>
        <p:nvSpPr>
          <p:cNvPr id="29" name="Text 23"/>
          <p:cNvSpPr/>
          <p:nvPr/>
        </p:nvSpPr>
        <p:spPr>
          <a:xfrm>
            <a:off x="3218688" y="4288536"/>
            <a:ext cx="391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[AI]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822960" y="491032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A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Maturity-segmented UX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822960" y="542239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human-reassurance path for proxy buyers; raw-data, low-friction path for power users.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4325112" y="3977640"/>
            <a:ext cx="3584448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599432" y="4251960"/>
            <a:ext cx="566928" cy="566928"/>
          </a:xfrm>
          <a:prstGeom prst="ellipse">
            <a:avLst/>
          </a:prstGeom>
          <a:solidFill>
            <a:srgbClr val="B26A00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34" name="Image 4" descr="/home/claude/certibuy/ic_comment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736" y="4398264"/>
            <a:ext cx="274320" cy="27432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6995160" y="4288536"/>
            <a:ext cx="523037" cy="219456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</p:sp>
      <p:sp>
        <p:nvSpPr>
          <p:cNvPr id="36" name="Text 29"/>
          <p:cNvSpPr/>
          <p:nvPr/>
        </p:nvSpPr>
        <p:spPr>
          <a:xfrm>
            <a:off x="6995160" y="4288536"/>
            <a:ext cx="5230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[BOTH]</a:t>
            </a:r>
            <a:endParaRPr lang="en-US" sz="850" dirty="0"/>
          </a:p>
        </p:txBody>
      </p:sp>
      <p:sp>
        <p:nvSpPr>
          <p:cNvPr id="37" name="Text 30"/>
          <p:cNvSpPr/>
          <p:nvPr/>
        </p:nvSpPr>
        <p:spPr>
          <a:xfrm>
            <a:off x="4599432" y="491032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A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Contextual peer-review system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4599432" y="542239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Use-case-tagged reviews that replicate the 'trusted friend' signal. Star ratings are insufficient.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8101584" y="3977640"/>
            <a:ext cx="3584448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8375904" y="4251960"/>
            <a:ext cx="566928" cy="566928"/>
          </a:xfrm>
          <a:prstGeom prst="ellipse">
            <a:avLst/>
          </a:prstGeom>
          <a:solidFill>
            <a:srgbClr val="2A2440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41" name="Image 5" descr="/home/claude/certibuy/ic_bol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208" y="4398264"/>
            <a:ext cx="274320" cy="274320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10771632" y="4288536"/>
            <a:ext cx="391363" cy="219456"/>
          </a:xfrm>
          <a:prstGeom prst="roundRect">
            <a:avLst>
              <a:gd name="adj" fmla="val 16667"/>
            </a:avLst>
          </a:prstGeom>
          <a:solidFill>
            <a:srgbClr val="6C4BB6"/>
          </a:solidFill>
          <a:ln/>
        </p:spPr>
      </p:sp>
      <p:sp>
        <p:nvSpPr>
          <p:cNvPr id="43" name="Text 35"/>
          <p:cNvSpPr/>
          <p:nvPr/>
        </p:nvSpPr>
        <p:spPr>
          <a:xfrm>
            <a:off x="10771632" y="4288536"/>
            <a:ext cx="391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[AI]</a:t>
            </a:r>
            <a:endParaRPr lang="en-US" sz="850" dirty="0"/>
          </a:p>
        </p:txBody>
      </p:sp>
      <p:sp>
        <p:nvSpPr>
          <p:cNvPr id="44" name="Text 36"/>
          <p:cNvSpPr/>
          <p:nvPr/>
        </p:nvSpPr>
        <p:spPr>
          <a:xfrm>
            <a:off x="8375904" y="491032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A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Power-user &amp; dormant-seller fast lane</a:t>
            </a:r>
            <a:endParaRPr lang="en-US" sz="1400" dirty="0"/>
          </a:p>
        </p:txBody>
      </p:sp>
      <p:sp>
        <p:nvSpPr>
          <p:cNvPr id="45" name="Text 37"/>
          <p:cNvSpPr/>
          <p:nvPr/>
        </p:nvSpPr>
        <p:spPr>
          <a:xfrm>
            <a:off x="8375904" y="542239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committed quote, bulk listing, 24-hour payout to unlock high-frequency and latent supply.</a:t>
            </a:r>
            <a:endParaRPr lang="en-US" sz="1050" dirty="0"/>
          </a:p>
        </p:txBody>
      </p:sp>
      <p:sp>
        <p:nvSpPr>
          <p:cNvPr id="46" name="Text 3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CertiBuy  ·  Consumer Persona &amp; Product Strategy</a:t>
            </a:r>
            <a:endParaRPr lang="en-US" sz="850" dirty="0"/>
          </a:p>
        </p:txBody>
      </p:sp>
      <p:sp>
        <p:nvSpPr>
          <p:cNvPr id="47" name="Text 3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D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Trust-Gated Upgrader, in one 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331720" cy="1371600"/>
          </a:xfrm>
          <a:prstGeom prst="roundRect">
            <a:avLst>
              <a:gd name="adj" fmla="val 466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9E8F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1051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+ 6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4505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DA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+ synthetic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DA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035808" y="1691640"/>
            <a:ext cx="2331720" cy="1371600"/>
          </a:xfrm>
          <a:prstGeom prst="roundRect">
            <a:avLst>
              <a:gd name="adj" fmla="val 466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9E8F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35808" y="181051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035808" y="24505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DA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lever: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DA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522976" y="1691640"/>
            <a:ext cx="2331720" cy="1371600"/>
          </a:xfrm>
          <a:prstGeom prst="roundRect">
            <a:avLst>
              <a:gd name="adj" fmla="val 466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9E8F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22976" y="181051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522976" y="24505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DA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DA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83880" y="1691640"/>
            <a:ext cx="3456432" cy="443484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A244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58200" y="1920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C4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BUILD ON NOW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58200" y="2322576"/>
            <a:ext cx="146304" cy="14630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0" y="2231136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gates everything; certification is the master key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458200" y="2944368"/>
            <a:ext cx="146304" cy="14630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0" y="285292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upgrade-resell loop is recurring infrastructure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458200" y="3566160"/>
            <a:ext cx="146304" cy="14630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0" y="347472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need a safe, mediated handoff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458200" y="4187952"/>
            <a:ext cx="146304" cy="146304"/>
          </a:xfrm>
          <a:prstGeom prst="ellipse">
            <a:avLst/>
          </a:prstGeom>
          <a:solidFill>
            <a:srgbClr val="B26A00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0" y="4096512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&gt; trust for power users (1 profile)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458200" y="4809744"/>
            <a:ext cx="146304" cy="146304"/>
          </a:xfrm>
          <a:prstGeom prst="ellipse">
            <a:avLst/>
          </a:prstGeom>
          <a:solidFill>
            <a:srgbClr val="B26A00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0" y="471830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Refurbished stigma &amp; dormant supply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58200" y="5431536"/>
            <a:ext cx="146304" cy="146304"/>
          </a:xfrm>
          <a:prstGeom prst="ellipse">
            <a:avLst/>
          </a:prstGeom>
          <a:solidFill>
            <a:srgbClr val="B26A00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0" y="5340096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Tier-2/3 dynamics; post-purchase loyalty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337560"/>
            <a:ext cx="7269480" cy="2788920"/>
          </a:xfrm>
          <a:prstGeom prst="roundRect">
            <a:avLst>
              <a:gd name="adj" fmla="val 2623"/>
            </a:avLst>
          </a:prstGeom>
          <a:solidFill>
            <a:srgbClr val="160B30">
              <a:alpha val="8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41248" y="3611880"/>
            <a:ext cx="548640" cy="548640"/>
          </a:xfrm>
          <a:prstGeom prst="ellipse">
            <a:avLst/>
          </a:prstGeom>
          <a:solidFill>
            <a:srgbClr val="B26A00"/>
          </a:solidFill>
          <a:ln/>
          <a:effectLst>
            <a:outerShdw sx="100000" sy="100000" kx="0" ky="0" algn="bl" rotWithShape="0" blurRad="76200" dist="25400" dir="8100000">
              <a:srgbClr val="2A2440">
                <a:alpha val="10000"/>
              </a:srgbClr>
            </a:outerShdw>
          </a:effectLst>
        </p:spPr>
      </p:sp>
      <p:pic>
        <p:nvPicPr>
          <p:cNvPr id="29" name="Image 0" descr="/home/claude/certibuy/ic_bulb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3758184"/>
            <a:ext cx="256032" cy="256032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554480" y="36576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strategic thesis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841248" y="4297680"/>
            <a:ext cx="6720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C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CertiBuy wins not by competing on discount depth, but by absorbing transaction anxiety. Lead with visible, independent certification; wrap it in a guilt-free upgrade-resell loop; and protect the supply side with a safe, dignified, platform-mediated handoff. Price follows trust — never the reverse.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CertiBuy  ·  Consumer Persona &amp; Product Strategy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prompt documentation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structured prompts that shaped the synthesis — each built as Role · Goal · Task · Requirements · Output · Constraints.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804672"/>
          </a:xfrm>
          <a:prstGeom prst="roundRect">
            <a:avLst>
              <a:gd name="adj" fmla="val 5682"/>
            </a:avLst>
          </a:prstGeom>
          <a:solidFill>
            <a:srgbClr val="F4F1F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11096"/>
            <a:ext cx="457200" cy="457200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828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prompt (on transcripts)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417320" y="2084832"/>
            <a:ext cx="10012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are a senior UX researcher. From these 3 interview transcripts, extract motivations, frustrations, behavioural patterns, decision triggers and emotional drivers. Cite the exact line for each. Do not infer or invent anything not stated.”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633472"/>
            <a:ext cx="11091672" cy="804672"/>
          </a:xfrm>
          <a:prstGeom prst="roundRect">
            <a:avLst>
              <a:gd name="adj" fmla="val 5682"/>
            </a:avLst>
          </a:prstGeom>
          <a:solidFill>
            <a:srgbClr val="F4F1FA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2807208"/>
            <a:ext cx="457200" cy="457200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27249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 / push-back prompt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417320" y="2980944"/>
            <a:ext cx="10012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“Review your own extraction. Flag any claim not directly supported by a participant statement. Remove or downgrade overreach. Mark each item as explicit or implicit evidence.”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529584"/>
            <a:ext cx="11091672" cy="960120"/>
          </a:xfrm>
          <a:prstGeom prst="roundRect">
            <a:avLst>
              <a:gd name="adj" fmla="val 4762"/>
            </a:avLst>
          </a:prstGeom>
          <a:solidFill>
            <a:srgbClr val="F4F1FA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3781044"/>
            <a:ext cx="457200" cy="457200"/>
          </a:xfrm>
          <a:prstGeom prst="ellipse">
            <a:avLst/>
          </a:prstGeom>
          <a:solidFill>
            <a:srgbClr val="7A3B8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810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36210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prompt (adjacent segments)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417320" y="3877056"/>
            <a:ext cx="10012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“Generate 6 plausible adjacent respondents (power user, budget adopter, proxy buyer, churned detractor, dormant seller, skeptic). For each: a short profile, a representative quote, and how they extend or contradict the real findings. Label all as AI-synthesized.”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581144"/>
            <a:ext cx="11091672" cy="804672"/>
          </a:xfrm>
          <a:prstGeom prst="roundRect">
            <a:avLst>
              <a:gd name="adj" fmla="val 5682"/>
            </a:avLst>
          </a:prstGeom>
          <a:solidFill>
            <a:srgbClr val="F4F1FA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4754880"/>
            <a:ext cx="457200" cy="457200"/>
          </a:xfrm>
          <a:prstGeom prst="ellipse">
            <a:avLst/>
          </a:prstGeom>
          <a:solidFill>
            <a:srgbClr val="7A3B8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467258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Edge-case &amp; hidden-driver prompt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417320" y="4928616"/>
            <a:ext cx="10012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“Surface atypical users, contradictory behaviours, and underlying needs the consumer may not articulate. Separate observed echoes from hypotheses and from genuine research gaps.”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5477256"/>
            <a:ext cx="11091672" cy="804672"/>
          </a:xfrm>
          <a:prstGeom prst="roundRect">
            <a:avLst>
              <a:gd name="adj" fmla="val 5682"/>
            </a:avLst>
          </a:prstGeom>
          <a:solidFill>
            <a:srgbClr val="F4F1FA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" y="5650992"/>
            <a:ext cx="457200" cy="457200"/>
          </a:xfrm>
          <a:prstGeom prst="ellipse">
            <a:avLst/>
          </a:prstGeom>
          <a:solidFill>
            <a:srgbClr val="6C4BB6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650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17320" y="55686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prompt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417320" y="5824728"/>
            <a:ext cx="10012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43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“Merge real + synthetic into ONE composite persona. Real evidence is the authoritative spine. Tag every attribute [REAL], [AI] or [BOTH]. Produce a traceability matrix and an assumptions register for everything synthetic.”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CertiBuy  ·  Consumer Persona &amp; Product Strategy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096" y="904"/>
            <a:ext cx="3886200" cy="6858000"/>
          </a:xfrm>
          <a:prstGeom prst="rect">
            <a:avLst/>
          </a:prstGeom>
          <a:solidFill>
            <a:srgbClr val="3D2E63">
              <a:alpha val="52000"/>
            </a:srgbClr>
          </a:solidFill>
          <a:ln/>
          <a:effectLst>
            <a:outerShdw blurRad="50800" dist="50800" dir="5400000" algn="ctr" rotWithShape="0">
              <a:srgbClr val="000000">
                <a:alpha val="54192"/>
              </a:srgbClr>
            </a:outerShdw>
          </a:effectLst>
        </p:spPr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A030B23-21C8-4CFE-6E8C-7B4807F0502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8000"/>
            <a:lum bright="5000" contrast="12000"/>
          </a:blip>
          <a:stretch>
            <a:fillRect/>
          </a:stretch>
        </p:blipFill>
        <p:spPr>
          <a:xfrm>
            <a:off x="0" y="18288"/>
            <a:ext cx="3866104" cy="6838808"/>
          </a:xfrm>
          <a:prstGeom prst="rect">
            <a:avLst/>
          </a:prstGeom>
          <a:effectLst>
            <a:outerShdw dir="10860000" sx="1000" sy="1000" algn="ctr" rotWithShape="0">
              <a:srgbClr val="000000">
                <a:alpha val="74000"/>
              </a:srgbClr>
            </a:outerShdw>
          </a:effectLst>
        </p:spPr>
      </p:pic>
      <p:sp>
        <p:nvSpPr>
          <p:cNvPr id="101" name="BottomScrim"/>
          <p:cNvSpPr/>
          <p:nvPr/>
        </p:nvSpPr>
        <p:spPr>
          <a:xfrm>
            <a:off x="0" y="3200000"/>
            <a:ext cx="3886200" cy="3658000"/>
          </a:xfrm>
          <a:prstGeom prst="rect">
            <a:avLst/>
          </a:prstGeom>
          <a:gradFill>
            <a:gsLst>
              <a:gs pos="0">
                <a:srgbClr val="160B30">
                  <a:alpha val="0"/>
                </a:srgbClr>
              </a:gs>
              <a:gs pos="35000">
                <a:srgbClr val="160B30">
                  <a:alpha val="48000"/>
                </a:srgbClr>
              </a:gs>
              <a:gs pos="100000">
                <a:srgbClr val="160B30">
                  <a:alpha val="8000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4" name="Text 1"/>
          <p:cNvSpPr/>
          <p:nvPr/>
        </p:nvSpPr>
        <p:spPr>
          <a:xfrm>
            <a:off x="0" y="2121408"/>
            <a:ext cx="3886200" cy="502920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rgbClr val="000000">
                <a:alpha val="8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KIRAN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82880" y="2670048"/>
            <a:ext cx="3520440" cy="365760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rgbClr val="000000">
                <a:alpha val="8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7D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Trust-Gated Upgrader”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2920" y="3127248"/>
            <a:ext cx="2880360" cy="640080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rgbClr val="000000">
                <a:alpha val="8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0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and sells in the same upgrade loop — and won’t transact until trust is resolved, price second.</a:t>
            </a:r>
            <a:endParaRPr lang="en-US" sz="1500" dirty="0">
              <a:solidFill>
                <a:srgbClr val="F0EAFF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731520" y="3913632"/>
            <a:ext cx="2423160" cy="0"/>
          </a:xfrm>
          <a:prstGeom prst="line">
            <a:avLst/>
          </a:prstGeom>
          <a:noFill/>
          <a:ln w="22225">
            <a:solidFill>
              <a:srgbClr val="9E90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4069080"/>
            <a:ext cx="2971800" cy="2468880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rgbClr val="000000">
                <a:alpha val="82000"/>
              </a:srgbClr>
            </a:outerShdw>
          </a:effectLst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1000" b="1" kern="0" spc="1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>
              <a:solidFill>
                <a:schemeClr val="accent4"/>
              </a:solidFill>
            </a:endParaRPr>
          </a:p>
          <a:p>
            <a:pPr marL="0" indent="0" algn="ctr">
              <a:spcAft>
                <a:spcPts val="700"/>
              </a:spcAft>
              <a:buNone/>
            </a:pPr>
            <a:r>
              <a:rPr lang="en-US" sz="15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26–44</a:t>
            </a:r>
            <a:endParaRPr lang="en-US" sz="1000" dirty="0">
              <a:solidFill>
                <a:schemeClr val="accent4"/>
              </a:solidFill>
            </a:endParaRPr>
          </a:p>
          <a:p>
            <a:pPr marL="0" indent="0" algn="ctr">
              <a:spcAft>
                <a:spcPts val="100"/>
              </a:spcAft>
              <a:buNone/>
            </a:pPr>
            <a:r>
              <a:rPr lang="en-US" sz="1000" b="1" kern="0" spc="1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>
              <a:solidFill>
                <a:schemeClr val="accent4"/>
              </a:solidFill>
            </a:endParaRPr>
          </a:p>
          <a:p>
            <a:pPr marL="0" indent="0" algn="ctr">
              <a:spcAft>
                <a:spcPts val="700"/>
              </a:spcAft>
              <a:buNone/>
            </a:pPr>
            <a:r>
              <a:rPr lang="en-US" sz="15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+ Seller</a:t>
            </a:r>
            <a:endParaRPr lang="en-US" sz="1000" dirty="0">
              <a:solidFill>
                <a:schemeClr val="accent4"/>
              </a:solidFill>
            </a:endParaRPr>
          </a:p>
          <a:p>
            <a:pPr marL="0" indent="0" algn="ctr">
              <a:spcAft>
                <a:spcPts val="100"/>
              </a:spcAft>
              <a:buNone/>
            </a:pPr>
            <a:r>
              <a:rPr lang="en-US" sz="1000" b="1" kern="0" spc="1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000" dirty="0">
              <a:solidFill>
                <a:schemeClr val="accent4"/>
              </a:solidFill>
            </a:endParaRPr>
          </a:p>
          <a:p>
            <a:pPr marL="0" indent="0" algn="ctr">
              <a:spcAft>
                <a:spcPts val="700"/>
              </a:spcAft>
              <a:buNone/>
            </a:pPr>
            <a:r>
              <a:rPr lang="en-US" sz="15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Metro, India</a:t>
            </a:r>
            <a:endParaRPr lang="en-US" sz="1000" dirty="0">
              <a:solidFill>
                <a:schemeClr val="accent4"/>
              </a:solidFill>
            </a:endParaRPr>
          </a:p>
          <a:p>
            <a:pPr marL="0" indent="0" algn="ctr">
              <a:spcAft>
                <a:spcPts val="100"/>
              </a:spcAft>
              <a:buNone/>
            </a:pPr>
            <a:r>
              <a:rPr lang="en-US" sz="1000" b="1" kern="0" spc="1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MATURITY</a:t>
            </a:r>
            <a:endParaRPr lang="en-US" sz="1000" dirty="0">
              <a:solidFill>
                <a:schemeClr val="accent4"/>
              </a:solidFill>
            </a:endParaRPr>
          </a:p>
          <a:p>
            <a:pPr marL="0" indent="0" algn="ctr">
              <a:spcAft>
                <a:spcPts val="700"/>
              </a:spcAft>
              <a:buNone/>
            </a:pPr>
            <a:r>
              <a:rPr lang="en-US" sz="15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Medium–High</a:t>
            </a:r>
            <a:endParaRPr lang="en-US" sz="1000" dirty="0">
              <a:solidFill>
                <a:schemeClr val="accent4"/>
              </a:solidFill>
            </a:endParaRPr>
          </a:p>
          <a:p>
            <a:pPr marL="0" indent="0" algn="ctr">
              <a:spcAft>
                <a:spcPts val="100"/>
              </a:spcAft>
              <a:buNone/>
            </a:pPr>
            <a:r>
              <a:rPr lang="en-US" sz="1000" b="1" kern="0" spc="1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POSTURE</a:t>
            </a:r>
            <a:endParaRPr lang="en-US" sz="1000" dirty="0">
              <a:solidFill>
                <a:schemeClr val="accent4"/>
              </a:solidFill>
            </a:endParaRPr>
          </a:p>
          <a:p>
            <a:pPr marL="0" indent="0" algn="ctr">
              <a:spcAft>
                <a:spcPts val="700"/>
              </a:spcAft>
              <a:buNone/>
            </a:pPr>
            <a:r>
              <a:rPr lang="en-US" sz="15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for trust</a:t>
            </a:r>
            <a:endParaRPr lang="en-US" sz="1000" dirty="0">
              <a:solidFill>
                <a:schemeClr val="accent4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4206240" y="256032"/>
            <a:ext cx="7619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A6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CertiBuy · Consumer Persona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06240" y="566928"/>
            <a:ext cx="365760" cy="365760"/>
          </a:xfrm>
          <a:prstGeom prst="ellipse">
            <a:avLst/>
          </a:prstGeom>
          <a:solidFill>
            <a:srgbClr val="3D2E6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3964" y="644652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81728" y="548640"/>
            <a:ext cx="71442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2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BACKGROUND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242816" y="969264"/>
            <a:ext cx="7619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metro knowledge-worker prosumer living in a continuous upgrade-resell loop — selling the old device helps fund the next. Trust must be earned before any transaction; price comes second. A composite of two real interview buyers and one real seller, extended with six synthetic adjacent segments.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206240" y="1993392"/>
            <a:ext cx="365760" cy="365760"/>
          </a:xfrm>
          <a:prstGeom prst="ellipse">
            <a:avLst/>
          </a:prstGeom>
          <a:solidFill>
            <a:srgbClr val="7A3B8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3964" y="2071116"/>
            <a:ext cx="210312" cy="2103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81728" y="1975104"/>
            <a:ext cx="319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3B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242816" y="2414016"/>
            <a:ext cx="3672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authenticity &amp; condition before anything else</a:t>
            </a:r>
            <a:endParaRPr lang="en-US" sz="120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value to fund the next upgrade</a:t>
            </a:r>
            <a:endParaRPr lang="en-US" sz="120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smart and in control of the decision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153248" y="1993392"/>
            <a:ext cx="365760" cy="365760"/>
          </a:xfrm>
          <a:prstGeom prst="ellipse">
            <a:avLst/>
          </a:prstGeom>
          <a:solidFill>
            <a:srgbClr val="6C4BB6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0972" y="2071116"/>
            <a:ext cx="210312" cy="21031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628736" y="1975104"/>
            <a:ext cx="319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4B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MOTIVATIONS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189824" y="2414016"/>
            <a:ext cx="3672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elimination over bargain-hunting</a:t>
            </a:r>
            <a:endParaRPr lang="en-US" sz="120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recovery as upgrade economics</a:t>
            </a:r>
            <a:endParaRPr lang="en-US" sz="120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dignity &amp; social legitimacy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206240" y="3584448"/>
            <a:ext cx="365760" cy="365760"/>
          </a:xfrm>
          <a:prstGeom prst="ellipse">
            <a:avLst/>
          </a:prstGeom>
          <a:solidFill>
            <a:srgbClr val="B0413E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3964" y="3662172"/>
            <a:ext cx="210312" cy="21031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681728" y="3566160"/>
            <a:ext cx="319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041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 POINTS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4242816" y="4005072"/>
            <a:ext cx="3672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hidden defects — the “lemon” problem</a:t>
            </a:r>
            <a:endParaRPr lang="en-US" sz="120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or scripted support = a breach of trust</a:t>
            </a:r>
            <a:endParaRPr lang="en-US" sz="120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paralysis when options look alike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8153248" y="3584448"/>
            <a:ext cx="365760" cy="365760"/>
          </a:xfrm>
          <a:prstGeom prst="ellipse">
            <a:avLst/>
          </a:prstGeom>
          <a:solidFill>
            <a:srgbClr val="1F6FB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30972" y="3662172"/>
            <a:ext cx="210312" cy="21031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628736" y="3566160"/>
            <a:ext cx="319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BEHAVIOR PATTERNS</a:t>
            </a:r>
            <a:endParaRPr lang="en-US" sz="1500" dirty="0"/>
          </a:p>
        </p:txBody>
      </p:sp>
      <p:sp>
        <p:nvSpPr>
          <p:cNvPr id="29" name="Text 21"/>
          <p:cNvSpPr/>
          <p:nvPr/>
        </p:nvSpPr>
        <p:spPr>
          <a:xfrm>
            <a:off x="8189824" y="4005072"/>
            <a:ext cx="3672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wk research; often decides early, then confirms</a:t>
            </a:r>
            <a:endParaRPr lang="en-US" sz="120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Trusts peers &amp; YouTube over brand messaging</a:t>
            </a:r>
            <a:endParaRPr lang="en-US" sz="120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Stalls at comparison, converts at verification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4206240" y="5175504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83964" y="5253228"/>
            <a:ext cx="210312" cy="21031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4681728" y="5157216"/>
            <a:ext cx="319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DRIVERS</a:t>
            </a:r>
            <a:endParaRPr lang="en-US" sz="1500" dirty="0"/>
          </a:p>
        </p:txBody>
      </p:sp>
      <p:sp>
        <p:nvSpPr>
          <p:cNvPr id="33" name="Text 24"/>
          <p:cNvSpPr/>
          <p:nvPr/>
        </p:nvSpPr>
        <p:spPr>
          <a:xfrm>
            <a:off x="4242816" y="5596128"/>
            <a:ext cx="3672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Credible, independent certification</a:t>
            </a:r>
            <a:endParaRPr lang="en-US" sz="120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you see = what you get” proof</a:t>
            </a:r>
            <a:endParaRPr lang="en-US" sz="120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returns — reversibility lowers the stakes</a:t>
            </a:r>
            <a:endParaRPr lang="en-US" sz="1200" dirty="0"/>
          </a:p>
        </p:txBody>
      </p:sp>
      <p:sp>
        <p:nvSpPr>
          <p:cNvPr id="34" name="Shape 25"/>
          <p:cNvSpPr/>
          <p:nvPr/>
        </p:nvSpPr>
        <p:spPr>
          <a:xfrm>
            <a:off x="8153248" y="5175504"/>
            <a:ext cx="365760" cy="365760"/>
          </a:xfrm>
          <a:prstGeom prst="ellipse">
            <a:avLst/>
          </a:prstGeom>
          <a:solidFill>
            <a:srgbClr val="B26A00"/>
          </a:solidFill>
          <a:ln/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30972" y="5253228"/>
            <a:ext cx="210312" cy="21031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8628736" y="5157216"/>
            <a:ext cx="319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26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PREFERRED CHANNELS</a:t>
            </a:r>
            <a:endParaRPr lang="en-US" sz="1500" dirty="0"/>
          </a:p>
        </p:txBody>
      </p:sp>
      <p:sp>
        <p:nvSpPr>
          <p:cNvPr id="37" name="Text 27"/>
          <p:cNvSpPr/>
          <p:nvPr/>
        </p:nvSpPr>
        <p:spPr>
          <a:xfrm>
            <a:off x="8189824" y="5596128"/>
            <a:ext cx="3672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reviews; friends, family &amp; WhatsApp</a:t>
            </a:r>
            <a:endParaRPr lang="en-US" sz="120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marketplace apps to compare/verify</a:t>
            </a:r>
            <a:endParaRPr lang="en-US" sz="120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store as a reversible trust fallback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2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Their Own Words — and How They Feel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tagged by origin: </a:t>
            </a:r>
            <a:r>
              <a:rPr lang="en-US" sz="12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[REAL INTERVIEW]</a:t>
            </a:r>
            <a:r>
              <a:rPr lang="en-US" sz="120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  </a:t>
            </a:r>
            <a:r>
              <a:rPr lang="en-US" sz="1200" b="1" dirty="0">
                <a:solidFill>
                  <a:srgbClr val="7A3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[AI-SYNTHESIZED]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329184" cy="329184"/>
          </a:xfrm>
          <a:prstGeom prst="ellipse">
            <a:avLst/>
          </a:prstGeom>
          <a:solidFill>
            <a:srgbClr val="1F6FB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67028"/>
            <a:ext cx="192024" cy="1920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280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REAL INTERVIEWS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355080" y="1298448"/>
            <a:ext cx="329184" cy="329184"/>
          </a:xfrm>
          <a:prstGeom prst="ellipse">
            <a:avLst/>
          </a:prstGeom>
          <a:solidFill>
            <a:srgbClr val="7A3B8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367028"/>
            <a:ext cx="192024" cy="1920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66560" y="1280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3B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AI-SYNTHESIZED RESPONDENTS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02920" y="1737360"/>
            <a:ext cx="5440680" cy="768096"/>
          </a:xfrm>
          <a:prstGeom prst="rect">
            <a:avLst/>
          </a:prstGeom>
          <a:solidFill>
            <a:srgbClr val="F4F1FA"/>
          </a:solidFill>
          <a:ln w="9525">
            <a:solidFill>
              <a:srgbClr val="E4DDF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02920" y="1737360"/>
            <a:ext cx="64008" cy="768096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12" name="Text 8"/>
          <p:cNvSpPr/>
          <p:nvPr/>
        </p:nvSpPr>
        <p:spPr>
          <a:xfrm>
            <a:off x="704088" y="1737360"/>
            <a:ext cx="5111496" cy="7680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i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“Transparency means the online representation matching the actual product received.”</a:t>
            </a:r>
            <a:endParaRPr lang="en-US" sz="1250" dirty="0"/>
          </a:p>
          <a:p>
            <a:pPr marL="0" indent="0">
              <a:buNone/>
            </a:pPr>
            <a:r>
              <a:rPr lang="en-US" sz="100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Rishabh, Buyer (Gurgaon)   </a:t>
            </a:r>
            <a:r>
              <a:rPr lang="en-US" sz="85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[REAL INTERVIEW]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02920" y="2578608"/>
            <a:ext cx="5440680" cy="731520"/>
          </a:xfrm>
          <a:prstGeom prst="rect">
            <a:avLst/>
          </a:prstGeom>
          <a:solidFill>
            <a:srgbClr val="F4F1FA"/>
          </a:solidFill>
          <a:ln w="9525">
            <a:solidFill>
              <a:srgbClr val="E4DDF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02920" y="2578608"/>
            <a:ext cx="64008" cy="731520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15" name="Text 11"/>
          <p:cNvSpPr/>
          <p:nvPr/>
        </p:nvSpPr>
        <p:spPr>
          <a:xfrm>
            <a:off x="704088" y="2578608"/>
            <a:ext cx="5111496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i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“Video verification or live inspection would significantly increase trust.”</a:t>
            </a:r>
            <a:endParaRPr lang="en-US" sz="1250" dirty="0"/>
          </a:p>
          <a:p>
            <a:pPr marL="0" indent="0">
              <a:buNone/>
            </a:pPr>
            <a:r>
              <a:rPr lang="en-US" sz="100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Gia, Buyer (Hyderabad)   </a:t>
            </a:r>
            <a:r>
              <a:rPr lang="en-US" sz="85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[REAL INTERVIEW]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02920" y="3383280"/>
            <a:ext cx="5440680" cy="768096"/>
          </a:xfrm>
          <a:prstGeom prst="rect">
            <a:avLst/>
          </a:prstGeom>
          <a:solidFill>
            <a:srgbClr val="F4F1FA"/>
          </a:solidFill>
          <a:ln w="9525">
            <a:solidFill>
              <a:srgbClr val="E4DDF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02920" y="3383280"/>
            <a:ext cx="64008" cy="768096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18" name="Text 14"/>
          <p:cNvSpPr/>
          <p:nvPr/>
        </p:nvSpPr>
        <p:spPr>
          <a:xfrm>
            <a:off x="704088" y="3383280"/>
            <a:ext cx="5111496" cy="7680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i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“Direct interactions with strangers create discomfort and safety concerns.”</a:t>
            </a:r>
            <a:endParaRPr lang="en-US" sz="1250" dirty="0"/>
          </a:p>
          <a:p>
            <a:pPr marL="0" indent="0">
              <a:buNone/>
            </a:pPr>
            <a:r>
              <a:rPr lang="en-US" sz="100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Seller (lives alone)   </a:t>
            </a:r>
            <a:r>
              <a:rPr lang="en-US" sz="85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[REAL INTERVIEW]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355080" y="1737360"/>
            <a:ext cx="5349240" cy="475488"/>
          </a:xfrm>
          <a:prstGeom prst="rect">
            <a:avLst/>
          </a:prstGeom>
          <a:solidFill>
            <a:srgbClr val="F4F1FA"/>
          </a:solidFill>
          <a:ln w="9525">
            <a:solidFill>
              <a:srgbClr val="E4DDF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355080" y="1737360"/>
            <a:ext cx="64008" cy="475488"/>
          </a:xfrm>
          <a:prstGeom prst="rect">
            <a:avLst/>
          </a:prstGeom>
          <a:solidFill>
            <a:srgbClr val="7A3B8F"/>
          </a:solidFill>
          <a:ln/>
        </p:spPr>
      </p:sp>
      <p:sp>
        <p:nvSpPr>
          <p:cNvPr id="21" name="Text 17"/>
          <p:cNvSpPr/>
          <p:nvPr/>
        </p:nvSpPr>
        <p:spPr>
          <a:xfrm>
            <a:off x="6556248" y="1737360"/>
            <a:ext cx="5020056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“Trust is table stakes — speed is the differentiator.”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Vikram, 34 — Power User   </a:t>
            </a:r>
            <a:r>
              <a:rPr lang="en-US" sz="850" b="1" dirty="0">
                <a:solidFill>
                  <a:srgbClr val="7A3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[AI-SYNTHESIZED]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355080" y="2258568"/>
            <a:ext cx="5349240" cy="475488"/>
          </a:xfrm>
          <a:prstGeom prst="rect">
            <a:avLst/>
          </a:prstGeom>
          <a:solidFill>
            <a:srgbClr val="F4F1FA"/>
          </a:solidFill>
          <a:ln w="9525">
            <a:solidFill>
              <a:srgbClr val="E4DDF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55080" y="2258568"/>
            <a:ext cx="64008" cy="475488"/>
          </a:xfrm>
          <a:prstGeom prst="rect">
            <a:avLst/>
          </a:prstGeom>
          <a:solidFill>
            <a:srgbClr val="7A3B8F"/>
          </a:solidFill>
          <a:ln/>
        </p:spPr>
      </p:sp>
      <p:sp>
        <p:nvSpPr>
          <p:cNvPr id="24" name="Text 20"/>
          <p:cNvSpPr/>
          <p:nvPr/>
        </p:nvSpPr>
        <p:spPr>
          <a:xfrm>
            <a:off x="6556248" y="2258568"/>
            <a:ext cx="5020056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“Makes it feel legitimate — not someone’s WhatsApp.”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Priya, 28 — Budget Adopter   </a:t>
            </a:r>
            <a:r>
              <a:rPr lang="en-US" sz="850" b="1" dirty="0">
                <a:solidFill>
                  <a:srgbClr val="7A3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[AI-SYNTHESIZED]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355080" y="2779776"/>
            <a:ext cx="5349240" cy="475488"/>
          </a:xfrm>
          <a:prstGeom prst="rect">
            <a:avLst/>
          </a:prstGeom>
          <a:solidFill>
            <a:srgbClr val="F4F1FA"/>
          </a:solidFill>
          <a:ln w="9525">
            <a:solidFill>
              <a:srgbClr val="E4DDF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355080" y="2779776"/>
            <a:ext cx="64008" cy="475488"/>
          </a:xfrm>
          <a:prstGeom prst="rect">
            <a:avLst/>
          </a:prstGeom>
          <a:solidFill>
            <a:srgbClr val="7A3B8F"/>
          </a:solidFill>
          <a:ln/>
        </p:spPr>
      </p:sp>
      <p:sp>
        <p:nvSpPr>
          <p:cNvPr id="27" name="Text 23"/>
          <p:cNvSpPr/>
          <p:nvPr/>
        </p:nvSpPr>
        <p:spPr>
          <a:xfrm>
            <a:off x="6556248" y="2779776"/>
            <a:ext cx="5020056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“That’s not a rounding error, that’s a lie.”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Aditya, 26 — Churned Detractor   </a:t>
            </a:r>
            <a:r>
              <a:rPr lang="en-US" sz="850" b="1" dirty="0">
                <a:solidFill>
                  <a:srgbClr val="7A3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[AI-SYNTHESIZED]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355080" y="3300984"/>
            <a:ext cx="5349240" cy="475488"/>
          </a:xfrm>
          <a:prstGeom prst="rect">
            <a:avLst/>
          </a:prstGeom>
          <a:solidFill>
            <a:srgbClr val="F4F1FA"/>
          </a:solidFill>
          <a:ln w="9525">
            <a:solidFill>
              <a:srgbClr val="E4DDF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355080" y="3300984"/>
            <a:ext cx="64008" cy="475488"/>
          </a:xfrm>
          <a:prstGeom prst="rect">
            <a:avLst/>
          </a:prstGeom>
          <a:solidFill>
            <a:srgbClr val="7A3B8F"/>
          </a:solidFill>
          <a:ln/>
        </p:spPr>
      </p:sp>
      <p:sp>
        <p:nvSpPr>
          <p:cNvPr id="30" name="Text 26"/>
          <p:cNvSpPr/>
          <p:nvPr/>
        </p:nvSpPr>
        <p:spPr>
          <a:xfrm>
            <a:off x="6556248" y="3300984"/>
            <a:ext cx="5020056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“Three photos, instant quote, pick-up Thursday. Done.”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Sunita, 44 — Dormant Seller   </a:t>
            </a:r>
            <a:r>
              <a:rPr lang="en-US" sz="850" b="1" dirty="0">
                <a:solidFill>
                  <a:srgbClr val="7A3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[AI-SYNTHESIZED]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6355080" y="3822192"/>
            <a:ext cx="5349240" cy="475488"/>
          </a:xfrm>
          <a:prstGeom prst="rect">
            <a:avLst/>
          </a:prstGeom>
          <a:solidFill>
            <a:srgbClr val="F4F1FA"/>
          </a:solidFill>
          <a:ln w="9525">
            <a:solidFill>
              <a:srgbClr val="E4DDF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6355080" y="3822192"/>
            <a:ext cx="64008" cy="475488"/>
          </a:xfrm>
          <a:prstGeom prst="rect">
            <a:avLst/>
          </a:prstGeom>
          <a:solidFill>
            <a:srgbClr val="7A3B8F"/>
          </a:solidFill>
          <a:ln/>
        </p:spPr>
      </p:sp>
      <p:sp>
        <p:nvSpPr>
          <p:cNvPr id="33" name="Text 29"/>
          <p:cNvSpPr/>
          <p:nvPr/>
        </p:nvSpPr>
        <p:spPr>
          <a:xfrm>
            <a:off x="6556248" y="3822192"/>
            <a:ext cx="5020056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“Don’t try to sell me. Just show me the data.”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Rahul, 31 — Skeptic   </a:t>
            </a:r>
            <a:r>
              <a:rPr lang="en-US" sz="850" b="1" dirty="0">
                <a:solidFill>
                  <a:srgbClr val="7A3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[AI-SYNTHESIZED]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502920" y="4498848"/>
            <a:ext cx="310896" cy="310896"/>
          </a:xfrm>
          <a:prstGeom prst="ellipse">
            <a:avLst/>
          </a:prstGeom>
          <a:solidFill>
            <a:srgbClr val="3D2E63"/>
          </a:solidFill>
          <a:ln/>
        </p:spPr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562856"/>
            <a:ext cx="182880" cy="18288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896112" y="448056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2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EMOTIONAL JOURNEY — confidence dips into paralysis at comparison, peaks as relief at decision</a:t>
            </a:r>
            <a:endParaRPr lang="en-US" sz="1200" dirty="0"/>
          </a:p>
        </p:txBody>
      </p:sp>
      <p:pic>
        <p:nvPicPr>
          <p:cNvPr id="37" name="Image 3" descr="/home/claude/journe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8328" y="4892040"/>
            <a:ext cx="6035040" cy="17295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CertiBuy — Consumer Persona &amp; Product Strategy</dc:title>
  <dc:subject>PptxGenJS Presentation</dc:subject>
  <dc:creator>CertiBuy Product Strategy</dc:creator>
  <cp:lastModifiedBy>CertiBuy Product Strategy</cp:lastModifiedBy>
  <cp:revision>1</cp:revision>
  <dcterms:created xsi:type="dcterms:W3CDTF">2026-06-01T19:04:25Z</dcterms:created>
  <dcterms:modified xsi:type="dcterms:W3CDTF">2026-06-01T19:04:25Z</dcterms:modified>
</cp:coreProperties>
</file>