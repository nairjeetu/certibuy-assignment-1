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Confidence</c:v>
                </c:pt>
              </c:strCache>
            </c:strRef>
          </c:tx>
          <c:spPr>
            <a:ln w="34925" cap="flat">
              <a:solidFill>
                <a:srgbClr val="0E7C7B"/>
              </a:solidFill>
              <a:prstDash val="solid"/>
              <a:round/>
            </a:ln>
            <a:effectLst/>
          </c:spPr>
          <c:marker>
            <c:symbol val="circle"/>
            <c:size val="6"/>
            <c:spPr>
              <a:solidFill>
                <a:srgbClr val="0E7C7B"/>
              </a:solidFill>
              <a:ln w="9525" cap="flat">
                <a:solidFill>
                  <a:srgbClr val="0E7C7B"/>
                </a:solidFill>
                <a:prstDash val="solid"/>
                <a:round/>
              </a:ln>
              <a:effectLst/>
            </c:spPr>
          </c:marker>
          <c:cat>
            <c:strRef>
              <c:f>Sheet1!$A$2:$A$7</c:f>
              <c:strCache>
                <c:ptCount val="6"/>
                <c:pt idx="0">
                  <c:v>Need &amp; Intent</c:v>
                </c:pt>
                <c:pt idx="1">
                  <c:v>Discover &amp; List</c:v>
                </c:pt>
                <c:pt idx="2">
                  <c:v>Compare &amp; Verify</c:v>
                </c:pt>
                <c:pt idx="3">
                  <c:v>Certify &amp; Publish</c:v>
                </c:pt>
                <c:pt idx="4">
                  <c:v>Transact &amp; Pay</c:v>
                </c:pt>
                <c:pt idx="5">
                  <c:v>Deliver &amp; Settle</c:v>
                </c:pt>
              </c:strCache>
            </c:strRef>
          </c:cat>
          <c:val>
            <c:numRef>
              <c:f>Sheet1!$B$2:$B$7</c:f>
              <c:numCache>
                <c:formatCode>General</c:formatCode>
                <c:ptCount val="6"/>
                <c:pt idx="0">
                  <c:v>66</c:v>
                </c:pt>
                <c:pt idx="1">
                  <c:v>58</c:v>
                </c:pt>
                <c:pt idx="2">
                  <c:v>30</c:v>
                </c:pt>
                <c:pt idx="3">
                  <c:v>66</c:v>
                </c:pt>
                <c:pt idx="4">
                  <c:v>90</c:v>
                </c:pt>
                <c:pt idx="5">
                  <c:v>80</c:v>
                </c:pt>
              </c:numCache>
            </c:numRef>
          </c:val>
          <c:smooth val="1"/>
          <c:extLst>
            <c:ext xmlns:c16="http://schemas.microsoft.com/office/drawing/2014/chart" uri="{C3380CC4-5D6E-409C-BE32-E72D297353CC}">
              <c16:uniqueId val="{00000000-42DD-484E-B763-B522CC8DB88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2220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2.pn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image" Target="../media/image29.jpeg"/><Relationship Id="rId7" Type="http://schemas.openxmlformats.org/officeDocument/2006/relationships/image" Target="../media/image31.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linkedin.com/in/jyoti-rawat-9a2754168" TargetMode="External"/><Relationship Id="rId11" Type="http://schemas.openxmlformats.org/officeDocument/2006/relationships/hyperlink" Target="https://www.linkedin.com/in/kiran-kumbar-5393a9158/" TargetMode="External"/><Relationship Id="rId5" Type="http://schemas.openxmlformats.org/officeDocument/2006/relationships/image" Target="../media/image30.jpeg"/><Relationship Id="rId10" Type="http://schemas.openxmlformats.org/officeDocument/2006/relationships/hyperlink" Target="https://www.linkedin.com/in/tanya-dayal-364540168" TargetMode="External"/><Relationship Id="rId4" Type="http://schemas.openxmlformats.org/officeDocument/2006/relationships/hyperlink" Target="https://www.linkedin.com/in/jithendran-nair-puravankara/" TargetMode="External"/><Relationship Id="rId9"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7955280" y="-1828800"/>
            <a:ext cx="6583680" cy="6583680"/>
          </a:xfrm>
          <a:prstGeom prst="ellipse">
            <a:avLst/>
          </a:prstGeom>
          <a:solidFill>
            <a:srgbClr val="2A4068"/>
          </a:solidFill>
          <a:ln/>
        </p:spPr>
        <p:txBody>
          <a:bodyPr/>
          <a:lstStyle/>
          <a:p>
            <a:endParaRPr lang="en-IN"/>
          </a:p>
        </p:txBody>
      </p:sp>
      <p:sp>
        <p:nvSpPr>
          <p:cNvPr id="3" name="Shape 1"/>
          <p:cNvSpPr/>
          <p:nvPr/>
        </p:nvSpPr>
        <p:spPr>
          <a:xfrm>
            <a:off x="-2011680" y="3931920"/>
            <a:ext cx="5029200" cy="5029200"/>
          </a:xfrm>
          <a:prstGeom prst="ellipse">
            <a:avLst/>
          </a:prstGeom>
          <a:solidFill>
            <a:srgbClr val="14213B"/>
          </a:solidFill>
          <a:ln/>
        </p:spPr>
        <p:txBody>
          <a:bodyPr/>
          <a:lstStyle/>
          <a:p>
            <a:endParaRPr lang="en-IN"/>
          </a:p>
        </p:txBody>
      </p:sp>
      <p:sp>
        <p:nvSpPr>
          <p:cNvPr id="4" name="Shape 2"/>
          <p:cNvSpPr/>
          <p:nvPr/>
        </p:nvSpPr>
        <p:spPr>
          <a:xfrm>
            <a:off x="566928" y="640080"/>
            <a:ext cx="566928" cy="566928"/>
          </a:xfrm>
          <a:prstGeom prst="ellipse">
            <a:avLst/>
          </a:prstGeom>
          <a:solidFill>
            <a:srgbClr val="FFFFFF"/>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702991" y="776143"/>
            <a:ext cx="294803" cy="294803"/>
          </a:xfrm>
          <a:prstGeom prst="rect">
            <a:avLst/>
          </a:prstGeom>
        </p:spPr>
      </p:pic>
      <p:sp>
        <p:nvSpPr>
          <p:cNvPr id="6" name="Text 3"/>
          <p:cNvSpPr/>
          <p:nvPr/>
        </p:nvSpPr>
        <p:spPr>
          <a:xfrm>
            <a:off x="1280160" y="603504"/>
            <a:ext cx="4572000" cy="4572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CertiBuy</a:t>
            </a:r>
            <a:endParaRPr lang="en-US" sz="2600" dirty="0"/>
          </a:p>
        </p:txBody>
      </p:sp>
      <p:sp>
        <p:nvSpPr>
          <p:cNvPr id="7" name="Text 4"/>
          <p:cNvSpPr/>
          <p:nvPr/>
        </p:nvSpPr>
        <p:spPr>
          <a:xfrm>
            <a:off x="566928" y="2240280"/>
            <a:ext cx="10515600" cy="320040"/>
          </a:xfrm>
          <a:prstGeom prst="rect">
            <a:avLst/>
          </a:prstGeom>
          <a:noFill/>
          <a:ln/>
        </p:spPr>
        <p:txBody>
          <a:bodyPr wrap="square" lIns="0" tIns="0" rIns="0" bIns="0" rtlCol="0" anchor="ctr"/>
          <a:lstStyle/>
          <a:p>
            <a:pPr marL="0" indent="0">
              <a:buNone/>
            </a:pPr>
            <a:r>
              <a:rPr lang="en-US" sz="1250" b="1" kern="0" spc="200" dirty="0">
                <a:solidFill>
                  <a:srgbClr val="2DC6B7"/>
                </a:solidFill>
                <a:latin typeface="Trebuchet MS" pitchFamily="34" charset="0"/>
                <a:ea typeface="Trebuchet MS" pitchFamily="34" charset="-122"/>
                <a:cs typeface="Trebuchet MS" pitchFamily="34" charset="-120"/>
              </a:rPr>
              <a:t>IITM PRAVARTAK  ·  AI-POWERED PRODUCT DESIGN &amp; MANAGEMENT</a:t>
            </a:r>
            <a:endParaRPr lang="en-US" sz="1250" dirty="0"/>
          </a:p>
        </p:txBody>
      </p:sp>
      <p:sp>
        <p:nvSpPr>
          <p:cNvPr id="8" name="Text 5"/>
          <p:cNvSpPr/>
          <p:nvPr/>
        </p:nvSpPr>
        <p:spPr>
          <a:xfrm>
            <a:off x="566928" y="2606040"/>
            <a:ext cx="8595360" cy="1280160"/>
          </a:xfrm>
          <a:prstGeom prst="rect">
            <a:avLst/>
          </a:prstGeom>
          <a:noFill/>
          <a:ln/>
        </p:spPr>
        <p:txBody>
          <a:bodyPr wrap="square" lIns="0" tIns="0" rIns="0" bIns="0" rtlCol="0" anchor="ctr"/>
          <a:lstStyle/>
          <a:p>
            <a:pPr marL="0" indent="0">
              <a:lnSpc>
                <a:spcPct val="98000"/>
              </a:lnSpc>
              <a:buNone/>
            </a:pPr>
            <a:r>
              <a:rPr lang="en-US" sz="4600" b="1" dirty="0">
                <a:solidFill>
                  <a:srgbClr val="FFFFFF"/>
                </a:solidFill>
                <a:latin typeface="Georgia" pitchFamily="34" charset="0"/>
                <a:ea typeface="Georgia" pitchFamily="34" charset="-122"/>
                <a:cs typeface="Georgia" pitchFamily="34" charset="-120"/>
              </a:rPr>
              <a:t>From Interviews to a Trust-Gated Persona</a:t>
            </a:r>
            <a:endParaRPr lang="en-US" sz="4600" dirty="0"/>
          </a:p>
        </p:txBody>
      </p:sp>
      <p:sp>
        <p:nvSpPr>
          <p:cNvPr id="9" name="Text 6"/>
          <p:cNvSpPr/>
          <p:nvPr/>
        </p:nvSpPr>
        <p:spPr>
          <a:xfrm>
            <a:off x="566928" y="4160520"/>
            <a:ext cx="7863840" cy="731520"/>
          </a:xfrm>
          <a:prstGeom prst="rect">
            <a:avLst/>
          </a:prstGeom>
          <a:noFill/>
          <a:ln/>
        </p:spPr>
        <p:txBody>
          <a:bodyPr wrap="square" lIns="0" tIns="0" rIns="0" bIns="0" rtlCol="0" anchor="ctr"/>
          <a:lstStyle/>
          <a:p>
            <a:pPr marL="0" indent="0">
              <a:lnSpc>
                <a:spcPct val="110000"/>
              </a:lnSpc>
              <a:buNone/>
            </a:pPr>
            <a:r>
              <a:rPr lang="en-US" sz="1500" i="1" dirty="0">
                <a:solidFill>
                  <a:srgbClr val="CBD8EC"/>
                </a:solidFill>
                <a:latin typeface="Calibri" pitchFamily="34" charset="0"/>
                <a:ea typeface="Calibri" pitchFamily="34" charset="-122"/>
                <a:cs typeface="Calibri" pitchFamily="34" charset="-120"/>
              </a:rPr>
              <a:t>A research-to-strategy story for a trust-first recommerce marketplace — grounded in real interviews and extended with AI-assisted synthesis.</a:t>
            </a:r>
            <a:endParaRPr lang="en-US" sz="1500" dirty="0"/>
          </a:p>
        </p:txBody>
      </p:sp>
      <p:sp>
        <p:nvSpPr>
          <p:cNvPr id="10" name="Shape 7"/>
          <p:cNvSpPr/>
          <p:nvPr/>
        </p:nvSpPr>
        <p:spPr>
          <a:xfrm>
            <a:off x="9189720" y="2468880"/>
            <a:ext cx="2286000" cy="2286000"/>
          </a:xfrm>
          <a:prstGeom prst="ellipse">
            <a:avLst/>
          </a:prstGeom>
          <a:solidFill>
            <a:srgbClr val="FFFFFF"/>
          </a:solidFill>
          <a:ln/>
          <a:effectLst>
            <a:outerShdw blurRad="88900" dist="25400" dir="5400000" algn="bl" rotWithShape="0">
              <a:srgbClr val="8A86A8">
                <a:alpha val="20000"/>
              </a:srgbClr>
            </a:outerShdw>
          </a:effectLst>
        </p:spPr>
        <p:txBody>
          <a:bodyPr/>
          <a:lstStyle/>
          <a:p>
            <a:endParaRPr lang="en-IN"/>
          </a:p>
        </p:txBody>
      </p:sp>
      <p:pic>
        <p:nvPicPr>
          <p:cNvPr id="11" name="Image 1" descr="preencoded.png"/>
          <p:cNvPicPr>
            <a:picLocks noChangeAspect="1"/>
          </p:cNvPicPr>
          <p:nvPr/>
        </p:nvPicPr>
        <p:blipFill>
          <a:blip r:embed="rId4"/>
          <a:stretch>
            <a:fillRect/>
          </a:stretch>
        </p:blipFill>
        <p:spPr>
          <a:xfrm>
            <a:off x="9272016" y="2551176"/>
            <a:ext cx="2121408" cy="2121408"/>
          </a:xfrm>
          <a:prstGeom prst="rect">
            <a:avLst/>
          </a:prstGeom>
        </p:spPr>
      </p:pic>
      <p:sp>
        <p:nvSpPr>
          <p:cNvPr id="12" name="Text 8"/>
          <p:cNvSpPr/>
          <p:nvPr/>
        </p:nvSpPr>
        <p:spPr>
          <a:xfrm>
            <a:off x="7955280" y="4864608"/>
            <a:ext cx="3749040" cy="457200"/>
          </a:xfrm>
          <a:prstGeom prst="rect">
            <a:avLst/>
          </a:prstGeom>
          <a:noFill/>
          <a:ln/>
        </p:spPr>
        <p:txBody>
          <a:bodyPr wrap="square" lIns="0" tIns="0" rIns="0" bIns="0" rtlCol="0" anchor="ctr"/>
          <a:lstStyle/>
          <a:p>
            <a:pPr marL="0" indent="0" algn="ctr">
              <a:buNone/>
            </a:pPr>
            <a:r>
              <a:rPr lang="en-US" sz="1150" i="1" dirty="0">
                <a:solidFill>
                  <a:srgbClr val="CBD8EC"/>
                </a:solidFill>
                <a:latin typeface="Calibri" pitchFamily="34" charset="0"/>
                <a:ea typeface="Calibri" pitchFamily="34" charset="-122"/>
                <a:cs typeface="Calibri" pitchFamily="34" charset="-120"/>
              </a:rPr>
              <a:t>Meet KIRAN — The Trust-Gated Upgrader</a:t>
            </a:r>
            <a:endParaRPr lang="en-US" sz="1150" dirty="0"/>
          </a:p>
        </p:txBody>
      </p:sp>
      <p:sp>
        <p:nvSpPr>
          <p:cNvPr id="13" name="Shape 9"/>
          <p:cNvSpPr/>
          <p:nvPr/>
        </p:nvSpPr>
        <p:spPr>
          <a:xfrm>
            <a:off x="566928" y="5212080"/>
            <a:ext cx="3566160" cy="420624"/>
          </a:xfrm>
          <a:prstGeom prst="roundRect">
            <a:avLst>
              <a:gd name="adj" fmla="val 50000"/>
            </a:avLst>
          </a:prstGeom>
          <a:solidFill>
            <a:srgbClr val="14213B"/>
          </a:solidFill>
          <a:ln w="15875">
            <a:solidFill>
              <a:srgbClr val="2DC6B7"/>
            </a:solidFill>
            <a:prstDash val="solid"/>
          </a:ln>
        </p:spPr>
        <p:txBody>
          <a:bodyPr/>
          <a:lstStyle/>
          <a:p>
            <a:endParaRPr lang="en-IN"/>
          </a:p>
        </p:txBody>
      </p:sp>
      <p:sp>
        <p:nvSpPr>
          <p:cNvPr id="14" name="Text 10"/>
          <p:cNvSpPr/>
          <p:nvPr/>
        </p:nvSpPr>
        <p:spPr>
          <a:xfrm>
            <a:off x="566928" y="5212080"/>
            <a:ext cx="3566160" cy="420624"/>
          </a:xfrm>
          <a:prstGeom prst="rect">
            <a:avLst/>
          </a:prstGeom>
          <a:noFill/>
          <a:ln/>
        </p:spPr>
        <p:txBody>
          <a:bodyPr wrap="square" lIns="0" tIns="0" rIns="0" bIns="0" rtlCol="0" anchor="ctr"/>
          <a:lstStyle/>
          <a:p>
            <a:pPr marL="0" indent="0" algn="ctr">
              <a:buNone/>
            </a:pPr>
            <a:r>
              <a:rPr lang="en-US" sz="1150" b="1" dirty="0">
                <a:solidFill>
                  <a:srgbClr val="CBD8EC"/>
                </a:solidFill>
                <a:latin typeface="Trebuchet MS" pitchFamily="34" charset="0"/>
                <a:ea typeface="Trebuchet MS" pitchFamily="34" charset="-122"/>
                <a:cs typeface="Trebuchet MS" pitchFamily="34" charset="-120"/>
              </a:rPr>
              <a:t>Assignment 1  ·  Batch 2  ·  Group 16</a:t>
            </a:r>
            <a:endParaRPr lang="en-US" sz="1150" dirty="0"/>
          </a:p>
        </p:txBody>
      </p:sp>
      <p:sp>
        <p:nvSpPr>
          <p:cNvPr id="15" name="Text 11"/>
          <p:cNvSpPr/>
          <p:nvPr/>
        </p:nvSpPr>
        <p:spPr>
          <a:xfrm>
            <a:off x="566928" y="6053328"/>
            <a:ext cx="10515600" cy="274320"/>
          </a:xfrm>
          <a:prstGeom prst="rect">
            <a:avLst/>
          </a:prstGeom>
          <a:noFill/>
          <a:ln/>
        </p:spPr>
        <p:txBody>
          <a:bodyPr wrap="square" lIns="0" tIns="0" rIns="0" bIns="0" rtlCol="0" anchor="ctr"/>
          <a:lstStyle/>
          <a:p>
            <a:pPr marL="0" indent="0">
              <a:buNone/>
            </a:pPr>
            <a:r>
              <a:rPr lang="en-US" sz="1000" kern="0" spc="100" dirty="0">
                <a:solidFill>
                  <a:srgbClr val="7FA8C9"/>
                </a:solidFill>
                <a:latin typeface="Trebuchet MS" pitchFamily="34" charset="0"/>
                <a:ea typeface="Trebuchet MS" pitchFamily="34" charset="-122"/>
                <a:cs typeface="Trebuchet MS" pitchFamily="34" charset="-120"/>
              </a:rPr>
              <a:t>Team  ·  Jithendran Nair  ·  Jyoti Rawat  ·  Tanya  ·  Kiran  ·  Priya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buNone/>
            </a:pPr>
            <a:r>
              <a:rPr lang="en-US" sz="1150" b="1" kern="0" spc="200" dirty="0">
                <a:solidFill>
                  <a:srgbClr val="0E7C7B"/>
                </a:solidFill>
                <a:latin typeface="Trebuchet MS" pitchFamily="34" charset="0"/>
                <a:ea typeface="Trebuchet MS" pitchFamily="34" charset="-122"/>
                <a:cs typeface="Trebuchet MS" pitchFamily="34" charset="-120"/>
              </a:rPr>
              <a:t>EXECUTIVE SUMMARY</a:t>
            </a:r>
            <a:endParaRPr lang="en-US" sz="1150" dirty="0"/>
          </a:p>
        </p:txBody>
      </p:sp>
      <p:sp>
        <p:nvSpPr>
          <p:cNvPr id="3" name="Text 1"/>
          <p:cNvSpPr/>
          <p:nvPr/>
        </p:nvSpPr>
        <p:spPr>
          <a:xfrm>
            <a:off x="566928" y="658368"/>
            <a:ext cx="11057839" cy="603504"/>
          </a:xfrm>
          <a:prstGeom prst="rect">
            <a:avLst/>
          </a:prstGeom>
          <a:noFill/>
          <a:ln/>
        </p:spPr>
        <p:txBody>
          <a:bodyPr wrap="square" lIns="0" tIns="0" rIns="0" bIns="0" rtlCol="0" anchor="ctr"/>
          <a:lstStyle/>
          <a:p>
            <a:pPr marL="0" indent="0">
              <a:buNone/>
            </a:pPr>
            <a:r>
              <a:rPr lang="en-US" sz="2700" b="1" dirty="0">
                <a:solidFill>
                  <a:srgbClr val="1B2A4A"/>
                </a:solidFill>
                <a:latin typeface="Georgia" pitchFamily="34" charset="0"/>
                <a:ea typeface="Georgia" pitchFamily="34" charset="-122"/>
                <a:cs typeface="Georgia" pitchFamily="34" charset="-120"/>
              </a:rPr>
              <a:t>The Bottom Line: Kiran Buys Certainty</a:t>
            </a:r>
            <a:endParaRPr lang="en-US" sz="2700" dirty="0"/>
          </a:p>
        </p:txBody>
      </p:sp>
      <p:sp>
        <p:nvSpPr>
          <p:cNvPr id="4" name="Shape 2"/>
          <p:cNvSpPr/>
          <p:nvPr/>
        </p:nvSpPr>
        <p:spPr>
          <a:xfrm>
            <a:off x="566928" y="6437376"/>
            <a:ext cx="11057839" cy="0"/>
          </a:xfrm>
          <a:prstGeom prst="line">
            <a:avLst/>
          </a:prstGeom>
          <a:noFill/>
          <a:ln w="12700">
            <a:solidFill>
              <a:srgbClr val="E3E8F0"/>
            </a:solidFill>
            <a:prstDash val="solid"/>
          </a:ln>
        </p:spPr>
        <p:txBody>
          <a:bodyPr/>
          <a:lstStyle/>
          <a:p>
            <a:endParaRPr lang="en-IN"/>
          </a:p>
        </p:txBody>
      </p:sp>
      <p:sp>
        <p:nvSpPr>
          <p:cNvPr id="5" name="Text 3"/>
          <p:cNvSpPr/>
          <p:nvPr/>
        </p:nvSpPr>
        <p:spPr>
          <a:xfrm>
            <a:off x="566928" y="6473952"/>
            <a:ext cx="6400800" cy="274320"/>
          </a:xfrm>
          <a:prstGeom prst="rect">
            <a:avLst/>
          </a:prstGeom>
          <a:noFill/>
          <a:ln/>
        </p:spPr>
        <p:txBody>
          <a:bodyPr wrap="square" lIns="0" tIns="0" rIns="0" bIns="0" rtlCol="0" anchor="ctr"/>
          <a:lstStyle/>
          <a:p>
            <a:pPr marL="0" indent="0">
              <a:buNone/>
            </a:pPr>
            <a:r>
              <a:rPr lang="en-US" sz="850" kern="0" spc="100" dirty="0">
                <a:solidFill>
                  <a:srgbClr val="8A97AD"/>
                </a:solidFill>
                <a:latin typeface="Trebuchet MS" pitchFamily="34" charset="0"/>
                <a:ea typeface="Trebuchet MS" pitchFamily="34" charset="-122"/>
                <a:cs typeface="Trebuchet MS" pitchFamily="34" charset="-120"/>
              </a:rPr>
              <a:t>CertiBuy  ·  Assignment 1</a:t>
            </a:r>
            <a:endParaRPr lang="en-US" sz="850" dirty="0"/>
          </a:p>
        </p:txBody>
      </p:sp>
      <p:sp>
        <p:nvSpPr>
          <p:cNvPr id="6" name="Text 4"/>
          <p:cNvSpPr/>
          <p:nvPr/>
        </p:nvSpPr>
        <p:spPr>
          <a:xfrm>
            <a:off x="4675327" y="6473952"/>
            <a:ext cx="6583680" cy="274320"/>
          </a:xfrm>
          <a:prstGeom prst="rect">
            <a:avLst/>
          </a:prstGeom>
          <a:noFill/>
          <a:ln/>
        </p:spPr>
        <p:txBody>
          <a:bodyPr wrap="square" lIns="0" tIns="0" rIns="0" bIns="0" rtlCol="0" anchor="ctr"/>
          <a:lstStyle/>
          <a:p>
            <a:pPr marL="0" indent="0" algn="r">
              <a:buNone/>
            </a:pPr>
            <a:r>
              <a:rPr lang="en-US" sz="850" dirty="0">
                <a:solidFill>
                  <a:srgbClr val="8A97AD"/>
                </a:solidFill>
                <a:latin typeface="Trebuchet MS" pitchFamily="34" charset="0"/>
                <a:ea typeface="Trebuchet MS" pitchFamily="34" charset="-122"/>
                <a:cs typeface="Trebuchet MS" pitchFamily="34" charset="-120"/>
              </a:rPr>
              <a:t>IITM Pravartak  ·  AI-Powered Product Design &amp; Management  ·  Batch 2 · Group 16</a:t>
            </a:r>
            <a:endParaRPr lang="en-US" sz="850" dirty="0"/>
          </a:p>
        </p:txBody>
      </p:sp>
      <p:sp>
        <p:nvSpPr>
          <p:cNvPr id="7" name="Text 5"/>
          <p:cNvSpPr/>
          <p:nvPr/>
        </p:nvSpPr>
        <p:spPr>
          <a:xfrm>
            <a:off x="11259007" y="6473952"/>
            <a:ext cx="365760" cy="274320"/>
          </a:xfrm>
          <a:prstGeom prst="rect">
            <a:avLst/>
          </a:prstGeom>
          <a:noFill/>
          <a:ln/>
        </p:spPr>
        <p:txBody>
          <a:bodyPr wrap="square" lIns="0" tIns="0" rIns="0" bIns="0" rtlCol="0" anchor="ctr"/>
          <a:lstStyle/>
          <a:p>
            <a:pPr marL="0" indent="0" algn="r">
              <a:buNone/>
            </a:pPr>
            <a:r>
              <a:rPr lang="en-US" sz="850" b="1" dirty="0">
                <a:solidFill>
                  <a:srgbClr val="8A97AD"/>
                </a:solidFill>
                <a:latin typeface="Trebuchet MS" pitchFamily="34" charset="0"/>
                <a:ea typeface="Trebuchet MS" pitchFamily="34" charset="-122"/>
                <a:cs typeface="Trebuchet MS" pitchFamily="34" charset="-120"/>
              </a:rPr>
              <a:t>01</a:t>
            </a:r>
            <a:endParaRPr lang="en-US" sz="850" dirty="0"/>
          </a:p>
        </p:txBody>
      </p:sp>
      <p:sp>
        <p:nvSpPr>
          <p:cNvPr id="8" name="Shape 6"/>
          <p:cNvSpPr/>
          <p:nvPr/>
        </p:nvSpPr>
        <p:spPr>
          <a:xfrm>
            <a:off x="566928" y="1417320"/>
            <a:ext cx="4160520" cy="3703320"/>
          </a:xfrm>
          <a:prstGeom prst="roundRect">
            <a:avLst>
              <a:gd name="adj" fmla="val 1481"/>
            </a:avLst>
          </a:prstGeom>
          <a:solidFill>
            <a:srgbClr val="1B2A4A"/>
          </a:solidFill>
          <a:ln/>
          <a:effectLst>
            <a:outerShdw blurRad="88900" dist="25400" dir="5400000" algn="bl" rotWithShape="0">
              <a:srgbClr val="8A86A8">
                <a:alpha val="20000"/>
              </a:srgbClr>
            </a:outerShdw>
          </a:effectLst>
        </p:spPr>
        <p:txBody>
          <a:bodyPr/>
          <a:lstStyle/>
          <a:p>
            <a:endParaRPr lang="en-IN"/>
          </a:p>
        </p:txBody>
      </p:sp>
      <p:sp>
        <p:nvSpPr>
          <p:cNvPr id="9" name="Text 7"/>
          <p:cNvSpPr/>
          <p:nvPr/>
        </p:nvSpPr>
        <p:spPr>
          <a:xfrm>
            <a:off x="859536" y="1627632"/>
            <a:ext cx="3566160" cy="274320"/>
          </a:xfrm>
          <a:prstGeom prst="rect">
            <a:avLst/>
          </a:prstGeom>
          <a:noFill/>
          <a:ln/>
        </p:spPr>
        <p:txBody>
          <a:bodyPr wrap="square" lIns="0" tIns="0" rIns="0" bIns="0" rtlCol="0" anchor="ctr"/>
          <a:lstStyle/>
          <a:p>
            <a:pPr marL="0" indent="0">
              <a:buNone/>
            </a:pPr>
            <a:r>
              <a:rPr lang="en-US" sz="1050" b="1" kern="0" spc="200" dirty="0">
                <a:solidFill>
                  <a:srgbClr val="CBD8EC"/>
                </a:solidFill>
                <a:latin typeface="Trebuchet MS" pitchFamily="34" charset="0"/>
                <a:ea typeface="Trebuchet MS" pitchFamily="34" charset="-122"/>
                <a:cs typeface="Trebuchet MS" pitchFamily="34" charset="-120"/>
              </a:rPr>
              <a:t>THE ARGUMENT</a:t>
            </a:r>
            <a:endParaRPr lang="en-US" sz="1050" dirty="0"/>
          </a:p>
        </p:txBody>
      </p:sp>
      <p:sp>
        <p:nvSpPr>
          <p:cNvPr id="10" name="Text 8"/>
          <p:cNvSpPr/>
          <p:nvPr/>
        </p:nvSpPr>
        <p:spPr>
          <a:xfrm>
            <a:off x="859536" y="1993392"/>
            <a:ext cx="3566160" cy="219456"/>
          </a:xfrm>
          <a:prstGeom prst="rect">
            <a:avLst/>
          </a:prstGeom>
          <a:noFill/>
          <a:ln/>
        </p:spPr>
        <p:txBody>
          <a:bodyPr wrap="square" lIns="0" tIns="0" rIns="0" bIns="0" rtlCol="0" anchor="ctr"/>
          <a:lstStyle/>
          <a:p>
            <a:pPr marL="0" indent="0">
              <a:buNone/>
            </a:pPr>
            <a:r>
              <a:rPr lang="en-US" sz="1000" b="1" kern="0" spc="100" dirty="0">
                <a:solidFill>
                  <a:srgbClr val="AEC6E0"/>
                </a:solidFill>
                <a:latin typeface="Trebuchet MS" pitchFamily="34" charset="0"/>
                <a:ea typeface="Trebuchet MS" pitchFamily="34" charset="-122"/>
                <a:cs typeface="Trebuchet MS" pitchFamily="34" charset="-120"/>
              </a:rPr>
              <a:t>SITUATION</a:t>
            </a:r>
            <a:endParaRPr lang="en-US" sz="1000" dirty="0"/>
          </a:p>
        </p:txBody>
      </p:sp>
      <p:sp>
        <p:nvSpPr>
          <p:cNvPr id="11" name="Text 9"/>
          <p:cNvSpPr/>
          <p:nvPr/>
        </p:nvSpPr>
        <p:spPr>
          <a:xfrm>
            <a:off x="859536" y="2203704"/>
            <a:ext cx="3611880" cy="566928"/>
          </a:xfrm>
          <a:prstGeom prst="rect">
            <a:avLst/>
          </a:prstGeom>
          <a:noFill/>
          <a:ln/>
        </p:spPr>
        <p:txBody>
          <a:bodyPr wrap="square" lIns="0" tIns="0" rIns="0" bIns="0" rtlCol="0" anchor="t"/>
          <a:lstStyle/>
          <a:p>
            <a:pPr marL="0" indent="0">
              <a:lnSpc>
                <a:spcPct val="104000"/>
              </a:lnSpc>
              <a:buNone/>
            </a:pPr>
            <a:r>
              <a:rPr lang="en-US" sz="1100" dirty="0">
                <a:solidFill>
                  <a:srgbClr val="FFFFFF"/>
                </a:solidFill>
                <a:latin typeface="Calibri" pitchFamily="34" charset="0"/>
                <a:ea typeface="Calibri" pitchFamily="34" charset="-122"/>
                <a:cs typeface="Calibri" pitchFamily="34" charset="-120"/>
              </a:rPr>
              <a:t>India’s recommerce market is growing on high upgrade frequency, but classifieds carry no trust infrastructure.</a:t>
            </a:r>
            <a:endParaRPr lang="en-US" sz="1100" dirty="0"/>
          </a:p>
        </p:txBody>
      </p:sp>
      <p:sp>
        <p:nvSpPr>
          <p:cNvPr id="12" name="Text 10"/>
          <p:cNvSpPr/>
          <p:nvPr/>
        </p:nvSpPr>
        <p:spPr>
          <a:xfrm>
            <a:off x="859536" y="2779776"/>
            <a:ext cx="3566160" cy="219456"/>
          </a:xfrm>
          <a:prstGeom prst="rect">
            <a:avLst/>
          </a:prstGeom>
          <a:noFill/>
          <a:ln/>
        </p:spPr>
        <p:txBody>
          <a:bodyPr wrap="square" lIns="0" tIns="0" rIns="0" bIns="0" rtlCol="0" anchor="ctr"/>
          <a:lstStyle/>
          <a:p>
            <a:pPr marL="0" indent="0">
              <a:buNone/>
            </a:pPr>
            <a:r>
              <a:rPr lang="en-US" sz="1000" b="1" kern="0" spc="100" dirty="0">
                <a:solidFill>
                  <a:srgbClr val="AEC6E0"/>
                </a:solidFill>
                <a:latin typeface="Trebuchet MS" pitchFamily="34" charset="0"/>
                <a:ea typeface="Trebuchet MS" pitchFamily="34" charset="-122"/>
                <a:cs typeface="Trebuchet MS" pitchFamily="34" charset="-120"/>
              </a:rPr>
              <a:t>COMPLICATION</a:t>
            </a:r>
            <a:endParaRPr lang="en-US" sz="1000" dirty="0"/>
          </a:p>
        </p:txBody>
      </p:sp>
      <p:sp>
        <p:nvSpPr>
          <p:cNvPr id="13" name="Text 11"/>
          <p:cNvSpPr/>
          <p:nvPr/>
        </p:nvSpPr>
        <p:spPr>
          <a:xfrm>
            <a:off x="859536" y="2990088"/>
            <a:ext cx="3611880" cy="566928"/>
          </a:xfrm>
          <a:prstGeom prst="rect">
            <a:avLst/>
          </a:prstGeom>
          <a:noFill/>
          <a:ln/>
        </p:spPr>
        <p:txBody>
          <a:bodyPr wrap="square" lIns="0" tIns="0" rIns="0" bIns="0" rtlCol="0" anchor="t"/>
          <a:lstStyle/>
          <a:p>
            <a:pPr marL="0" indent="0">
              <a:lnSpc>
                <a:spcPct val="104000"/>
              </a:lnSpc>
              <a:buNone/>
            </a:pPr>
            <a:r>
              <a:rPr lang="en-US" sz="1100" dirty="0">
                <a:solidFill>
                  <a:srgbClr val="FFFFFF"/>
                </a:solidFill>
                <a:latin typeface="Calibri" pitchFamily="34" charset="0"/>
                <a:ea typeface="Calibri" pitchFamily="34" charset="-122"/>
                <a:cs typeface="Calibri" pitchFamily="34" charset="-120"/>
              </a:rPr>
              <a:t>Buyers fear fraud; sellers face lowball spam and unsafe visits — both stall before price even matters.</a:t>
            </a:r>
            <a:endParaRPr lang="en-US" sz="1100" dirty="0"/>
          </a:p>
        </p:txBody>
      </p:sp>
      <p:sp>
        <p:nvSpPr>
          <p:cNvPr id="14" name="Text 12"/>
          <p:cNvSpPr/>
          <p:nvPr/>
        </p:nvSpPr>
        <p:spPr>
          <a:xfrm>
            <a:off x="859536" y="3566160"/>
            <a:ext cx="3566160" cy="219456"/>
          </a:xfrm>
          <a:prstGeom prst="rect">
            <a:avLst/>
          </a:prstGeom>
          <a:noFill/>
          <a:ln/>
        </p:spPr>
        <p:txBody>
          <a:bodyPr wrap="square" lIns="0" tIns="0" rIns="0" bIns="0" rtlCol="0" anchor="ctr"/>
          <a:lstStyle/>
          <a:p>
            <a:pPr marL="0" indent="0">
              <a:buNone/>
            </a:pPr>
            <a:r>
              <a:rPr lang="en-US" sz="1000" b="1" kern="0" spc="100" dirty="0">
                <a:solidFill>
                  <a:srgbClr val="AEC6E0"/>
                </a:solidFill>
                <a:latin typeface="Trebuchet MS" pitchFamily="34" charset="0"/>
                <a:ea typeface="Trebuchet MS" pitchFamily="34" charset="-122"/>
                <a:cs typeface="Trebuchet MS" pitchFamily="34" charset="-120"/>
              </a:rPr>
              <a:t>INSIGHT</a:t>
            </a:r>
            <a:endParaRPr lang="en-US" sz="1000" dirty="0"/>
          </a:p>
        </p:txBody>
      </p:sp>
      <p:sp>
        <p:nvSpPr>
          <p:cNvPr id="15" name="Text 13"/>
          <p:cNvSpPr/>
          <p:nvPr/>
        </p:nvSpPr>
        <p:spPr>
          <a:xfrm>
            <a:off x="859536" y="3776472"/>
            <a:ext cx="3611880" cy="566928"/>
          </a:xfrm>
          <a:prstGeom prst="rect">
            <a:avLst/>
          </a:prstGeom>
          <a:noFill/>
          <a:ln/>
        </p:spPr>
        <p:txBody>
          <a:bodyPr wrap="square" lIns="0" tIns="0" rIns="0" bIns="0" rtlCol="0" anchor="t"/>
          <a:lstStyle/>
          <a:p>
            <a:pPr marL="0" indent="0">
              <a:lnSpc>
                <a:spcPct val="104000"/>
              </a:lnSpc>
              <a:buNone/>
            </a:pPr>
            <a:r>
              <a:rPr lang="en-US" sz="1100" dirty="0">
                <a:solidFill>
                  <a:srgbClr val="FFFFFF"/>
                </a:solidFill>
                <a:latin typeface="Calibri" pitchFamily="34" charset="0"/>
                <a:ea typeface="Calibri" pitchFamily="34" charset="-122"/>
                <a:cs typeface="Calibri" pitchFamily="34" charset="-120"/>
              </a:rPr>
              <a:t>Trust is the gating condition for every transaction. Resolve it and price sensitivity collapses.</a:t>
            </a:r>
            <a:endParaRPr lang="en-US" sz="1100" dirty="0"/>
          </a:p>
        </p:txBody>
      </p:sp>
      <p:sp>
        <p:nvSpPr>
          <p:cNvPr id="16" name="Text 14"/>
          <p:cNvSpPr/>
          <p:nvPr/>
        </p:nvSpPr>
        <p:spPr>
          <a:xfrm>
            <a:off x="859536" y="4352544"/>
            <a:ext cx="3566160" cy="219456"/>
          </a:xfrm>
          <a:prstGeom prst="rect">
            <a:avLst/>
          </a:prstGeom>
          <a:noFill/>
          <a:ln/>
        </p:spPr>
        <p:txBody>
          <a:bodyPr wrap="square" lIns="0" tIns="0" rIns="0" bIns="0" rtlCol="0" anchor="ctr"/>
          <a:lstStyle/>
          <a:p>
            <a:pPr marL="0" indent="0">
              <a:buNone/>
            </a:pPr>
            <a:r>
              <a:rPr lang="en-US" sz="1000" b="1" kern="0" spc="100" dirty="0">
                <a:solidFill>
                  <a:srgbClr val="AEC6E0"/>
                </a:solidFill>
                <a:latin typeface="Trebuchet MS" pitchFamily="34" charset="0"/>
                <a:ea typeface="Trebuchet MS" pitchFamily="34" charset="-122"/>
                <a:cs typeface="Trebuchet MS" pitchFamily="34" charset="-120"/>
              </a:rPr>
              <a:t>SO WHAT</a:t>
            </a:r>
            <a:endParaRPr lang="en-US" sz="1000" dirty="0"/>
          </a:p>
        </p:txBody>
      </p:sp>
      <p:sp>
        <p:nvSpPr>
          <p:cNvPr id="17" name="Text 15"/>
          <p:cNvSpPr/>
          <p:nvPr/>
        </p:nvSpPr>
        <p:spPr>
          <a:xfrm>
            <a:off x="859536" y="4562856"/>
            <a:ext cx="3611880" cy="566928"/>
          </a:xfrm>
          <a:prstGeom prst="rect">
            <a:avLst/>
          </a:prstGeom>
          <a:noFill/>
          <a:ln/>
        </p:spPr>
        <p:txBody>
          <a:bodyPr wrap="square" lIns="0" tIns="0" rIns="0" bIns="0" rtlCol="0" anchor="t"/>
          <a:lstStyle/>
          <a:p>
            <a:pPr marL="0" indent="0">
              <a:lnSpc>
                <a:spcPct val="104000"/>
              </a:lnSpc>
              <a:buNone/>
            </a:pPr>
            <a:r>
              <a:rPr lang="en-US" sz="1100" dirty="0">
                <a:solidFill>
                  <a:srgbClr val="FFFFFF"/>
                </a:solidFill>
                <a:latin typeface="Calibri" pitchFamily="34" charset="0"/>
                <a:ea typeface="Calibri" pitchFamily="34" charset="-122"/>
                <a:cs typeface="Calibri" pitchFamily="34" charset="-120"/>
              </a:rPr>
              <a:t>Win on a managed trust layer — verification, certification, fair pricing — not on listing volume or discounts.</a:t>
            </a:r>
            <a:endParaRPr lang="en-US" sz="1100" dirty="0"/>
          </a:p>
        </p:txBody>
      </p:sp>
      <p:sp>
        <p:nvSpPr>
          <p:cNvPr id="18" name="Shape 16"/>
          <p:cNvSpPr/>
          <p:nvPr/>
        </p:nvSpPr>
        <p:spPr>
          <a:xfrm>
            <a:off x="5001768" y="1417320"/>
            <a:ext cx="6622999" cy="713232"/>
          </a:xfrm>
          <a:prstGeom prst="roundRect">
            <a:avLst>
              <a:gd name="adj" fmla="val 6410"/>
            </a:avLst>
          </a:prstGeom>
          <a:solidFill>
            <a:srgbClr val="F4F6FA"/>
          </a:solidFill>
          <a:ln/>
        </p:spPr>
        <p:txBody>
          <a:bodyPr/>
          <a:lstStyle/>
          <a:p>
            <a:endParaRPr lang="en-IN"/>
          </a:p>
        </p:txBody>
      </p:sp>
      <p:sp>
        <p:nvSpPr>
          <p:cNvPr id="19" name="Shape 17"/>
          <p:cNvSpPr/>
          <p:nvPr/>
        </p:nvSpPr>
        <p:spPr>
          <a:xfrm>
            <a:off x="5166360" y="1563624"/>
            <a:ext cx="420624" cy="420624"/>
          </a:xfrm>
          <a:prstGeom prst="ellipse">
            <a:avLst/>
          </a:prstGeom>
          <a:solidFill>
            <a:srgbClr val="E9EEF6"/>
          </a:solidFill>
          <a:ln/>
        </p:spPr>
        <p:txBody>
          <a:bodyPr/>
          <a:lstStyle/>
          <a:p>
            <a:endParaRPr lang="en-IN"/>
          </a:p>
        </p:txBody>
      </p:sp>
      <p:pic>
        <p:nvPicPr>
          <p:cNvPr id="20" name="Image 0" descr="preencoded.png"/>
          <p:cNvPicPr>
            <a:picLocks noChangeAspect="1"/>
          </p:cNvPicPr>
          <p:nvPr/>
        </p:nvPicPr>
        <p:blipFill>
          <a:blip r:embed="rId3"/>
          <a:stretch>
            <a:fillRect/>
          </a:stretch>
        </p:blipFill>
        <p:spPr>
          <a:xfrm>
            <a:off x="5267310" y="1664574"/>
            <a:ext cx="218724" cy="218724"/>
          </a:xfrm>
          <a:prstGeom prst="rect">
            <a:avLst/>
          </a:prstGeom>
        </p:spPr>
      </p:pic>
      <p:sp>
        <p:nvSpPr>
          <p:cNvPr id="21" name="Text 18"/>
          <p:cNvSpPr/>
          <p:nvPr/>
        </p:nvSpPr>
        <p:spPr>
          <a:xfrm>
            <a:off x="5715000" y="1508760"/>
            <a:ext cx="5754319" cy="292608"/>
          </a:xfrm>
          <a:prstGeom prst="rect">
            <a:avLst/>
          </a:prstGeom>
          <a:noFill/>
          <a:ln/>
        </p:spPr>
        <p:txBody>
          <a:bodyPr wrap="square" lIns="0" tIns="0" rIns="0" bIns="0" rtlCol="0" anchor="ctr"/>
          <a:lstStyle/>
          <a:p>
            <a:pPr marL="0" indent="0">
              <a:buNone/>
            </a:pPr>
            <a:r>
              <a:rPr lang="en-US" sz="1350" b="1" dirty="0">
                <a:solidFill>
                  <a:srgbClr val="1B2A4A"/>
                </a:solidFill>
                <a:latin typeface="Trebuchet MS" pitchFamily="34" charset="0"/>
                <a:ea typeface="Trebuchet MS" pitchFamily="34" charset="-122"/>
                <a:cs typeface="Trebuchet MS" pitchFamily="34" charset="-120"/>
              </a:rPr>
              <a:t>Trust gates everything</a:t>
            </a:r>
            <a:endParaRPr lang="en-US" sz="1350" dirty="0"/>
          </a:p>
        </p:txBody>
      </p:sp>
      <p:sp>
        <p:nvSpPr>
          <p:cNvPr id="22" name="Text 19"/>
          <p:cNvSpPr/>
          <p:nvPr/>
        </p:nvSpPr>
        <p:spPr>
          <a:xfrm>
            <a:off x="5715000" y="1783080"/>
            <a:ext cx="5754319" cy="329184"/>
          </a:xfrm>
          <a:prstGeom prst="rect">
            <a:avLst/>
          </a:prstGeom>
          <a:noFill/>
          <a:ln/>
        </p:spPr>
        <p:txBody>
          <a:bodyPr wrap="square" lIns="0" tIns="0" rIns="0" bIns="0" rtlCol="0" anchor="ctr"/>
          <a:lstStyle/>
          <a:p>
            <a:pPr marL="0" indent="0">
              <a:lnSpc>
                <a:spcPct val="100000"/>
              </a:lnSpc>
              <a:buNone/>
            </a:pPr>
            <a:r>
              <a:rPr lang="en-US" sz="1050" dirty="0">
                <a:solidFill>
                  <a:srgbClr val="55617A"/>
                </a:solidFill>
                <a:latin typeface="Calibri" pitchFamily="34" charset="0"/>
                <a:ea typeface="Calibri" pitchFamily="34" charset="-122"/>
                <a:cs typeface="Calibri" pitchFamily="34" charset="-120"/>
              </a:rPr>
              <a:t>No purchase or sale happens until trust is resolved — price is a second-order concern.</a:t>
            </a:r>
            <a:endParaRPr lang="en-US" sz="1050" dirty="0"/>
          </a:p>
        </p:txBody>
      </p:sp>
      <p:sp>
        <p:nvSpPr>
          <p:cNvPr id="23" name="Shape 20"/>
          <p:cNvSpPr/>
          <p:nvPr/>
        </p:nvSpPr>
        <p:spPr>
          <a:xfrm>
            <a:off x="5001768" y="2203704"/>
            <a:ext cx="6622999" cy="713232"/>
          </a:xfrm>
          <a:prstGeom prst="roundRect">
            <a:avLst>
              <a:gd name="adj" fmla="val 6410"/>
            </a:avLst>
          </a:prstGeom>
          <a:solidFill>
            <a:srgbClr val="F4F6FA"/>
          </a:solidFill>
          <a:ln/>
        </p:spPr>
        <p:txBody>
          <a:bodyPr/>
          <a:lstStyle/>
          <a:p>
            <a:endParaRPr lang="en-IN"/>
          </a:p>
        </p:txBody>
      </p:sp>
      <p:sp>
        <p:nvSpPr>
          <p:cNvPr id="24" name="Shape 21"/>
          <p:cNvSpPr/>
          <p:nvPr/>
        </p:nvSpPr>
        <p:spPr>
          <a:xfrm>
            <a:off x="5166360" y="2350008"/>
            <a:ext cx="420624" cy="420624"/>
          </a:xfrm>
          <a:prstGeom prst="ellipse">
            <a:avLst/>
          </a:prstGeom>
          <a:solidFill>
            <a:srgbClr val="E9EEF6"/>
          </a:solidFill>
          <a:ln/>
        </p:spPr>
        <p:txBody>
          <a:bodyPr/>
          <a:lstStyle/>
          <a:p>
            <a:endParaRPr lang="en-IN"/>
          </a:p>
        </p:txBody>
      </p:sp>
      <p:pic>
        <p:nvPicPr>
          <p:cNvPr id="25" name="Image 1" descr="preencoded.png"/>
          <p:cNvPicPr>
            <a:picLocks noChangeAspect="1"/>
          </p:cNvPicPr>
          <p:nvPr/>
        </p:nvPicPr>
        <p:blipFill>
          <a:blip r:embed="rId4"/>
          <a:stretch>
            <a:fillRect/>
          </a:stretch>
        </p:blipFill>
        <p:spPr>
          <a:xfrm>
            <a:off x="5267310" y="2450958"/>
            <a:ext cx="218724" cy="218724"/>
          </a:xfrm>
          <a:prstGeom prst="rect">
            <a:avLst/>
          </a:prstGeom>
        </p:spPr>
      </p:pic>
      <p:sp>
        <p:nvSpPr>
          <p:cNvPr id="26" name="Text 22"/>
          <p:cNvSpPr/>
          <p:nvPr/>
        </p:nvSpPr>
        <p:spPr>
          <a:xfrm>
            <a:off x="5715000" y="2295144"/>
            <a:ext cx="5754319" cy="292608"/>
          </a:xfrm>
          <a:prstGeom prst="rect">
            <a:avLst/>
          </a:prstGeom>
          <a:noFill/>
          <a:ln/>
        </p:spPr>
        <p:txBody>
          <a:bodyPr wrap="square" lIns="0" tIns="0" rIns="0" bIns="0" rtlCol="0" anchor="ctr"/>
          <a:lstStyle/>
          <a:p>
            <a:pPr marL="0" indent="0">
              <a:buNone/>
            </a:pPr>
            <a:r>
              <a:rPr lang="en-US" sz="1350" b="1" dirty="0">
                <a:solidFill>
                  <a:srgbClr val="1B2A4A"/>
                </a:solidFill>
                <a:latin typeface="Trebuchet MS" pitchFamily="34" charset="0"/>
                <a:ea typeface="Trebuchet MS" pitchFamily="34" charset="-122"/>
                <a:cs typeface="Trebuchet MS" pitchFamily="34" charset="-120"/>
              </a:rPr>
              <a:t>Certification is the master key</a:t>
            </a:r>
            <a:endParaRPr lang="en-US" sz="1350" dirty="0"/>
          </a:p>
        </p:txBody>
      </p:sp>
      <p:sp>
        <p:nvSpPr>
          <p:cNvPr id="27" name="Text 23"/>
          <p:cNvSpPr/>
          <p:nvPr/>
        </p:nvSpPr>
        <p:spPr>
          <a:xfrm>
            <a:off x="5715000" y="2569464"/>
            <a:ext cx="5754319" cy="329184"/>
          </a:xfrm>
          <a:prstGeom prst="rect">
            <a:avLst/>
          </a:prstGeom>
          <a:noFill/>
          <a:ln/>
        </p:spPr>
        <p:txBody>
          <a:bodyPr wrap="square" lIns="0" tIns="0" rIns="0" bIns="0" rtlCol="0" anchor="ctr"/>
          <a:lstStyle/>
          <a:p>
            <a:pPr marL="0" indent="0">
              <a:lnSpc>
                <a:spcPct val="100000"/>
              </a:lnSpc>
              <a:buNone/>
            </a:pPr>
            <a:r>
              <a:rPr lang="en-US" sz="1050" dirty="0">
                <a:solidFill>
                  <a:srgbClr val="55617A"/>
                </a:solidFill>
                <a:latin typeface="Calibri" pitchFamily="34" charset="0"/>
                <a:ea typeface="Calibri" pitchFamily="34" charset="-122"/>
                <a:cs typeface="Calibri" pitchFamily="34" charset="-120"/>
              </a:rPr>
              <a:t>Visible, graded, independent inspection is the single highest-leverage intervention.</a:t>
            </a:r>
            <a:endParaRPr lang="en-US" sz="1050" dirty="0"/>
          </a:p>
        </p:txBody>
      </p:sp>
      <p:sp>
        <p:nvSpPr>
          <p:cNvPr id="28" name="Shape 24"/>
          <p:cNvSpPr/>
          <p:nvPr/>
        </p:nvSpPr>
        <p:spPr>
          <a:xfrm>
            <a:off x="5001768" y="2990088"/>
            <a:ext cx="6622999" cy="713232"/>
          </a:xfrm>
          <a:prstGeom prst="roundRect">
            <a:avLst>
              <a:gd name="adj" fmla="val 6410"/>
            </a:avLst>
          </a:prstGeom>
          <a:solidFill>
            <a:srgbClr val="F4F6FA"/>
          </a:solidFill>
          <a:ln/>
        </p:spPr>
        <p:txBody>
          <a:bodyPr/>
          <a:lstStyle/>
          <a:p>
            <a:endParaRPr lang="en-IN"/>
          </a:p>
        </p:txBody>
      </p:sp>
      <p:sp>
        <p:nvSpPr>
          <p:cNvPr id="29" name="Shape 25"/>
          <p:cNvSpPr/>
          <p:nvPr/>
        </p:nvSpPr>
        <p:spPr>
          <a:xfrm>
            <a:off x="5166360" y="3136392"/>
            <a:ext cx="420624" cy="420624"/>
          </a:xfrm>
          <a:prstGeom prst="ellipse">
            <a:avLst/>
          </a:prstGeom>
          <a:solidFill>
            <a:srgbClr val="E9EEF6"/>
          </a:solidFill>
          <a:ln/>
        </p:spPr>
        <p:txBody>
          <a:bodyPr/>
          <a:lstStyle/>
          <a:p>
            <a:endParaRPr lang="en-IN"/>
          </a:p>
        </p:txBody>
      </p:sp>
      <p:pic>
        <p:nvPicPr>
          <p:cNvPr id="30" name="Image 2" descr="preencoded.png"/>
          <p:cNvPicPr>
            <a:picLocks noChangeAspect="1"/>
          </p:cNvPicPr>
          <p:nvPr/>
        </p:nvPicPr>
        <p:blipFill>
          <a:blip r:embed="rId5"/>
          <a:stretch>
            <a:fillRect/>
          </a:stretch>
        </p:blipFill>
        <p:spPr>
          <a:xfrm>
            <a:off x="5267310" y="3237342"/>
            <a:ext cx="218724" cy="218724"/>
          </a:xfrm>
          <a:prstGeom prst="rect">
            <a:avLst/>
          </a:prstGeom>
        </p:spPr>
      </p:pic>
      <p:sp>
        <p:nvSpPr>
          <p:cNvPr id="31" name="Text 26"/>
          <p:cNvSpPr/>
          <p:nvPr/>
        </p:nvSpPr>
        <p:spPr>
          <a:xfrm>
            <a:off x="5715000" y="3081528"/>
            <a:ext cx="5754319" cy="292608"/>
          </a:xfrm>
          <a:prstGeom prst="rect">
            <a:avLst/>
          </a:prstGeom>
          <a:noFill/>
          <a:ln/>
        </p:spPr>
        <p:txBody>
          <a:bodyPr wrap="square" lIns="0" tIns="0" rIns="0" bIns="0" rtlCol="0" anchor="ctr"/>
          <a:lstStyle/>
          <a:p>
            <a:pPr marL="0" indent="0">
              <a:buNone/>
            </a:pPr>
            <a:r>
              <a:rPr lang="en-US" sz="1350" b="1" dirty="0">
                <a:solidFill>
                  <a:srgbClr val="1B2A4A"/>
                </a:solidFill>
                <a:latin typeface="Trebuchet MS" pitchFamily="34" charset="0"/>
                <a:ea typeface="Trebuchet MS" pitchFamily="34" charset="-122"/>
                <a:cs typeface="Trebuchet MS" pitchFamily="34" charset="-120"/>
              </a:rPr>
              <a:t>An upgrade-resell loop</a:t>
            </a:r>
            <a:endParaRPr lang="en-US" sz="1350" dirty="0"/>
          </a:p>
        </p:txBody>
      </p:sp>
      <p:sp>
        <p:nvSpPr>
          <p:cNvPr id="32" name="Text 27"/>
          <p:cNvSpPr/>
          <p:nvPr/>
        </p:nvSpPr>
        <p:spPr>
          <a:xfrm>
            <a:off x="5715000" y="3355848"/>
            <a:ext cx="5754319" cy="329184"/>
          </a:xfrm>
          <a:prstGeom prst="rect">
            <a:avLst/>
          </a:prstGeom>
          <a:noFill/>
          <a:ln/>
        </p:spPr>
        <p:txBody>
          <a:bodyPr wrap="square" lIns="0" tIns="0" rIns="0" bIns="0" rtlCol="0" anchor="ctr"/>
          <a:lstStyle/>
          <a:p>
            <a:pPr marL="0" indent="0">
              <a:lnSpc>
                <a:spcPct val="100000"/>
              </a:lnSpc>
              <a:buNone/>
            </a:pPr>
            <a:r>
              <a:rPr lang="en-US" sz="1050" dirty="0">
                <a:solidFill>
                  <a:srgbClr val="55617A"/>
                </a:solidFill>
                <a:latin typeface="Calibri" pitchFamily="34" charset="0"/>
                <a:ea typeface="Calibri" pitchFamily="34" charset="-122"/>
                <a:cs typeface="Calibri" pitchFamily="34" charset="-120"/>
              </a:rPr>
              <a:t>Selling the old funds the new — recurring infrastructure, not a one-off marketplace.</a:t>
            </a:r>
            <a:endParaRPr lang="en-US" sz="1050" dirty="0"/>
          </a:p>
        </p:txBody>
      </p:sp>
      <p:sp>
        <p:nvSpPr>
          <p:cNvPr id="33" name="Shape 28"/>
          <p:cNvSpPr/>
          <p:nvPr/>
        </p:nvSpPr>
        <p:spPr>
          <a:xfrm>
            <a:off x="5001768" y="3776472"/>
            <a:ext cx="6622999" cy="713232"/>
          </a:xfrm>
          <a:prstGeom prst="roundRect">
            <a:avLst>
              <a:gd name="adj" fmla="val 6410"/>
            </a:avLst>
          </a:prstGeom>
          <a:solidFill>
            <a:srgbClr val="F4F6FA"/>
          </a:solidFill>
          <a:ln/>
        </p:spPr>
        <p:txBody>
          <a:bodyPr/>
          <a:lstStyle/>
          <a:p>
            <a:endParaRPr lang="en-IN"/>
          </a:p>
        </p:txBody>
      </p:sp>
      <p:sp>
        <p:nvSpPr>
          <p:cNvPr id="34" name="Shape 29"/>
          <p:cNvSpPr/>
          <p:nvPr/>
        </p:nvSpPr>
        <p:spPr>
          <a:xfrm>
            <a:off x="5166360" y="3922776"/>
            <a:ext cx="420624" cy="420624"/>
          </a:xfrm>
          <a:prstGeom prst="ellipse">
            <a:avLst/>
          </a:prstGeom>
          <a:solidFill>
            <a:srgbClr val="E9EEF6"/>
          </a:solidFill>
          <a:ln/>
        </p:spPr>
        <p:txBody>
          <a:bodyPr/>
          <a:lstStyle/>
          <a:p>
            <a:endParaRPr lang="en-IN"/>
          </a:p>
        </p:txBody>
      </p:sp>
      <p:pic>
        <p:nvPicPr>
          <p:cNvPr id="35" name="Image 3" descr="preencoded.png"/>
          <p:cNvPicPr>
            <a:picLocks noChangeAspect="1"/>
          </p:cNvPicPr>
          <p:nvPr/>
        </p:nvPicPr>
        <p:blipFill>
          <a:blip r:embed="rId6"/>
          <a:stretch>
            <a:fillRect/>
          </a:stretch>
        </p:blipFill>
        <p:spPr>
          <a:xfrm>
            <a:off x="5267310" y="4023726"/>
            <a:ext cx="218724" cy="218724"/>
          </a:xfrm>
          <a:prstGeom prst="rect">
            <a:avLst/>
          </a:prstGeom>
        </p:spPr>
      </p:pic>
      <p:sp>
        <p:nvSpPr>
          <p:cNvPr id="36" name="Text 30"/>
          <p:cNvSpPr/>
          <p:nvPr/>
        </p:nvSpPr>
        <p:spPr>
          <a:xfrm>
            <a:off x="5715000" y="3867912"/>
            <a:ext cx="5754319" cy="292608"/>
          </a:xfrm>
          <a:prstGeom prst="rect">
            <a:avLst/>
          </a:prstGeom>
          <a:noFill/>
          <a:ln/>
        </p:spPr>
        <p:txBody>
          <a:bodyPr wrap="square" lIns="0" tIns="0" rIns="0" bIns="0" rtlCol="0" anchor="ctr"/>
          <a:lstStyle/>
          <a:p>
            <a:pPr marL="0" indent="0">
              <a:buNone/>
            </a:pPr>
            <a:r>
              <a:rPr lang="en-US" sz="1350" b="1" dirty="0">
                <a:solidFill>
                  <a:srgbClr val="1B2A4A"/>
                </a:solidFill>
                <a:latin typeface="Trebuchet MS" pitchFamily="34" charset="0"/>
                <a:ea typeface="Trebuchet MS" pitchFamily="34" charset="-122"/>
                <a:cs typeface="Trebuchet MS" pitchFamily="34" charset="-120"/>
              </a:rPr>
              <a:t>Sellers are the hidden risk</a:t>
            </a:r>
            <a:endParaRPr lang="en-US" sz="1350" dirty="0"/>
          </a:p>
        </p:txBody>
      </p:sp>
      <p:sp>
        <p:nvSpPr>
          <p:cNvPr id="37" name="Text 31"/>
          <p:cNvSpPr/>
          <p:nvPr/>
        </p:nvSpPr>
        <p:spPr>
          <a:xfrm>
            <a:off x="5715000" y="4142232"/>
            <a:ext cx="5754319" cy="329184"/>
          </a:xfrm>
          <a:prstGeom prst="rect">
            <a:avLst/>
          </a:prstGeom>
          <a:noFill/>
          <a:ln/>
        </p:spPr>
        <p:txBody>
          <a:bodyPr wrap="square" lIns="0" tIns="0" rIns="0" bIns="0" rtlCol="0" anchor="ctr"/>
          <a:lstStyle/>
          <a:p>
            <a:pPr marL="0" indent="0">
              <a:lnSpc>
                <a:spcPct val="100000"/>
              </a:lnSpc>
              <a:buNone/>
            </a:pPr>
            <a:r>
              <a:rPr lang="en-US" sz="1050" dirty="0">
                <a:solidFill>
                  <a:srgbClr val="55617A"/>
                </a:solidFill>
                <a:latin typeface="Calibri" pitchFamily="34" charset="0"/>
                <a:ea typeface="Calibri" pitchFamily="34" charset="-122"/>
                <a:cs typeface="Calibri" pitchFamily="34" charset="-120"/>
              </a:rPr>
              <a:t>Safety + dignity for the supply side is a category-first moat and churn defense.</a:t>
            </a:r>
            <a:endParaRPr lang="en-US" sz="1050" dirty="0"/>
          </a:p>
        </p:txBody>
      </p:sp>
      <p:sp>
        <p:nvSpPr>
          <p:cNvPr id="38" name="Shape 32"/>
          <p:cNvSpPr/>
          <p:nvPr/>
        </p:nvSpPr>
        <p:spPr>
          <a:xfrm>
            <a:off x="566928" y="5303520"/>
            <a:ext cx="11057839" cy="960120"/>
          </a:xfrm>
          <a:prstGeom prst="roundRect">
            <a:avLst>
              <a:gd name="adj" fmla="val 4762"/>
            </a:avLst>
          </a:prstGeom>
          <a:solidFill>
            <a:srgbClr val="E9EEF6"/>
          </a:solidFill>
          <a:ln/>
        </p:spPr>
        <p:txBody>
          <a:bodyPr/>
          <a:lstStyle/>
          <a:p>
            <a:endParaRPr lang="en-IN"/>
          </a:p>
        </p:txBody>
      </p:sp>
      <p:sp>
        <p:nvSpPr>
          <p:cNvPr id="39" name="Text 33"/>
          <p:cNvSpPr/>
          <p:nvPr/>
        </p:nvSpPr>
        <p:spPr>
          <a:xfrm>
            <a:off x="841248" y="5413248"/>
            <a:ext cx="10509199" cy="749808"/>
          </a:xfrm>
          <a:prstGeom prst="rect">
            <a:avLst/>
          </a:prstGeom>
          <a:noFill/>
          <a:ln/>
        </p:spPr>
        <p:txBody>
          <a:bodyPr wrap="square" lIns="0" tIns="0" rIns="0" bIns="0" rtlCol="0" anchor="ctr"/>
          <a:lstStyle/>
          <a:p>
            <a:pPr marL="0" indent="0">
              <a:lnSpc>
                <a:spcPct val="108000"/>
              </a:lnSpc>
              <a:buNone/>
            </a:pPr>
            <a:r>
              <a:rPr lang="en-US" sz="1250" b="1" dirty="0">
                <a:solidFill>
                  <a:srgbClr val="1B2A4A"/>
                </a:solidFill>
                <a:latin typeface="Calibri" pitchFamily="34" charset="0"/>
                <a:ea typeface="Calibri" pitchFamily="34" charset="-122"/>
                <a:cs typeface="Calibri" pitchFamily="34" charset="-120"/>
              </a:rPr>
              <a:t>Recommendation:  </a:t>
            </a:r>
            <a:r>
              <a:rPr lang="en-US" sz="1250" dirty="0">
                <a:solidFill>
                  <a:srgbClr val="1B2A4A"/>
                </a:solidFill>
                <a:latin typeface="Calibri" pitchFamily="34" charset="0"/>
                <a:ea typeface="Calibri" pitchFamily="34" charset="-122"/>
                <a:cs typeface="Calibri" pitchFamily="34" charset="-120"/>
              </a:rPr>
              <a:t>Lead with tiered certification as a premium-pricing layer, build a seller safety &amp; dignity architecture, and reframe CertiBuy as guilt-free upgrade infrastructure. Launch to </a:t>
            </a:r>
            <a:r>
              <a:rPr lang="en-US" sz="1250" b="1" dirty="0">
                <a:solidFill>
                  <a:srgbClr val="0E7C7B"/>
                </a:solidFill>
                <a:latin typeface="Calibri" pitchFamily="34" charset="0"/>
                <a:ea typeface="Calibri" pitchFamily="34" charset="-122"/>
                <a:cs typeface="Calibri" pitchFamily="34" charset="-120"/>
              </a:rPr>
              <a:t>Urban Tech Upgraders (supply)</a:t>
            </a:r>
            <a:r>
              <a:rPr lang="en-US" sz="1250" dirty="0">
                <a:solidFill>
                  <a:srgbClr val="1B2A4A"/>
                </a:solidFill>
                <a:latin typeface="Calibri" pitchFamily="34" charset="0"/>
                <a:ea typeface="Calibri" pitchFamily="34" charset="-122"/>
                <a:cs typeface="Calibri" pitchFamily="34" charset="-120"/>
              </a:rPr>
              <a:t> and </a:t>
            </a:r>
            <a:r>
              <a:rPr lang="en-US" sz="1250" b="1" dirty="0">
                <a:solidFill>
                  <a:srgbClr val="2563EB"/>
                </a:solidFill>
                <a:latin typeface="Calibri" pitchFamily="34" charset="0"/>
                <a:ea typeface="Calibri" pitchFamily="34" charset="-122"/>
                <a:cs typeface="Calibri" pitchFamily="34" charset="-120"/>
              </a:rPr>
              <a:t>Smart Budget Buyers (demand)</a:t>
            </a:r>
            <a:r>
              <a:rPr lang="en-US" sz="1250" dirty="0">
                <a:solidFill>
                  <a:srgbClr val="1B2A4A"/>
                </a:solidFill>
                <a:latin typeface="Calibri" pitchFamily="34" charset="0"/>
                <a:ea typeface="Calibri" pitchFamily="34" charset="-122"/>
                <a:cs typeface="Calibri" pitchFamily="34" charset="-120"/>
              </a:rPr>
              <a:t> in Bengaluru, Pune and Hyderabad.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buNone/>
            </a:pPr>
            <a:r>
              <a:rPr lang="en-US" sz="1150" b="1" kern="0" spc="200" dirty="0">
                <a:solidFill>
                  <a:srgbClr val="0E7C7B"/>
                </a:solidFill>
                <a:latin typeface="Trebuchet MS" pitchFamily="34" charset="0"/>
                <a:ea typeface="Trebuchet MS" pitchFamily="34" charset="-122"/>
                <a:cs typeface="Trebuchet MS" pitchFamily="34" charset="-120"/>
              </a:rPr>
              <a:t>FOCUS AREA &amp; CONTEXT</a:t>
            </a:r>
            <a:endParaRPr lang="en-US" sz="1150" dirty="0"/>
          </a:p>
        </p:txBody>
      </p:sp>
      <p:sp>
        <p:nvSpPr>
          <p:cNvPr id="3" name="Text 1"/>
          <p:cNvSpPr/>
          <p:nvPr/>
        </p:nvSpPr>
        <p:spPr>
          <a:xfrm>
            <a:off x="566928" y="658368"/>
            <a:ext cx="11057839" cy="603504"/>
          </a:xfrm>
          <a:prstGeom prst="rect">
            <a:avLst/>
          </a:prstGeom>
          <a:noFill/>
          <a:ln/>
        </p:spPr>
        <p:txBody>
          <a:bodyPr wrap="square" lIns="0" tIns="0" rIns="0" bIns="0" rtlCol="0" anchor="ctr"/>
          <a:lstStyle/>
          <a:p>
            <a:pPr marL="0" indent="0">
              <a:buNone/>
            </a:pPr>
            <a:r>
              <a:rPr lang="en-US" sz="2700" b="1" dirty="0">
                <a:solidFill>
                  <a:srgbClr val="1B2A4A"/>
                </a:solidFill>
                <a:latin typeface="Georgia" pitchFamily="34" charset="0"/>
                <a:ea typeface="Georgia" pitchFamily="34" charset="-122"/>
                <a:cs typeface="Georgia" pitchFamily="34" charset="-120"/>
              </a:rPr>
              <a:t>A Trust-First Recommerce Opportunity</a:t>
            </a:r>
            <a:endParaRPr lang="en-US" sz="2700" dirty="0"/>
          </a:p>
        </p:txBody>
      </p:sp>
      <p:sp>
        <p:nvSpPr>
          <p:cNvPr id="4" name="Shape 2"/>
          <p:cNvSpPr/>
          <p:nvPr/>
        </p:nvSpPr>
        <p:spPr>
          <a:xfrm>
            <a:off x="566928" y="6437376"/>
            <a:ext cx="11057839" cy="0"/>
          </a:xfrm>
          <a:prstGeom prst="line">
            <a:avLst/>
          </a:prstGeom>
          <a:noFill/>
          <a:ln w="12700">
            <a:solidFill>
              <a:srgbClr val="E3E8F0"/>
            </a:solidFill>
            <a:prstDash val="solid"/>
          </a:ln>
        </p:spPr>
        <p:txBody>
          <a:bodyPr/>
          <a:lstStyle/>
          <a:p>
            <a:endParaRPr lang="en-IN"/>
          </a:p>
        </p:txBody>
      </p:sp>
      <p:sp>
        <p:nvSpPr>
          <p:cNvPr id="5" name="Text 3"/>
          <p:cNvSpPr/>
          <p:nvPr/>
        </p:nvSpPr>
        <p:spPr>
          <a:xfrm>
            <a:off x="566928" y="6473952"/>
            <a:ext cx="6400800" cy="274320"/>
          </a:xfrm>
          <a:prstGeom prst="rect">
            <a:avLst/>
          </a:prstGeom>
          <a:noFill/>
          <a:ln/>
        </p:spPr>
        <p:txBody>
          <a:bodyPr wrap="square" lIns="0" tIns="0" rIns="0" bIns="0" rtlCol="0" anchor="ctr"/>
          <a:lstStyle/>
          <a:p>
            <a:pPr marL="0" indent="0">
              <a:buNone/>
            </a:pPr>
            <a:r>
              <a:rPr lang="en-US" sz="850" kern="0" spc="100" dirty="0">
                <a:solidFill>
                  <a:srgbClr val="8A97AD"/>
                </a:solidFill>
                <a:latin typeface="Trebuchet MS" pitchFamily="34" charset="0"/>
                <a:ea typeface="Trebuchet MS" pitchFamily="34" charset="-122"/>
                <a:cs typeface="Trebuchet MS" pitchFamily="34" charset="-120"/>
              </a:rPr>
              <a:t>CertiBuy  ·  Assignment 1</a:t>
            </a:r>
            <a:endParaRPr lang="en-US" sz="850" dirty="0"/>
          </a:p>
        </p:txBody>
      </p:sp>
      <p:sp>
        <p:nvSpPr>
          <p:cNvPr id="6" name="Text 4"/>
          <p:cNvSpPr/>
          <p:nvPr/>
        </p:nvSpPr>
        <p:spPr>
          <a:xfrm>
            <a:off x="4675327" y="6473952"/>
            <a:ext cx="6583680" cy="274320"/>
          </a:xfrm>
          <a:prstGeom prst="rect">
            <a:avLst/>
          </a:prstGeom>
          <a:noFill/>
          <a:ln/>
        </p:spPr>
        <p:txBody>
          <a:bodyPr wrap="square" lIns="0" tIns="0" rIns="0" bIns="0" rtlCol="0" anchor="ctr"/>
          <a:lstStyle/>
          <a:p>
            <a:pPr marL="0" indent="0" algn="r">
              <a:buNone/>
            </a:pPr>
            <a:r>
              <a:rPr lang="en-US" sz="850" dirty="0">
                <a:solidFill>
                  <a:srgbClr val="8A97AD"/>
                </a:solidFill>
                <a:latin typeface="Trebuchet MS" pitchFamily="34" charset="0"/>
                <a:ea typeface="Trebuchet MS" pitchFamily="34" charset="-122"/>
                <a:cs typeface="Trebuchet MS" pitchFamily="34" charset="-120"/>
              </a:rPr>
              <a:t>IITM Pravartak  ·  AI-Powered Product Design &amp; Management  ·  Batch 2 · Group 16</a:t>
            </a:r>
            <a:endParaRPr lang="en-US" sz="850" dirty="0"/>
          </a:p>
        </p:txBody>
      </p:sp>
      <p:sp>
        <p:nvSpPr>
          <p:cNvPr id="7" name="Text 5"/>
          <p:cNvSpPr/>
          <p:nvPr/>
        </p:nvSpPr>
        <p:spPr>
          <a:xfrm>
            <a:off x="11259007" y="6473952"/>
            <a:ext cx="365760" cy="274320"/>
          </a:xfrm>
          <a:prstGeom prst="rect">
            <a:avLst/>
          </a:prstGeom>
          <a:noFill/>
          <a:ln/>
        </p:spPr>
        <p:txBody>
          <a:bodyPr wrap="square" lIns="0" tIns="0" rIns="0" bIns="0" rtlCol="0" anchor="ctr"/>
          <a:lstStyle/>
          <a:p>
            <a:pPr marL="0" indent="0" algn="r">
              <a:buNone/>
            </a:pPr>
            <a:r>
              <a:rPr lang="en-US" sz="850" b="1" dirty="0">
                <a:solidFill>
                  <a:srgbClr val="8A97AD"/>
                </a:solidFill>
                <a:latin typeface="Trebuchet MS" pitchFamily="34" charset="0"/>
                <a:ea typeface="Trebuchet MS" pitchFamily="34" charset="-122"/>
                <a:cs typeface="Trebuchet MS" pitchFamily="34" charset="-120"/>
              </a:rPr>
              <a:t>02</a:t>
            </a:r>
            <a:endParaRPr lang="en-US" sz="850" dirty="0"/>
          </a:p>
        </p:txBody>
      </p:sp>
      <p:sp>
        <p:nvSpPr>
          <p:cNvPr id="8" name="Text 6"/>
          <p:cNvSpPr/>
          <p:nvPr/>
        </p:nvSpPr>
        <p:spPr>
          <a:xfrm>
            <a:off x="566928" y="1371600"/>
            <a:ext cx="11057839" cy="594360"/>
          </a:xfrm>
          <a:prstGeom prst="rect">
            <a:avLst/>
          </a:prstGeom>
          <a:noFill/>
          <a:ln/>
        </p:spPr>
        <p:txBody>
          <a:bodyPr wrap="square" lIns="0" tIns="0" rIns="0" bIns="0" rtlCol="0" anchor="t"/>
          <a:lstStyle/>
          <a:p>
            <a:pPr marL="0" indent="0">
              <a:lnSpc>
                <a:spcPct val="110000"/>
              </a:lnSpc>
              <a:buNone/>
            </a:pPr>
            <a:r>
              <a:rPr lang="en-US" sz="1350" dirty="0">
                <a:solidFill>
                  <a:srgbClr val="1B2A4A"/>
                </a:solidFill>
                <a:latin typeface="Calibri" pitchFamily="34" charset="0"/>
                <a:ea typeface="Calibri" pitchFamily="34" charset="-122"/>
                <a:cs typeface="Calibri" pitchFamily="34" charset="-120"/>
              </a:rPr>
              <a:t>CertiBuy is a managed recommerce marketplace for pre-owned premium gadgets — verifying, grading and fair-pricing every product so buyers and sellers transact through a trusted layer instead of an open classifieds free-for-all.</a:t>
            </a:r>
            <a:endParaRPr lang="en-US" sz="1350" dirty="0"/>
          </a:p>
        </p:txBody>
      </p:sp>
      <p:sp>
        <p:nvSpPr>
          <p:cNvPr id="9" name="Shape 7"/>
          <p:cNvSpPr/>
          <p:nvPr/>
        </p:nvSpPr>
        <p:spPr>
          <a:xfrm>
            <a:off x="566928" y="2148840"/>
            <a:ext cx="3429000" cy="2240280"/>
          </a:xfrm>
          <a:prstGeom prst="roundRect">
            <a:avLst>
              <a:gd name="adj" fmla="val 2449"/>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10" name="Shape 8"/>
          <p:cNvSpPr/>
          <p:nvPr/>
        </p:nvSpPr>
        <p:spPr>
          <a:xfrm>
            <a:off x="786384" y="2368296"/>
            <a:ext cx="457200" cy="457200"/>
          </a:xfrm>
          <a:prstGeom prst="ellipse">
            <a:avLst/>
          </a:prstGeom>
          <a:solidFill>
            <a:srgbClr val="E9EEF6"/>
          </a:solidFill>
          <a:ln/>
        </p:spPr>
        <p:txBody>
          <a:bodyPr/>
          <a:lstStyle/>
          <a:p>
            <a:endParaRPr lang="en-IN"/>
          </a:p>
        </p:txBody>
      </p:sp>
      <p:pic>
        <p:nvPicPr>
          <p:cNvPr id="11" name="Image 0" descr="preencoded.png"/>
          <p:cNvPicPr>
            <a:picLocks noChangeAspect="1"/>
          </p:cNvPicPr>
          <p:nvPr/>
        </p:nvPicPr>
        <p:blipFill>
          <a:blip r:embed="rId3"/>
          <a:stretch>
            <a:fillRect/>
          </a:stretch>
        </p:blipFill>
        <p:spPr>
          <a:xfrm>
            <a:off x="896112" y="2478024"/>
            <a:ext cx="237744" cy="237744"/>
          </a:xfrm>
          <a:prstGeom prst="rect">
            <a:avLst/>
          </a:prstGeom>
        </p:spPr>
      </p:pic>
      <p:sp>
        <p:nvSpPr>
          <p:cNvPr id="12" name="Text 9"/>
          <p:cNvSpPr/>
          <p:nvPr/>
        </p:nvSpPr>
        <p:spPr>
          <a:xfrm>
            <a:off x="1344168" y="2386584"/>
            <a:ext cx="2514600" cy="420624"/>
          </a:xfrm>
          <a:prstGeom prst="rect">
            <a:avLst/>
          </a:prstGeom>
          <a:noFill/>
          <a:ln/>
        </p:spPr>
        <p:txBody>
          <a:bodyPr wrap="square" lIns="0" tIns="0" rIns="0" bIns="0" rtlCol="0" anchor="ctr"/>
          <a:lstStyle/>
          <a:p>
            <a:pPr marL="0" indent="0">
              <a:buNone/>
            </a:pPr>
            <a:r>
              <a:rPr lang="en-US" sz="1400" b="1" dirty="0">
                <a:solidFill>
                  <a:srgbClr val="2563EB"/>
                </a:solidFill>
                <a:latin typeface="Trebuchet MS" pitchFamily="34" charset="0"/>
                <a:ea typeface="Trebuchet MS" pitchFamily="34" charset="-122"/>
                <a:cs typeface="Trebuchet MS" pitchFamily="34" charset="-120"/>
              </a:rPr>
              <a:t>Buyer problems</a:t>
            </a:r>
            <a:endParaRPr lang="en-US" sz="1400" dirty="0"/>
          </a:p>
        </p:txBody>
      </p:sp>
      <p:sp>
        <p:nvSpPr>
          <p:cNvPr id="13" name="Text 10"/>
          <p:cNvSpPr/>
          <p:nvPr/>
        </p:nvSpPr>
        <p:spPr>
          <a:xfrm>
            <a:off x="822960" y="2935224"/>
            <a:ext cx="2971800" cy="132588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rgbClr val="55617A"/>
                </a:solidFill>
                <a:latin typeface="Calibri" pitchFamily="34" charset="0"/>
                <a:ea typeface="Calibri" pitchFamily="34" charset="-122"/>
                <a:cs typeface="Calibri" pitchFamily="34" charset="-120"/>
              </a:rPr>
              <a:t>Fear of scams &amp; fake products</a:t>
            </a:r>
            <a:endParaRPr lang="en-US" sz="1100" dirty="0"/>
          </a:p>
          <a:p>
            <a:pPr marL="165100" indent="-165100">
              <a:spcAft>
                <a:spcPts val="500"/>
              </a:spcAft>
              <a:buSzPct val="100000"/>
              <a:buChar char="•"/>
            </a:pPr>
            <a:r>
              <a:rPr lang="en-US" sz="1100" dirty="0">
                <a:solidFill>
                  <a:srgbClr val="55617A"/>
                </a:solidFill>
                <a:latin typeface="Calibri" pitchFamily="34" charset="0"/>
                <a:ea typeface="Calibri" pitchFamily="34" charset="-122"/>
                <a:cs typeface="Calibri" pitchFamily="34" charset="-120"/>
              </a:rPr>
              <a:t>Hidden defects, no quality validation</a:t>
            </a:r>
            <a:endParaRPr lang="en-US" sz="1100" dirty="0"/>
          </a:p>
          <a:p>
            <a:pPr marL="165100" indent="-165100">
              <a:spcAft>
                <a:spcPts val="500"/>
              </a:spcAft>
              <a:buSzPct val="100000"/>
              <a:buChar char="•"/>
            </a:pPr>
            <a:r>
              <a:rPr lang="en-US" sz="1100" dirty="0">
                <a:solidFill>
                  <a:srgbClr val="55617A"/>
                </a:solidFill>
                <a:latin typeface="Calibri" pitchFamily="34" charset="0"/>
                <a:ea typeface="Calibri" pitchFamily="34" charset="-122"/>
                <a:cs typeface="Calibri" pitchFamily="34" charset="-120"/>
              </a:rPr>
              <a:t>Unclear pricing &amp; warranty</a:t>
            </a:r>
            <a:endParaRPr lang="en-US" sz="1100" dirty="0"/>
          </a:p>
          <a:p>
            <a:pPr marL="165100" indent="-165100">
              <a:spcAft>
                <a:spcPts val="500"/>
              </a:spcAft>
              <a:buSzPct val="100000"/>
              <a:buChar char="•"/>
            </a:pPr>
            <a:r>
              <a:rPr lang="en-US" sz="1100" dirty="0">
                <a:solidFill>
                  <a:srgbClr val="55617A"/>
                </a:solidFill>
                <a:latin typeface="Calibri" pitchFamily="34" charset="0"/>
                <a:ea typeface="Calibri" pitchFamily="34" charset="-122"/>
                <a:cs typeface="Calibri" pitchFamily="34" charset="-120"/>
              </a:rPr>
              <a:t>Online ≠ what arrives</a:t>
            </a:r>
            <a:endParaRPr lang="en-US" sz="1100" dirty="0"/>
          </a:p>
        </p:txBody>
      </p:sp>
      <p:sp>
        <p:nvSpPr>
          <p:cNvPr id="14" name="Shape 11"/>
          <p:cNvSpPr/>
          <p:nvPr/>
        </p:nvSpPr>
        <p:spPr>
          <a:xfrm>
            <a:off x="4224528" y="2148840"/>
            <a:ext cx="3429000" cy="2240280"/>
          </a:xfrm>
          <a:prstGeom prst="roundRect">
            <a:avLst>
              <a:gd name="adj" fmla="val 2449"/>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15" name="Shape 12"/>
          <p:cNvSpPr/>
          <p:nvPr/>
        </p:nvSpPr>
        <p:spPr>
          <a:xfrm>
            <a:off x="4443984" y="2368296"/>
            <a:ext cx="457200" cy="457200"/>
          </a:xfrm>
          <a:prstGeom prst="ellipse">
            <a:avLst/>
          </a:prstGeom>
          <a:solidFill>
            <a:srgbClr val="E9EEF6"/>
          </a:solidFill>
          <a:ln/>
        </p:spPr>
        <p:txBody>
          <a:bodyPr/>
          <a:lstStyle/>
          <a:p>
            <a:endParaRPr lang="en-IN"/>
          </a:p>
        </p:txBody>
      </p:sp>
      <p:pic>
        <p:nvPicPr>
          <p:cNvPr id="16" name="Image 1" descr="preencoded.png"/>
          <p:cNvPicPr>
            <a:picLocks noChangeAspect="1"/>
          </p:cNvPicPr>
          <p:nvPr/>
        </p:nvPicPr>
        <p:blipFill>
          <a:blip r:embed="rId4"/>
          <a:stretch>
            <a:fillRect/>
          </a:stretch>
        </p:blipFill>
        <p:spPr>
          <a:xfrm>
            <a:off x="4553712" y="2478024"/>
            <a:ext cx="237744" cy="237744"/>
          </a:xfrm>
          <a:prstGeom prst="rect">
            <a:avLst/>
          </a:prstGeom>
        </p:spPr>
      </p:pic>
      <p:sp>
        <p:nvSpPr>
          <p:cNvPr id="17" name="Text 13"/>
          <p:cNvSpPr/>
          <p:nvPr/>
        </p:nvSpPr>
        <p:spPr>
          <a:xfrm>
            <a:off x="5001768" y="2386584"/>
            <a:ext cx="2514600" cy="420624"/>
          </a:xfrm>
          <a:prstGeom prst="rect">
            <a:avLst/>
          </a:prstGeom>
          <a:noFill/>
          <a:ln/>
        </p:spPr>
        <p:txBody>
          <a:bodyPr wrap="square" lIns="0" tIns="0" rIns="0" bIns="0" rtlCol="0" anchor="ctr"/>
          <a:lstStyle/>
          <a:p>
            <a:pPr marL="0" indent="0">
              <a:buNone/>
            </a:pPr>
            <a:r>
              <a:rPr lang="en-US" sz="1400" b="1" dirty="0">
                <a:solidFill>
                  <a:srgbClr val="C0392B"/>
                </a:solidFill>
                <a:latin typeface="Trebuchet MS" pitchFamily="34" charset="0"/>
                <a:ea typeface="Trebuchet MS" pitchFamily="34" charset="-122"/>
                <a:cs typeface="Trebuchet MS" pitchFamily="34" charset="-120"/>
              </a:rPr>
              <a:t>Seller problems</a:t>
            </a:r>
            <a:endParaRPr lang="en-US" sz="1400" dirty="0"/>
          </a:p>
        </p:txBody>
      </p:sp>
      <p:sp>
        <p:nvSpPr>
          <p:cNvPr id="18" name="Text 14"/>
          <p:cNvSpPr/>
          <p:nvPr/>
        </p:nvSpPr>
        <p:spPr>
          <a:xfrm>
            <a:off x="4480560" y="2935224"/>
            <a:ext cx="2971800" cy="132588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rgbClr val="55617A"/>
                </a:solidFill>
                <a:latin typeface="Calibri" pitchFamily="34" charset="0"/>
                <a:ea typeface="Calibri" pitchFamily="34" charset="-122"/>
                <a:cs typeface="Calibri" pitchFamily="34" charset="-120"/>
              </a:rPr>
              <a:t>Lowball offers &amp; spam buyers</a:t>
            </a:r>
            <a:endParaRPr lang="en-US" sz="1100" dirty="0"/>
          </a:p>
          <a:p>
            <a:pPr marL="165100" indent="-165100">
              <a:spcAft>
                <a:spcPts val="500"/>
              </a:spcAft>
              <a:buSzPct val="100000"/>
              <a:buChar char="•"/>
            </a:pPr>
            <a:r>
              <a:rPr lang="en-US" sz="1100" dirty="0">
                <a:solidFill>
                  <a:srgbClr val="55617A"/>
                </a:solidFill>
                <a:latin typeface="Calibri" pitchFamily="34" charset="0"/>
                <a:ea typeface="Calibri" pitchFamily="34" charset="-122"/>
                <a:cs typeface="Calibri" pitchFamily="34" charset="-120"/>
              </a:rPr>
              <a:t>Endless negotiation, wasted time</a:t>
            </a:r>
            <a:endParaRPr lang="en-US" sz="1100" dirty="0"/>
          </a:p>
          <a:p>
            <a:pPr marL="165100" indent="-165100">
              <a:spcAft>
                <a:spcPts val="500"/>
              </a:spcAft>
              <a:buSzPct val="100000"/>
              <a:buChar char="•"/>
            </a:pPr>
            <a:r>
              <a:rPr lang="en-US" sz="1100" dirty="0">
                <a:solidFill>
                  <a:srgbClr val="55617A"/>
                </a:solidFill>
                <a:latin typeface="Calibri" pitchFamily="34" charset="0"/>
                <a:ea typeface="Calibri" pitchFamily="34" charset="-122"/>
                <a:cs typeface="Calibri" pitchFamily="34" charset="-120"/>
              </a:rPr>
              <a:t>Pricing uncertainty</a:t>
            </a:r>
            <a:endParaRPr lang="en-US" sz="1100" dirty="0"/>
          </a:p>
          <a:p>
            <a:pPr marL="165100" indent="-165100">
              <a:spcAft>
                <a:spcPts val="500"/>
              </a:spcAft>
              <a:buSzPct val="100000"/>
              <a:buChar char="•"/>
            </a:pPr>
            <a:r>
              <a:rPr lang="en-US" sz="1100" dirty="0">
                <a:solidFill>
                  <a:srgbClr val="55617A"/>
                </a:solidFill>
                <a:latin typeface="Calibri" pitchFamily="34" charset="0"/>
                <a:ea typeface="Calibri" pitchFamily="34" charset="-122"/>
                <a:cs typeface="Calibri" pitchFamily="34" charset="-120"/>
              </a:rPr>
              <a:t>Unsafe home visits</a:t>
            </a:r>
            <a:endParaRPr lang="en-US" sz="1100" dirty="0"/>
          </a:p>
        </p:txBody>
      </p:sp>
      <p:sp>
        <p:nvSpPr>
          <p:cNvPr id="19" name="Shape 15"/>
          <p:cNvSpPr/>
          <p:nvPr/>
        </p:nvSpPr>
        <p:spPr>
          <a:xfrm>
            <a:off x="7882128" y="2148840"/>
            <a:ext cx="3742639" cy="2240280"/>
          </a:xfrm>
          <a:prstGeom prst="roundRect">
            <a:avLst>
              <a:gd name="adj" fmla="val 2449"/>
            </a:avLst>
          </a:prstGeom>
          <a:solidFill>
            <a:srgbClr val="1B2A4A"/>
          </a:solidFill>
          <a:ln/>
          <a:effectLst>
            <a:outerShdw blurRad="88900" dist="25400" dir="5400000" algn="bl" rotWithShape="0">
              <a:srgbClr val="8A86A8">
                <a:alpha val="20000"/>
              </a:srgbClr>
            </a:outerShdw>
          </a:effectLst>
        </p:spPr>
        <p:txBody>
          <a:bodyPr/>
          <a:lstStyle/>
          <a:p>
            <a:endParaRPr lang="en-IN"/>
          </a:p>
        </p:txBody>
      </p:sp>
      <p:sp>
        <p:nvSpPr>
          <p:cNvPr id="20" name="Text 16"/>
          <p:cNvSpPr/>
          <p:nvPr/>
        </p:nvSpPr>
        <p:spPr>
          <a:xfrm>
            <a:off x="8119872" y="2350008"/>
            <a:ext cx="3285439" cy="274320"/>
          </a:xfrm>
          <a:prstGeom prst="rect">
            <a:avLst/>
          </a:prstGeom>
          <a:noFill/>
          <a:ln/>
        </p:spPr>
        <p:txBody>
          <a:bodyPr wrap="square" lIns="0" tIns="0" rIns="0" bIns="0" rtlCol="0" anchor="ctr"/>
          <a:lstStyle/>
          <a:p>
            <a:pPr marL="0" indent="0">
              <a:buNone/>
            </a:pPr>
            <a:r>
              <a:rPr lang="en-US" sz="1050" b="1" kern="0" spc="100" dirty="0">
                <a:solidFill>
                  <a:srgbClr val="CBD8EC"/>
                </a:solidFill>
                <a:latin typeface="Trebuchet MS" pitchFamily="34" charset="0"/>
                <a:ea typeface="Trebuchet MS" pitchFamily="34" charset="-122"/>
                <a:cs typeface="Trebuchet MS" pitchFamily="34" charset="-120"/>
              </a:rPr>
              <a:t>THE CERTIBUY ANSWER</a:t>
            </a:r>
            <a:endParaRPr lang="en-US" sz="1050" dirty="0"/>
          </a:p>
        </p:txBody>
      </p:sp>
      <p:sp>
        <p:nvSpPr>
          <p:cNvPr id="21" name="Text 17"/>
          <p:cNvSpPr/>
          <p:nvPr/>
        </p:nvSpPr>
        <p:spPr>
          <a:xfrm>
            <a:off x="8138160" y="2697480"/>
            <a:ext cx="3285439" cy="1645920"/>
          </a:xfrm>
          <a:prstGeom prst="rect">
            <a:avLst/>
          </a:prstGeom>
          <a:noFill/>
          <a:ln/>
        </p:spPr>
        <p:txBody>
          <a:bodyPr wrap="square" lIns="0" tIns="0" rIns="0" bIns="0" rtlCol="0" anchor="t"/>
          <a:lstStyle/>
          <a:p>
            <a:pPr marL="165100" indent="-1651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Independent verification &amp; grading</a:t>
            </a:r>
            <a:endParaRPr lang="en-US" sz="1100" dirty="0"/>
          </a:p>
          <a:p>
            <a:pPr marL="165100" indent="-1651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Fair AI-assisted price guidance</a:t>
            </a:r>
            <a:endParaRPr lang="en-US" sz="1100" dirty="0"/>
          </a:p>
          <a:p>
            <a:pPr marL="165100" indent="-1651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Structured, escrow-backed transactions</a:t>
            </a:r>
            <a:endParaRPr lang="en-US" sz="1100" dirty="0"/>
          </a:p>
          <a:p>
            <a:pPr marL="165100" indent="-1651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Contact-free, platform-mediated handoff</a:t>
            </a:r>
            <a:endParaRPr lang="en-US" sz="1100" dirty="0"/>
          </a:p>
          <a:p>
            <a:pPr marL="165100" indent="-1651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Tiered certification badge</a:t>
            </a:r>
            <a:endParaRPr lang="en-US" sz="1100" dirty="0"/>
          </a:p>
        </p:txBody>
      </p:sp>
      <p:sp>
        <p:nvSpPr>
          <p:cNvPr id="22" name="Text 18"/>
          <p:cNvSpPr/>
          <p:nvPr/>
        </p:nvSpPr>
        <p:spPr>
          <a:xfrm>
            <a:off x="566928" y="4617720"/>
            <a:ext cx="9144000" cy="274320"/>
          </a:xfrm>
          <a:prstGeom prst="rect">
            <a:avLst/>
          </a:prstGeom>
          <a:noFill/>
          <a:ln/>
        </p:spPr>
        <p:txBody>
          <a:bodyPr wrap="square" lIns="0" tIns="0" rIns="0" bIns="0" rtlCol="0" anchor="ctr"/>
          <a:lstStyle/>
          <a:p>
            <a:pPr marL="0" indent="0">
              <a:buNone/>
            </a:pPr>
            <a:r>
              <a:rPr lang="en-US" sz="1100" b="1" kern="0" spc="150" dirty="0">
                <a:solidFill>
                  <a:srgbClr val="0E7C7B"/>
                </a:solidFill>
                <a:latin typeface="Trebuchet MS" pitchFamily="34" charset="0"/>
                <a:ea typeface="Trebuchet MS" pitchFamily="34" charset="-122"/>
                <a:cs typeface="Trebuchet MS" pitchFamily="34" charset="-120"/>
              </a:rPr>
              <a:t>WHY THIS SPACE, WHY NOW</a:t>
            </a:r>
            <a:endParaRPr lang="en-US" sz="1100" dirty="0"/>
          </a:p>
        </p:txBody>
      </p:sp>
      <p:sp>
        <p:nvSpPr>
          <p:cNvPr id="23" name="Shape 19"/>
          <p:cNvSpPr/>
          <p:nvPr/>
        </p:nvSpPr>
        <p:spPr>
          <a:xfrm>
            <a:off x="566928" y="4965192"/>
            <a:ext cx="2606040" cy="1207008"/>
          </a:xfrm>
          <a:prstGeom prst="roundRect">
            <a:avLst>
              <a:gd name="adj" fmla="val 3788"/>
            </a:avLst>
          </a:prstGeom>
          <a:solidFill>
            <a:srgbClr val="F4F6FA"/>
          </a:solidFill>
          <a:ln/>
        </p:spPr>
        <p:txBody>
          <a:bodyPr/>
          <a:lstStyle/>
          <a:p>
            <a:endParaRPr lang="en-IN"/>
          </a:p>
        </p:txBody>
      </p:sp>
      <p:sp>
        <p:nvSpPr>
          <p:cNvPr id="24" name="Shape 20"/>
          <p:cNvSpPr/>
          <p:nvPr/>
        </p:nvSpPr>
        <p:spPr>
          <a:xfrm>
            <a:off x="749808" y="5129784"/>
            <a:ext cx="402336" cy="402336"/>
          </a:xfrm>
          <a:prstGeom prst="ellipse">
            <a:avLst/>
          </a:prstGeom>
          <a:solidFill>
            <a:srgbClr val="E9EEF6"/>
          </a:solidFill>
          <a:ln/>
        </p:spPr>
        <p:txBody>
          <a:bodyPr/>
          <a:lstStyle/>
          <a:p>
            <a:endParaRPr lang="en-IN"/>
          </a:p>
        </p:txBody>
      </p:sp>
      <p:pic>
        <p:nvPicPr>
          <p:cNvPr id="25" name="Image 2" descr="preencoded.png"/>
          <p:cNvPicPr>
            <a:picLocks noChangeAspect="1"/>
          </p:cNvPicPr>
          <p:nvPr/>
        </p:nvPicPr>
        <p:blipFill>
          <a:blip r:embed="rId5"/>
          <a:stretch>
            <a:fillRect/>
          </a:stretch>
        </p:blipFill>
        <p:spPr>
          <a:xfrm>
            <a:off x="846369" y="5226345"/>
            <a:ext cx="209215" cy="209215"/>
          </a:xfrm>
          <a:prstGeom prst="rect">
            <a:avLst/>
          </a:prstGeom>
        </p:spPr>
      </p:pic>
      <p:sp>
        <p:nvSpPr>
          <p:cNvPr id="26" name="Text 21"/>
          <p:cNvSpPr/>
          <p:nvPr/>
        </p:nvSpPr>
        <p:spPr>
          <a:xfrm>
            <a:off x="1243584" y="5129784"/>
            <a:ext cx="1783080" cy="420624"/>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Recurring supply</a:t>
            </a:r>
            <a:endParaRPr lang="en-US" sz="1200" dirty="0"/>
          </a:p>
        </p:txBody>
      </p:sp>
      <p:sp>
        <p:nvSpPr>
          <p:cNvPr id="27" name="Text 22"/>
          <p:cNvSpPr/>
          <p:nvPr/>
        </p:nvSpPr>
        <p:spPr>
          <a:xfrm>
            <a:off x="768096" y="5568696"/>
            <a:ext cx="2221992" cy="548640"/>
          </a:xfrm>
          <a:prstGeom prst="rect">
            <a:avLst/>
          </a:prstGeom>
          <a:noFill/>
          <a:ln/>
        </p:spPr>
        <p:txBody>
          <a:bodyPr wrap="square" lIns="0" tIns="0" rIns="0" bIns="0" rtlCol="0" anchor="t"/>
          <a:lstStyle/>
          <a:p>
            <a:pPr marL="0" indent="0">
              <a:lnSpc>
                <a:spcPct val="103000"/>
              </a:lnSpc>
              <a:buNone/>
            </a:pPr>
            <a:r>
              <a:rPr lang="en-US" sz="1000" dirty="0">
                <a:solidFill>
                  <a:srgbClr val="55617A"/>
                </a:solidFill>
                <a:latin typeface="Calibri" pitchFamily="34" charset="0"/>
                <a:ea typeface="Calibri" pitchFamily="34" charset="-122"/>
                <a:cs typeface="Calibri" pitchFamily="34" charset="-120"/>
              </a:rPr>
              <a:t>Quarterly upgrade cycles continuously refresh premium inventory</a:t>
            </a:r>
            <a:endParaRPr lang="en-US" sz="1000" dirty="0"/>
          </a:p>
        </p:txBody>
      </p:sp>
      <p:sp>
        <p:nvSpPr>
          <p:cNvPr id="28" name="Shape 23"/>
          <p:cNvSpPr/>
          <p:nvPr/>
        </p:nvSpPr>
        <p:spPr>
          <a:xfrm>
            <a:off x="3364992" y="4965192"/>
            <a:ext cx="2606040" cy="1207008"/>
          </a:xfrm>
          <a:prstGeom prst="roundRect">
            <a:avLst>
              <a:gd name="adj" fmla="val 3788"/>
            </a:avLst>
          </a:prstGeom>
          <a:solidFill>
            <a:srgbClr val="F4F6FA"/>
          </a:solidFill>
          <a:ln/>
        </p:spPr>
        <p:txBody>
          <a:bodyPr/>
          <a:lstStyle/>
          <a:p>
            <a:endParaRPr lang="en-IN"/>
          </a:p>
        </p:txBody>
      </p:sp>
      <p:sp>
        <p:nvSpPr>
          <p:cNvPr id="29" name="Shape 24"/>
          <p:cNvSpPr/>
          <p:nvPr/>
        </p:nvSpPr>
        <p:spPr>
          <a:xfrm>
            <a:off x="3547872" y="5129784"/>
            <a:ext cx="402336" cy="402336"/>
          </a:xfrm>
          <a:prstGeom prst="ellipse">
            <a:avLst/>
          </a:prstGeom>
          <a:solidFill>
            <a:srgbClr val="E9EEF6"/>
          </a:solidFill>
          <a:ln/>
        </p:spPr>
        <p:txBody>
          <a:bodyPr/>
          <a:lstStyle/>
          <a:p>
            <a:endParaRPr lang="en-IN"/>
          </a:p>
        </p:txBody>
      </p:sp>
      <p:pic>
        <p:nvPicPr>
          <p:cNvPr id="30" name="Image 3" descr="preencoded.png"/>
          <p:cNvPicPr>
            <a:picLocks noChangeAspect="1"/>
          </p:cNvPicPr>
          <p:nvPr/>
        </p:nvPicPr>
        <p:blipFill>
          <a:blip r:embed="rId6"/>
          <a:stretch>
            <a:fillRect/>
          </a:stretch>
        </p:blipFill>
        <p:spPr>
          <a:xfrm>
            <a:off x="3644433" y="5226345"/>
            <a:ext cx="209215" cy="209215"/>
          </a:xfrm>
          <a:prstGeom prst="rect">
            <a:avLst/>
          </a:prstGeom>
        </p:spPr>
      </p:pic>
      <p:sp>
        <p:nvSpPr>
          <p:cNvPr id="31" name="Text 25"/>
          <p:cNvSpPr/>
          <p:nvPr/>
        </p:nvSpPr>
        <p:spPr>
          <a:xfrm>
            <a:off x="4041648" y="5129784"/>
            <a:ext cx="1783080" cy="420624"/>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Trust gap to win</a:t>
            </a:r>
            <a:endParaRPr lang="en-US" sz="1200" dirty="0"/>
          </a:p>
        </p:txBody>
      </p:sp>
      <p:sp>
        <p:nvSpPr>
          <p:cNvPr id="32" name="Text 26"/>
          <p:cNvSpPr/>
          <p:nvPr/>
        </p:nvSpPr>
        <p:spPr>
          <a:xfrm>
            <a:off x="3566160" y="5568696"/>
            <a:ext cx="2221992" cy="548640"/>
          </a:xfrm>
          <a:prstGeom prst="rect">
            <a:avLst/>
          </a:prstGeom>
          <a:noFill/>
          <a:ln/>
        </p:spPr>
        <p:txBody>
          <a:bodyPr wrap="square" lIns="0" tIns="0" rIns="0" bIns="0" rtlCol="0" anchor="t"/>
          <a:lstStyle/>
          <a:p>
            <a:pPr marL="0" indent="0">
              <a:lnSpc>
                <a:spcPct val="103000"/>
              </a:lnSpc>
              <a:buNone/>
            </a:pPr>
            <a:r>
              <a:rPr lang="en-US" sz="1000" dirty="0">
                <a:solidFill>
                  <a:srgbClr val="55617A"/>
                </a:solidFill>
                <a:latin typeface="Calibri" pitchFamily="34" charset="0"/>
                <a:ea typeface="Calibri" pitchFamily="34" charset="-122"/>
                <a:cs typeface="Calibri" pitchFamily="34" charset="-120"/>
              </a:rPr>
              <a:t>Incumbent classifieds lack verification, grading and fair pricing</a:t>
            </a:r>
            <a:endParaRPr lang="en-US" sz="1000" dirty="0"/>
          </a:p>
        </p:txBody>
      </p:sp>
      <p:sp>
        <p:nvSpPr>
          <p:cNvPr id="33" name="Shape 27"/>
          <p:cNvSpPr/>
          <p:nvPr/>
        </p:nvSpPr>
        <p:spPr>
          <a:xfrm>
            <a:off x="6163056" y="4965192"/>
            <a:ext cx="2606040" cy="1207008"/>
          </a:xfrm>
          <a:prstGeom prst="roundRect">
            <a:avLst>
              <a:gd name="adj" fmla="val 3788"/>
            </a:avLst>
          </a:prstGeom>
          <a:solidFill>
            <a:srgbClr val="F4F6FA"/>
          </a:solidFill>
          <a:ln/>
        </p:spPr>
        <p:txBody>
          <a:bodyPr/>
          <a:lstStyle/>
          <a:p>
            <a:endParaRPr lang="en-IN"/>
          </a:p>
        </p:txBody>
      </p:sp>
      <p:sp>
        <p:nvSpPr>
          <p:cNvPr id="34" name="Shape 28"/>
          <p:cNvSpPr/>
          <p:nvPr/>
        </p:nvSpPr>
        <p:spPr>
          <a:xfrm>
            <a:off x="6345936" y="5129784"/>
            <a:ext cx="402336" cy="402336"/>
          </a:xfrm>
          <a:prstGeom prst="ellipse">
            <a:avLst/>
          </a:prstGeom>
          <a:solidFill>
            <a:srgbClr val="E9EEF6"/>
          </a:solidFill>
          <a:ln/>
        </p:spPr>
        <p:txBody>
          <a:bodyPr/>
          <a:lstStyle/>
          <a:p>
            <a:endParaRPr lang="en-IN"/>
          </a:p>
        </p:txBody>
      </p:sp>
      <p:pic>
        <p:nvPicPr>
          <p:cNvPr id="35" name="Image 4" descr="preencoded.png"/>
          <p:cNvPicPr>
            <a:picLocks noChangeAspect="1"/>
          </p:cNvPicPr>
          <p:nvPr/>
        </p:nvPicPr>
        <p:blipFill>
          <a:blip r:embed="rId7"/>
          <a:stretch>
            <a:fillRect/>
          </a:stretch>
        </p:blipFill>
        <p:spPr>
          <a:xfrm>
            <a:off x="6442497" y="5226345"/>
            <a:ext cx="209215" cy="209215"/>
          </a:xfrm>
          <a:prstGeom prst="rect">
            <a:avLst/>
          </a:prstGeom>
        </p:spPr>
      </p:pic>
      <p:sp>
        <p:nvSpPr>
          <p:cNvPr id="36" name="Text 29"/>
          <p:cNvSpPr/>
          <p:nvPr/>
        </p:nvSpPr>
        <p:spPr>
          <a:xfrm>
            <a:off x="6839712" y="5129784"/>
            <a:ext cx="1783080" cy="420624"/>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Premium-for-trust</a:t>
            </a:r>
            <a:endParaRPr lang="en-US" sz="1200" dirty="0"/>
          </a:p>
        </p:txBody>
      </p:sp>
      <p:sp>
        <p:nvSpPr>
          <p:cNvPr id="37" name="Text 30"/>
          <p:cNvSpPr/>
          <p:nvPr/>
        </p:nvSpPr>
        <p:spPr>
          <a:xfrm>
            <a:off x="6364224" y="5568696"/>
            <a:ext cx="2221992" cy="548640"/>
          </a:xfrm>
          <a:prstGeom prst="rect">
            <a:avLst/>
          </a:prstGeom>
          <a:noFill/>
          <a:ln/>
        </p:spPr>
        <p:txBody>
          <a:bodyPr wrap="square" lIns="0" tIns="0" rIns="0" bIns="0" rtlCol="0" anchor="t"/>
          <a:lstStyle/>
          <a:p>
            <a:pPr marL="0" indent="0">
              <a:lnSpc>
                <a:spcPct val="103000"/>
              </a:lnSpc>
              <a:buNone/>
            </a:pPr>
            <a:r>
              <a:rPr lang="en-US" sz="1000" dirty="0">
                <a:solidFill>
                  <a:srgbClr val="55617A"/>
                </a:solidFill>
                <a:latin typeface="Calibri" pitchFamily="34" charset="0"/>
                <a:ea typeface="Calibri" pitchFamily="34" charset="-122"/>
                <a:cs typeface="Calibri" pitchFamily="34" charset="-120"/>
              </a:rPr>
              <a:t>Buyers accept a price premium once authenticity is guaranteed</a:t>
            </a:r>
            <a:endParaRPr lang="en-US" sz="1000" dirty="0"/>
          </a:p>
        </p:txBody>
      </p:sp>
      <p:sp>
        <p:nvSpPr>
          <p:cNvPr id="38" name="Shape 31"/>
          <p:cNvSpPr/>
          <p:nvPr/>
        </p:nvSpPr>
        <p:spPr>
          <a:xfrm>
            <a:off x="8961120" y="4965192"/>
            <a:ext cx="2606040" cy="1207008"/>
          </a:xfrm>
          <a:prstGeom prst="roundRect">
            <a:avLst>
              <a:gd name="adj" fmla="val 3788"/>
            </a:avLst>
          </a:prstGeom>
          <a:solidFill>
            <a:srgbClr val="F4F6FA"/>
          </a:solidFill>
          <a:ln/>
        </p:spPr>
        <p:txBody>
          <a:bodyPr/>
          <a:lstStyle/>
          <a:p>
            <a:endParaRPr lang="en-IN"/>
          </a:p>
        </p:txBody>
      </p:sp>
      <p:sp>
        <p:nvSpPr>
          <p:cNvPr id="39" name="Shape 32"/>
          <p:cNvSpPr/>
          <p:nvPr/>
        </p:nvSpPr>
        <p:spPr>
          <a:xfrm>
            <a:off x="9144000" y="5129784"/>
            <a:ext cx="402336" cy="402336"/>
          </a:xfrm>
          <a:prstGeom prst="ellipse">
            <a:avLst/>
          </a:prstGeom>
          <a:solidFill>
            <a:srgbClr val="E9EEF6"/>
          </a:solidFill>
          <a:ln/>
        </p:spPr>
        <p:txBody>
          <a:bodyPr/>
          <a:lstStyle/>
          <a:p>
            <a:endParaRPr lang="en-IN"/>
          </a:p>
        </p:txBody>
      </p:sp>
      <p:pic>
        <p:nvPicPr>
          <p:cNvPr id="40" name="Image 5" descr="preencoded.png"/>
          <p:cNvPicPr>
            <a:picLocks noChangeAspect="1"/>
          </p:cNvPicPr>
          <p:nvPr/>
        </p:nvPicPr>
        <p:blipFill>
          <a:blip r:embed="rId8"/>
          <a:stretch>
            <a:fillRect/>
          </a:stretch>
        </p:blipFill>
        <p:spPr>
          <a:xfrm>
            <a:off x="9240561" y="5226345"/>
            <a:ext cx="209215" cy="209215"/>
          </a:xfrm>
          <a:prstGeom prst="rect">
            <a:avLst/>
          </a:prstGeom>
        </p:spPr>
      </p:pic>
      <p:sp>
        <p:nvSpPr>
          <p:cNvPr id="41" name="Text 33"/>
          <p:cNvSpPr/>
          <p:nvPr/>
        </p:nvSpPr>
        <p:spPr>
          <a:xfrm>
            <a:off x="9637776" y="5129784"/>
            <a:ext cx="1783080" cy="420624"/>
          </a:xfrm>
          <a:prstGeom prst="rect">
            <a:avLst/>
          </a:prstGeom>
          <a:noFill/>
          <a:ln/>
        </p:spPr>
        <p:txBody>
          <a:bodyPr wrap="square" lIns="0" tIns="0" rIns="0" bIns="0" rtlCol="0" anchor="ctr"/>
          <a:lstStyle/>
          <a:p>
            <a:pPr marL="0" indent="0">
              <a:buNone/>
            </a:pPr>
            <a:r>
              <a:rPr lang="en-US" sz="1200" b="1" dirty="0">
                <a:solidFill>
                  <a:srgbClr val="1B2A4A"/>
                </a:solidFill>
                <a:latin typeface="Trebuchet MS" pitchFamily="34" charset="0"/>
                <a:ea typeface="Trebuchet MS" pitchFamily="34" charset="-122"/>
                <a:cs typeface="Trebuchet MS" pitchFamily="34" charset="-120"/>
              </a:rPr>
              <a:t>Standardised MVP</a:t>
            </a:r>
            <a:endParaRPr lang="en-US" sz="1200" dirty="0"/>
          </a:p>
        </p:txBody>
      </p:sp>
      <p:sp>
        <p:nvSpPr>
          <p:cNvPr id="42" name="Text 34"/>
          <p:cNvSpPr/>
          <p:nvPr/>
        </p:nvSpPr>
        <p:spPr>
          <a:xfrm>
            <a:off x="9162288" y="5568696"/>
            <a:ext cx="2221992" cy="548640"/>
          </a:xfrm>
          <a:prstGeom prst="rect">
            <a:avLst/>
          </a:prstGeom>
          <a:noFill/>
          <a:ln/>
        </p:spPr>
        <p:txBody>
          <a:bodyPr wrap="square" lIns="0" tIns="0" rIns="0" bIns="0" rtlCol="0" anchor="t"/>
          <a:lstStyle/>
          <a:p>
            <a:pPr marL="0" indent="0">
              <a:lnSpc>
                <a:spcPct val="103000"/>
              </a:lnSpc>
              <a:buNone/>
            </a:pPr>
            <a:r>
              <a:rPr lang="en-US" sz="1000" dirty="0">
                <a:solidFill>
                  <a:srgbClr val="55617A"/>
                </a:solidFill>
                <a:latin typeface="Calibri" pitchFamily="34" charset="0"/>
                <a:ea typeface="Calibri" pitchFamily="34" charset="-122"/>
                <a:cs typeface="Calibri" pitchFamily="34" charset="-120"/>
              </a:rPr>
              <a:t>Smartphones, laptops &amp; premium electronics are easy to inspect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buNone/>
            </a:pPr>
            <a:r>
              <a:rPr lang="en-US" sz="1150" b="1" kern="0" spc="200" dirty="0">
                <a:solidFill>
                  <a:srgbClr val="0E7C7B"/>
                </a:solidFill>
                <a:latin typeface="Trebuchet MS" pitchFamily="34" charset="0"/>
                <a:ea typeface="Trebuchet MS" pitchFamily="34" charset="-122"/>
                <a:cs typeface="Trebuchet MS" pitchFamily="34" charset="-120"/>
              </a:rPr>
              <a:t>RESEARCH APPROACH</a:t>
            </a:r>
            <a:endParaRPr lang="en-US" sz="1150" dirty="0"/>
          </a:p>
        </p:txBody>
      </p:sp>
      <p:sp>
        <p:nvSpPr>
          <p:cNvPr id="3" name="Text 1"/>
          <p:cNvSpPr/>
          <p:nvPr/>
        </p:nvSpPr>
        <p:spPr>
          <a:xfrm>
            <a:off x="566928" y="658368"/>
            <a:ext cx="11057839" cy="603504"/>
          </a:xfrm>
          <a:prstGeom prst="rect">
            <a:avLst/>
          </a:prstGeom>
          <a:noFill/>
          <a:ln/>
        </p:spPr>
        <p:txBody>
          <a:bodyPr wrap="square" lIns="0" tIns="0" rIns="0" bIns="0" rtlCol="0" anchor="ctr"/>
          <a:lstStyle/>
          <a:p>
            <a:pPr marL="0" indent="0">
              <a:buNone/>
            </a:pPr>
            <a:r>
              <a:rPr lang="en-US" sz="2700" b="1" dirty="0">
                <a:solidFill>
                  <a:srgbClr val="1B2A4A"/>
                </a:solidFill>
                <a:latin typeface="Georgia" pitchFamily="34" charset="0"/>
                <a:ea typeface="Georgia" pitchFamily="34" charset="-122"/>
                <a:cs typeface="Georgia" pitchFamily="34" charset="-120"/>
              </a:rPr>
              <a:t>Three Voices, Two Sides of the Market</a:t>
            </a:r>
            <a:endParaRPr lang="en-US" sz="2700" dirty="0"/>
          </a:p>
        </p:txBody>
      </p:sp>
      <p:sp>
        <p:nvSpPr>
          <p:cNvPr id="4" name="Shape 2"/>
          <p:cNvSpPr/>
          <p:nvPr/>
        </p:nvSpPr>
        <p:spPr>
          <a:xfrm>
            <a:off x="566928" y="6437376"/>
            <a:ext cx="11057839" cy="0"/>
          </a:xfrm>
          <a:prstGeom prst="line">
            <a:avLst/>
          </a:prstGeom>
          <a:noFill/>
          <a:ln w="12700">
            <a:solidFill>
              <a:srgbClr val="E3E8F0"/>
            </a:solidFill>
            <a:prstDash val="solid"/>
          </a:ln>
        </p:spPr>
        <p:txBody>
          <a:bodyPr/>
          <a:lstStyle/>
          <a:p>
            <a:endParaRPr lang="en-IN"/>
          </a:p>
        </p:txBody>
      </p:sp>
      <p:sp>
        <p:nvSpPr>
          <p:cNvPr id="5" name="Text 3"/>
          <p:cNvSpPr/>
          <p:nvPr/>
        </p:nvSpPr>
        <p:spPr>
          <a:xfrm>
            <a:off x="566928" y="6473952"/>
            <a:ext cx="6400800" cy="274320"/>
          </a:xfrm>
          <a:prstGeom prst="rect">
            <a:avLst/>
          </a:prstGeom>
          <a:noFill/>
          <a:ln/>
        </p:spPr>
        <p:txBody>
          <a:bodyPr wrap="square" lIns="0" tIns="0" rIns="0" bIns="0" rtlCol="0" anchor="ctr"/>
          <a:lstStyle/>
          <a:p>
            <a:pPr marL="0" indent="0">
              <a:buNone/>
            </a:pPr>
            <a:r>
              <a:rPr lang="en-US" sz="850" kern="0" spc="100" dirty="0">
                <a:solidFill>
                  <a:srgbClr val="8A97AD"/>
                </a:solidFill>
                <a:latin typeface="Trebuchet MS" pitchFamily="34" charset="0"/>
                <a:ea typeface="Trebuchet MS" pitchFamily="34" charset="-122"/>
                <a:cs typeface="Trebuchet MS" pitchFamily="34" charset="-120"/>
              </a:rPr>
              <a:t>CertiBuy  ·  Assignment 1</a:t>
            </a:r>
            <a:endParaRPr lang="en-US" sz="850" dirty="0"/>
          </a:p>
        </p:txBody>
      </p:sp>
      <p:sp>
        <p:nvSpPr>
          <p:cNvPr id="6" name="Text 4"/>
          <p:cNvSpPr/>
          <p:nvPr/>
        </p:nvSpPr>
        <p:spPr>
          <a:xfrm>
            <a:off x="4675327" y="6473952"/>
            <a:ext cx="6583680" cy="274320"/>
          </a:xfrm>
          <a:prstGeom prst="rect">
            <a:avLst/>
          </a:prstGeom>
          <a:noFill/>
          <a:ln/>
        </p:spPr>
        <p:txBody>
          <a:bodyPr wrap="square" lIns="0" tIns="0" rIns="0" bIns="0" rtlCol="0" anchor="ctr"/>
          <a:lstStyle/>
          <a:p>
            <a:pPr marL="0" indent="0" algn="r">
              <a:buNone/>
            </a:pPr>
            <a:r>
              <a:rPr lang="en-US" sz="850" dirty="0">
                <a:solidFill>
                  <a:srgbClr val="8A97AD"/>
                </a:solidFill>
                <a:latin typeface="Trebuchet MS" pitchFamily="34" charset="0"/>
                <a:ea typeface="Trebuchet MS" pitchFamily="34" charset="-122"/>
                <a:cs typeface="Trebuchet MS" pitchFamily="34" charset="-120"/>
              </a:rPr>
              <a:t>IITM Pravartak  ·  AI-Powered Product Design &amp; Management  ·  Batch 2 · Group 16</a:t>
            </a:r>
            <a:endParaRPr lang="en-US" sz="850" dirty="0"/>
          </a:p>
        </p:txBody>
      </p:sp>
      <p:sp>
        <p:nvSpPr>
          <p:cNvPr id="7" name="Text 5"/>
          <p:cNvSpPr/>
          <p:nvPr/>
        </p:nvSpPr>
        <p:spPr>
          <a:xfrm>
            <a:off x="11259007" y="6473952"/>
            <a:ext cx="365760" cy="274320"/>
          </a:xfrm>
          <a:prstGeom prst="rect">
            <a:avLst/>
          </a:prstGeom>
          <a:noFill/>
          <a:ln/>
        </p:spPr>
        <p:txBody>
          <a:bodyPr wrap="square" lIns="0" tIns="0" rIns="0" bIns="0" rtlCol="0" anchor="ctr"/>
          <a:lstStyle/>
          <a:p>
            <a:pPr marL="0" indent="0" algn="r">
              <a:buNone/>
            </a:pPr>
            <a:r>
              <a:rPr lang="en-US" sz="850" b="1" dirty="0">
                <a:solidFill>
                  <a:srgbClr val="8A97AD"/>
                </a:solidFill>
                <a:latin typeface="Trebuchet MS" pitchFamily="34" charset="0"/>
                <a:ea typeface="Trebuchet MS" pitchFamily="34" charset="-122"/>
                <a:cs typeface="Trebuchet MS" pitchFamily="34" charset="-120"/>
              </a:rPr>
              <a:t>03</a:t>
            </a:r>
            <a:endParaRPr lang="en-US" sz="850" dirty="0"/>
          </a:p>
        </p:txBody>
      </p:sp>
      <p:sp>
        <p:nvSpPr>
          <p:cNvPr id="8" name="Shape 6"/>
          <p:cNvSpPr/>
          <p:nvPr/>
        </p:nvSpPr>
        <p:spPr>
          <a:xfrm>
            <a:off x="566928" y="1371600"/>
            <a:ext cx="3520440" cy="2880360"/>
          </a:xfrm>
          <a:prstGeom prst="roundRect">
            <a:avLst>
              <a:gd name="adj" fmla="val 1905"/>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9" name="Shape 7"/>
          <p:cNvSpPr/>
          <p:nvPr/>
        </p:nvSpPr>
        <p:spPr>
          <a:xfrm>
            <a:off x="804672" y="1609344"/>
            <a:ext cx="548640" cy="548640"/>
          </a:xfrm>
          <a:prstGeom prst="ellipse">
            <a:avLst/>
          </a:prstGeom>
          <a:solidFill>
            <a:srgbClr val="E9EEF6"/>
          </a:solidFill>
          <a:ln/>
        </p:spPr>
        <p:txBody>
          <a:bodyPr/>
          <a:lstStyle/>
          <a:p>
            <a:endParaRPr lang="en-IN"/>
          </a:p>
        </p:txBody>
      </p:sp>
      <p:pic>
        <p:nvPicPr>
          <p:cNvPr id="10" name="Image 0" descr="preencoded.png"/>
          <p:cNvPicPr>
            <a:picLocks noChangeAspect="1"/>
          </p:cNvPicPr>
          <p:nvPr/>
        </p:nvPicPr>
        <p:blipFill>
          <a:blip r:embed="rId3"/>
          <a:stretch>
            <a:fillRect/>
          </a:stretch>
        </p:blipFill>
        <p:spPr>
          <a:xfrm>
            <a:off x="936346" y="1741018"/>
            <a:ext cx="285293" cy="285293"/>
          </a:xfrm>
          <a:prstGeom prst="rect">
            <a:avLst/>
          </a:prstGeom>
        </p:spPr>
      </p:pic>
      <p:sp>
        <p:nvSpPr>
          <p:cNvPr id="11" name="Text 8"/>
          <p:cNvSpPr/>
          <p:nvPr/>
        </p:nvSpPr>
        <p:spPr>
          <a:xfrm>
            <a:off x="1481328" y="1591056"/>
            <a:ext cx="2468880" cy="310896"/>
          </a:xfrm>
          <a:prstGeom prst="rect">
            <a:avLst/>
          </a:prstGeom>
          <a:noFill/>
          <a:ln/>
        </p:spPr>
        <p:txBody>
          <a:bodyPr wrap="square" lIns="0" tIns="0" rIns="0" bIns="0" rtlCol="0" anchor="ctr"/>
          <a:lstStyle/>
          <a:p>
            <a:pPr marL="0" indent="0">
              <a:buNone/>
            </a:pPr>
            <a:r>
              <a:rPr lang="en-US" sz="1800" b="1" dirty="0">
                <a:solidFill>
                  <a:srgbClr val="1B2A4A"/>
                </a:solidFill>
                <a:latin typeface="Georgia" pitchFamily="34" charset="0"/>
                <a:ea typeface="Georgia" pitchFamily="34" charset="-122"/>
                <a:cs typeface="Georgia" pitchFamily="34" charset="-120"/>
              </a:rPr>
              <a:t>Rishabh</a:t>
            </a:r>
            <a:endParaRPr lang="en-US" sz="1800" dirty="0"/>
          </a:p>
        </p:txBody>
      </p:sp>
      <p:sp>
        <p:nvSpPr>
          <p:cNvPr id="12" name="Text 9"/>
          <p:cNvSpPr/>
          <p:nvPr/>
        </p:nvSpPr>
        <p:spPr>
          <a:xfrm>
            <a:off x="1481328" y="1920240"/>
            <a:ext cx="2468880" cy="237744"/>
          </a:xfrm>
          <a:prstGeom prst="rect">
            <a:avLst/>
          </a:prstGeom>
          <a:noFill/>
          <a:ln/>
        </p:spPr>
        <p:txBody>
          <a:bodyPr wrap="square" lIns="0" tIns="0" rIns="0" bIns="0" rtlCol="0" anchor="ctr"/>
          <a:lstStyle/>
          <a:p>
            <a:pPr marL="0" indent="0">
              <a:buNone/>
            </a:pPr>
            <a:r>
              <a:rPr lang="en-US" sz="1000" b="1" kern="0" spc="100" dirty="0">
                <a:solidFill>
                  <a:srgbClr val="2563EB"/>
                </a:solidFill>
                <a:latin typeface="Trebuchet MS" pitchFamily="34" charset="0"/>
                <a:ea typeface="Trebuchet MS" pitchFamily="34" charset="-122"/>
                <a:cs typeface="Trebuchet MS" pitchFamily="34" charset="-120"/>
              </a:rPr>
              <a:t>Buyer · Gurgaon</a:t>
            </a:r>
            <a:endParaRPr lang="en-US" sz="1000" dirty="0"/>
          </a:p>
        </p:txBody>
      </p:sp>
      <p:sp>
        <p:nvSpPr>
          <p:cNvPr id="13" name="Text 10"/>
          <p:cNvSpPr/>
          <p:nvPr/>
        </p:nvSpPr>
        <p:spPr>
          <a:xfrm>
            <a:off x="822960" y="2304288"/>
            <a:ext cx="3063240" cy="274320"/>
          </a:xfrm>
          <a:prstGeom prst="rect">
            <a:avLst/>
          </a:prstGeom>
          <a:noFill/>
          <a:ln/>
        </p:spPr>
        <p:txBody>
          <a:bodyPr wrap="square" lIns="0" tIns="0" rIns="0" bIns="0" rtlCol="0" anchor="ctr"/>
          <a:lstStyle/>
          <a:p>
            <a:pPr marL="0" indent="0">
              <a:buNone/>
            </a:pPr>
            <a:r>
              <a:rPr lang="en-US" sz="1250" i="1" dirty="0">
                <a:solidFill>
                  <a:srgbClr val="2563EB"/>
                </a:solidFill>
                <a:latin typeface="Calibri" pitchFamily="34" charset="0"/>
                <a:ea typeface="Calibri" pitchFamily="34" charset="-122"/>
                <a:cs typeface="Calibri" pitchFamily="34" charset="-120"/>
              </a:rPr>
              <a:t>The Protective Optimist</a:t>
            </a:r>
            <a:endParaRPr lang="en-US" sz="1250" dirty="0"/>
          </a:p>
        </p:txBody>
      </p:sp>
      <p:sp>
        <p:nvSpPr>
          <p:cNvPr id="14" name="Text 11"/>
          <p:cNvSpPr/>
          <p:nvPr/>
        </p:nvSpPr>
        <p:spPr>
          <a:xfrm>
            <a:off x="822960" y="2651760"/>
            <a:ext cx="3008376" cy="914400"/>
          </a:xfrm>
          <a:prstGeom prst="rect">
            <a:avLst/>
          </a:prstGeom>
          <a:noFill/>
          <a:ln/>
        </p:spPr>
        <p:txBody>
          <a:bodyPr wrap="square" lIns="0" tIns="0" rIns="0" bIns="0" rtlCol="0" anchor="t"/>
          <a:lstStyle/>
          <a:p>
            <a:pPr marL="0" indent="0">
              <a:lnSpc>
                <a:spcPct val="106000"/>
              </a:lnSpc>
              <a:buNone/>
            </a:pPr>
            <a:r>
              <a:rPr lang="en-US" sz="1100" dirty="0">
                <a:solidFill>
                  <a:srgbClr val="55617A"/>
                </a:solidFill>
                <a:latin typeface="Calibri" pitchFamily="34" charset="0"/>
                <a:ea typeface="Calibri" pitchFamily="34" charset="-122"/>
                <a:cs typeface="Calibri" pitchFamily="34" charset="-120"/>
              </a:rPr>
              <a:t>Quarterly upgrader, offline-by-default from fraud fear — but reversible with clear warranty + fast support.</a:t>
            </a:r>
            <a:endParaRPr lang="en-US" sz="1100" dirty="0"/>
          </a:p>
        </p:txBody>
      </p:sp>
      <p:sp>
        <p:nvSpPr>
          <p:cNvPr id="15" name="Text 12"/>
          <p:cNvSpPr/>
          <p:nvPr/>
        </p:nvSpPr>
        <p:spPr>
          <a:xfrm>
            <a:off x="822960" y="3566160"/>
            <a:ext cx="3008376" cy="566928"/>
          </a:xfrm>
          <a:prstGeom prst="rect">
            <a:avLst/>
          </a:prstGeom>
          <a:noFill/>
          <a:ln/>
        </p:spPr>
        <p:txBody>
          <a:bodyPr wrap="square" lIns="0" tIns="0" rIns="0" bIns="0" rtlCol="0" anchor="t"/>
          <a:lstStyle/>
          <a:p>
            <a:pPr marL="0" indent="0">
              <a:lnSpc>
                <a:spcPct val="103000"/>
              </a:lnSpc>
              <a:buNone/>
            </a:pPr>
            <a:r>
              <a:rPr lang="en-US" sz="1000" i="1" dirty="0">
                <a:solidFill>
                  <a:srgbClr val="1B2A4A"/>
                </a:solidFill>
                <a:latin typeface="Calibri" pitchFamily="34" charset="0"/>
                <a:ea typeface="Calibri" pitchFamily="34" charset="-122"/>
                <a:cs typeface="Calibri" pitchFamily="34" charset="-120"/>
              </a:rPr>
              <a:t>“Prefers offline purchases for greater trust and personal interaction.”</a:t>
            </a:r>
            <a:endParaRPr lang="en-US" sz="1000" dirty="0"/>
          </a:p>
        </p:txBody>
      </p:sp>
      <p:sp>
        <p:nvSpPr>
          <p:cNvPr id="16" name="Shape 13"/>
          <p:cNvSpPr/>
          <p:nvPr/>
        </p:nvSpPr>
        <p:spPr>
          <a:xfrm>
            <a:off x="3218688" y="1627632"/>
            <a:ext cx="676656" cy="219456"/>
          </a:xfrm>
          <a:prstGeom prst="roundRect">
            <a:avLst>
              <a:gd name="adj" fmla="val 16667"/>
            </a:avLst>
          </a:prstGeom>
          <a:solidFill>
            <a:srgbClr val="E5EDFC"/>
          </a:solidFill>
          <a:ln/>
        </p:spPr>
        <p:txBody>
          <a:bodyPr/>
          <a:lstStyle/>
          <a:p>
            <a:endParaRPr lang="en-IN"/>
          </a:p>
        </p:txBody>
      </p:sp>
      <p:sp>
        <p:nvSpPr>
          <p:cNvPr id="17" name="Text 14"/>
          <p:cNvSpPr/>
          <p:nvPr/>
        </p:nvSpPr>
        <p:spPr>
          <a:xfrm>
            <a:off x="3218688" y="1627632"/>
            <a:ext cx="676656" cy="219456"/>
          </a:xfrm>
          <a:prstGeom prst="rect">
            <a:avLst/>
          </a:prstGeom>
          <a:noFill/>
          <a:ln/>
        </p:spPr>
        <p:txBody>
          <a:bodyPr wrap="square" lIns="0" tIns="0" rIns="0" bIns="0" rtlCol="0" anchor="ctr"/>
          <a:lstStyle/>
          <a:p>
            <a:pPr marL="0" indent="0" algn="ctr">
              <a:buNone/>
            </a:pPr>
            <a:r>
              <a:rPr lang="en-US" sz="800" b="1" dirty="0">
                <a:solidFill>
                  <a:srgbClr val="2563EB"/>
                </a:solidFill>
                <a:latin typeface="Trebuchet MS" pitchFamily="34" charset="0"/>
                <a:ea typeface="Trebuchet MS" pitchFamily="34" charset="-122"/>
                <a:cs typeface="Trebuchet MS" pitchFamily="34" charset="-120"/>
              </a:rPr>
              <a:t>REAL</a:t>
            </a:r>
            <a:endParaRPr lang="en-US" sz="800" dirty="0"/>
          </a:p>
        </p:txBody>
      </p:sp>
      <p:sp>
        <p:nvSpPr>
          <p:cNvPr id="18" name="Shape 15"/>
          <p:cNvSpPr/>
          <p:nvPr/>
        </p:nvSpPr>
        <p:spPr>
          <a:xfrm>
            <a:off x="4334256" y="1371600"/>
            <a:ext cx="3520440" cy="2880360"/>
          </a:xfrm>
          <a:prstGeom prst="roundRect">
            <a:avLst>
              <a:gd name="adj" fmla="val 1905"/>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19" name="Shape 16"/>
          <p:cNvSpPr/>
          <p:nvPr/>
        </p:nvSpPr>
        <p:spPr>
          <a:xfrm>
            <a:off x="4572000" y="1609344"/>
            <a:ext cx="548640" cy="548640"/>
          </a:xfrm>
          <a:prstGeom prst="ellipse">
            <a:avLst/>
          </a:prstGeom>
          <a:solidFill>
            <a:srgbClr val="E9EEF6"/>
          </a:solidFill>
          <a:ln/>
        </p:spPr>
        <p:txBody>
          <a:bodyPr/>
          <a:lstStyle/>
          <a:p>
            <a:endParaRPr lang="en-IN"/>
          </a:p>
        </p:txBody>
      </p:sp>
      <p:pic>
        <p:nvPicPr>
          <p:cNvPr id="20" name="Image 1" descr="preencoded.png"/>
          <p:cNvPicPr>
            <a:picLocks noChangeAspect="1"/>
          </p:cNvPicPr>
          <p:nvPr/>
        </p:nvPicPr>
        <p:blipFill>
          <a:blip r:embed="rId4"/>
          <a:stretch>
            <a:fillRect/>
          </a:stretch>
        </p:blipFill>
        <p:spPr>
          <a:xfrm>
            <a:off x="4703674" y="1741018"/>
            <a:ext cx="285293" cy="285293"/>
          </a:xfrm>
          <a:prstGeom prst="rect">
            <a:avLst/>
          </a:prstGeom>
        </p:spPr>
      </p:pic>
      <p:sp>
        <p:nvSpPr>
          <p:cNvPr id="21" name="Text 17"/>
          <p:cNvSpPr/>
          <p:nvPr/>
        </p:nvSpPr>
        <p:spPr>
          <a:xfrm>
            <a:off x="5248656" y="1591056"/>
            <a:ext cx="2468880" cy="310896"/>
          </a:xfrm>
          <a:prstGeom prst="rect">
            <a:avLst/>
          </a:prstGeom>
          <a:noFill/>
          <a:ln/>
        </p:spPr>
        <p:txBody>
          <a:bodyPr wrap="square" lIns="0" tIns="0" rIns="0" bIns="0" rtlCol="0" anchor="ctr"/>
          <a:lstStyle/>
          <a:p>
            <a:pPr marL="0" indent="0">
              <a:buNone/>
            </a:pPr>
            <a:r>
              <a:rPr lang="en-US" sz="1800" b="1" dirty="0">
                <a:solidFill>
                  <a:srgbClr val="1B2A4A"/>
                </a:solidFill>
                <a:latin typeface="Georgia" pitchFamily="34" charset="0"/>
                <a:ea typeface="Georgia" pitchFamily="34" charset="-122"/>
                <a:cs typeface="Georgia" pitchFamily="34" charset="-120"/>
              </a:rPr>
              <a:t>Gia</a:t>
            </a:r>
            <a:endParaRPr lang="en-US" sz="1800" dirty="0"/>
          </a:p>
        </p:txBody>
      </p:sp>
      <p:sp>
        <p:nvSpPr>
          <p:cNvPr id="22" name="Text 18"/>
          <p:cNvSpPr/>
          <p:nvPr/>
        </p:nvSpPr>
        <p:spPr>
          <a:xfrm>
            <a:off x="5248656" y="1920240"/>
            <a:ext cx="2468880" cy="237744"/>
          </a:xfrm>
          <a:prstGeom prst="rect">
            <a:avLst/>
          </a:prstGeom>
          <a:noFill/>
          <a:ln/>
        </p:spPr>
        <p:txBody>
          <a:bodyPr wrap="square" lIns="0" tIns="0" rIns="0" bIns="0" rtlCol="0" anchor="ctr"/>
          <a:lstStyle/>
          <a:p>
            <a:pPr marL="0" indent="0">
              <a:buNone/>
            </a:pPr>
            <a:r>
              <a:rPr lang="en-US" sz="1000" b="1" kern="0" spc="100" dirty="0">
                <a:solidFill>
                  <a:srgbClr val="0E7C7B"/>
                </a:solidFill>
                <a:latin typeface="Trebuchet MS" pitchFamily="34" charset="0"/>
                <a:ea typeface="Trebuchet MS" pitchFamily="34" charset="-122"/>
                <a:cs typeface="Trebuchet MS" pitchFamily="34" charset="-120"/>
              </a:rPr>
              <a:t>Buyer · Hyderabad</a:t>
            </a:r>
            <a:endParaRPr lang="en-US" sz="1000" dirty="0"/>
          </a:p>
        </p:txBody>
      </p:sp>
      <p:sp>
        <p:nvSpPr>
          <p:cNvPr id="23" name="Text 19"/>
          <p:cNvSpPr/>
          <p:nvPr/>
        </p:nvSpPr>
        <p:spPr>
          <a:xfrm>
            <a:off x="4590288" y="2304288"/>
            <a:ext cx="3063240" cy="274320"/>
          </a:xfrm>
          <a:prstGeom prst="rect">
            <a:avLst/>
          </a:prstGeom>
          <a:noFill/>
          <a:ln/>
        </p:spPr>
        <p:txBody>
          <a:bodyPr wrap="square" lIns="0" tIns="0" rIns="0" bIns="0" rtlCol="0" anchor="ctr"/>
          <a:lstStyle/>
          <a:p>
            <a:pPr marL="0" indent="0">
              <a:buNone/>
            </a:pPr>
            <a:r>
              <a:rPr lang="en-US" sz="1250" i="1" dirty="0">
                <a:solidFill>
                  <a:srgbClr val="0E7C7B"/>
                </a:solidFill>
                <a:latin typeface="Calibri" pitchFamily="34" charset="0"/>
                <a:ea typeface="Calibri" pitchFamily="34" charset="-122"/>
                <a:cs typeface="Calibri" pitchFamily="34" charset="-120"/>
              </a:rPr>
              <a:t>The Rational Aspirant</a:t>
            </a:r>
            <a:endParaRPr lang="en-US" sz="1250" dirty="0"/>
          </a:p>
        </p:txBody>
      </p:sp>
      <p:sp>
        <p:nvSpPr>
          <p:cNvPr id="24" name="Text 20"/>
          <p:cNvSpPr/>
          <p:nvPr/>
        </p:nvSpPr>
        <p:spPr>
          <a:xfrm>
            <a:off x="4590288" y="2651760"/>
            <a:ext cx="3008376" cy="914400"/>
          </a:xfrm>
          <a:prstGeom prst="rect">
            <a:avLst/>
          </a:prstGeom>
          <a:noFill/>
          <a:ln/>
        </p:spPr>
        <p:txBody>
          <a:bodyPr wrap="square" lIns="0" tIns="0" rIns="0" bIns="0" rtlCol="0" anchor="t"/>
          <a:lstStyle/>
          <a:p>
            <a:pPr marL="0" indent="0">
              <a:lnSpc>
                <a:spcPct val="106000"/>
              </a:lnSpc>
              <a:buNone/>
            </a:pPr>
            <a:r>
              <a:rPr lang="en-US" sz="1100" dirty="0">
                <a:solidFill>
                  <a:srgbClr val="55617A"/>
                </a:solidFill>
                <a:latin typeface="Calibri" pitchFamily="34" charset="0"/>
                <a:ea typeface="Calibri" pitchFamily="34" charset="-122"/>
                <a:cs typeface="Calibri" pitchFamily="34" charset="-120"/>
              </a:rPr>
              <a:t>Premium creative-pro with a 7-step research ritual who stalls at comparison when options look alike.</a:t>
            </a:r>
            <a:endParaRPr lang="en-US" sz="1100" dirty="0"/>
          </a:p>
        </p:txBody>
      </p:sp>
      <p:sp>
        <p:nvSpPr>
          <p:cNvPr id="25" name="Text 21"/>
          <p:cNvSpPr/>
          <p:nvPr/>
        </p:nvSpPr>
        <p:spPr>
          <a:xfrm>
            <a:off x="4590288" y="3566160"/>
            <a:ext cx="3008376" cy="566928"/>
          </a:xfrm>
          <a:prstGeom prst="rect">
            <a:avLst/>
          </a:prstGeom>
          <a:noFill/>
          <a:ln/>
        </p:spPr>
        <p:txBody>
          <a:bodyPr wrap="square" lIns="0" tIns="0" rIns="0" bIns="0" rtlCol="0" anchor="t"/>
          <a:lstStyle/>
          <a:p>
            <a:pPr marL="0" indent="0">
              <a:lnSpc>
                <a:spcPct val="103000"/>
              </a:lnSpc>
              <a:buNone/>
            </a:pPr>
            <a:r>
              <a:rPr lang="en-US" sz="1000" i="1" dirty="0">
                <a:solidFill>
                  <a:srgbClr val="1B2A4A"/>
                </a:solidFill>
                <a:latin typeface="Calibri" pitchFamily="34" charset="0"/>
                <a:ea typeface="Calibri" pitchFamily="34" charset="-122"/>
                <a:cs typeface="Calibri" pitchFamily="34" charset="-120"/>
              </a:rPr>
              <a:t>“Video verification or live inspection would significantly increase trust.”</a:t>
            </a:r>
            <a:endParaRPr lang="en-US" sz="1000" dirty="0"/>
          </a:p>
        </p:txBody>
      </p:sp>
      <p:sp>
        <p:nvSpPr>
          <p:cNvPr id="26" name="Shape 22"/>
          <p:cNvSpPr/>
          <p:nvPr/>
        </p:nvSpPr>
        <p:spPr>
          <a:xfrm>
            <a:off x="6986016" y="1627632"/>
            <a:ext cx="676656" cy="219456"/>
          </a:xfrm>
          <a:prstGeom prst="roundRect">
            <a:avLst>
              <a:gd name="adj" fmla="val 16667"/>
            </a:avLst>
          </a:prstGeom>
          <a:solidFill>
            <a:srgbClr val="E5EDFC"/>
          </a:solidFill>
          <a:ln/>
        </p:spPr>
        <p:txBody>
          <a:bodyPr/>
          <a:lstStyle/>
          <a:p>
            <a:endParaRPr lang="en-IN"/>
          </a:p>
        </p:txBody>
      </p:sp>
      <p:sp>
        <p:nvSpPr>
          <p:cNvPr id="27" name="Text 23"/>
          <p:cNvSpPr/>
          <p:nvPr/>
        </p:nvSpPr>
        <p:spPr>
          <a:xfrm>
            <a:off x="6986016" y="1627632"/>
            <a:ext cx="676656" cy="219456"/>
          </a:xfrm>
          <a:prstGeom prst="rect">
            <a:avLst/>
          </a:prstGeom>
          <a:noFill/>
          <a:ln/>
        </p:spPr>
        <p:txBody>
          <a:bodyPr wrap="square" lIns="0" tIns="0" rIns="0" bIns="0" rtlCol="0" anchor="ctr"/>
          <a:lstStyle/>
          <a:p>
            <a:pPr marL="0" indent="0" algn="ctr">
              <a:buNone/>
            </a:pPr>
            <a:r>
              <a:rPr lang="en-US" sz="800" b="1" dirty="0">
                <a:solidFill>
                  <a:srgbClr val="2563EB"/>
                </a:solidFill>
                <a:latin typeface="Trebuchet MS" pitchFamily="34" charset="0"/>
                <a:ea typeface="Trebuchet MS" pitchFamily="34" charset="-122"/>
                <a:cs typeface="Trebuchet MS" pitchFamily="34" charset="-120"/>
              </a:rPr>
              <a:t>REAL</a:t>
            </a:r>
            <a:endParaRPr lang="en-US" sz="800" dirty="0"/>
          </a:p>
        </p:txBody>
      </p:sp>
      <p:sp>
        <p:nvSpPr>
          <p:cNvPr id="28" name="Shape 24"/>
          <p:cNvSpPr/>
          <p:nvPr/>
        </p:nvSpPr>
        <p:spPr>
          <a:xfrm>
            <a:off x="8101584" y="1371600"/>
            <a:ext cx="3520440" cy="2880360"/>
          </a:xfrm>
          <a:prstGeom prst="roundRect">
            <a:avLst>
              <a:gd name="adj" fmla="val 1905"/>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29" name="Shape 25"/>
          <p:cNvSpPr/>
          <p:nvPr/>
        </p:nvSpPr>
        <p:spPr>
          <a:xfrm>
            <a:off x="8339328" y="1609344"/>
            <a:ext cx="548640" cy="548640"/>
          </a:xfrm>
          <a:prstGeom prst="ellipse">
            <a:avLst/>
          </a:prstGeom>
          <a:solidFill>
            <a:srgbClr val="E9EEF6"/>
          </a:solidFill>
          <a:ln/>
        </p:spPr>
        <p:txBody>
          <a:bodyPr/>
          <a:lstStyle/>
          <a:p>
            <a:endParaRPr lang="en-IN"/>
          </a:p>
        </p:txBody>
      </p:sp>
      <p:pic>
        <p:nvPicPr>
          <p:cNvPr id="30" name="Image 2" descr="preencoded.png"/>
          <p:cNvPicPr>
            <a:picLocks noChangeAspect="1"/>
          </p:cNvPicPr>
          <p:nvPr/>
        </p:nvPicPr>
        <p:blipFill>
          <a:blip r:embed="rId5"/>
          <a:stretch>
            <a:fillRect/>
          </a:stretch>
        </p:blipFill>
        <p:spPr>
          <a:xfrm>
            <a:off x="8471002" y="1741018"/>
            <a:ext cx="285293" cy="285293"/>
          </a:xfrm>
          <a:prstGeom prst="rect">
            <a:avLst/>
          </a:prstGeom>
        </p:spPr>
      </p:pic>
      <p:sp>
        <p:nvSpPr>
          <p:cNvPr id="31" name="Text 26"/>
          <p:cNvSpPr/>
          <p:nvPr/>
        </p:nvSpPr>
        <p:spPr>
          <a:xfrm>
            <a:off x="9015984" y="1591056"/>
            <a:ext cx="2468880" cy="310896"/>
          </a:xfrm>
          <a:prstGeom prst="rect">
            <a:avLst/>
          </a:prstGeom>
          <a:noFill/>
          <a:ln/>
        </p:spPr>
        <p:txBody>
          <a:bodyPr wrap="square" lIns="0" tIns="0" rIns="0" bIns="0" rtlCol="0" anchor="ctr"/>
          <a:lstStyle/>
          <a:p>
            <a:pPr marL="0" indent="0">
              <a:buNone/>
            </a:pPr>
            <a:r>
              <a:rPr lang="en-US" sz="1800" b="1" dirty="0">
                <a:solidFill>
                  <a:srgbClr val="1B2A4A"/>
                </a:solidFill>
                <a:latin typeface="Georgia" pitchFamily="34" charset="0"/>
                <a:ea typeface="Georgia" pitchFamily="34" charset="-122"/>
                <a:cs typeface="Georgia" pitchFamily="34" charset="-120"/>
              </a:rPr>
              <a:t>Seller</a:t>
            </a:r>
            <a:endParaRPr lang="en-US" sz="1800" dirty="0"/>
          </a:p>
        </p:txBody>
      </p:sp>
      <p:sp>
        <p:nvSpPr>
          <p:cNvPr id="32" name="Text 27"/>
          <p:cNvSpPr/>
          <p:nvPr/>
        </p:nvSpPr>
        <p:spPr>
          <a:xfrm>
            <a:off x="9015984" y="1920240"/>
            <a:ext cx="2468880" cy="237744"/>
          </a:xfrm>
          <a:prstGeom prst="rect">
            <a:avLst/>
          </a:prstGeom>
          <a:noFill/>
          <a:ln/>
        </p:spPr>
        <p:txBody>
          <a:bodyPr wrap="square" lIns="0" tIns="0" rIns="0" bIns="0" rtlCol="0" anchor="ctr"/>
          <a:lstStyle/>
          <a:p>
            <a:pPr marL="0" indent="0">
              <a:buNone/>
            </a:pPr>
            <a:r>
              <a:rPr lang="en-US" sz="1000" b="1" kern="0" spc="100" dirty="0">
                <a:solidFill>
                  <a:srgbClr val="C0392B"/>
                </a:solidFill>
                <a:latin typeface="Trebuchet MS" pitchFamily="34" charset="0"/>
                <a:ea typeface="Trebuchet MS" pitchFamily="34" charset="-122"/>
                <a:cs typeface="Trebuchet MS" pitchFamily="34" charset="-120"/>
              </a:rPr>
              <a:t>Metro · lives alone</a:t>
            </a:r>
            <a:endParaRPr lang="en-US" sz="1000" dirty="0"/>
          </a:p>
        </p:txBody>
      </p:sp>
      <p:sp>
        <p:nvSpPr>
          <p:cNvPr id="33" name="Text 28"/>
          <p:cNvSpPr/>
          <p:nvPr/>
        </p:nvSpPr>
        <p:spPr>
          <a:xfrm>
            <a:off x="8357616" y="2304288"/>
            <a:ext cx="3063240" cy="274320"/>
          </a:xfrm>
          <a:prstGeom prst="rect">
            <a:avLst/>
          </a:prstGeom>
          <a:noFill/>
          <a:ln/>
        </p:spPr>
        <p:txBody>
          <a:bodyPr wrap="square" lIns="0" tIns="0" rIns="0" bIns="0" rtlCol="0" anchor="ctr"/>
          <a:lstStyle/>
          <a:p>
            <a:pPr marL="0" indent="0">
              <a:buNone/>
            </a:pPr>
            <a:r>
              <a:rPr lang="en-US" sz="1250" i="1" dirty="0">
                <a:solidFill>
                  <a:srgbClr val="C0392B"/>
                </a:solidFill>
                <a:latin typeface="Calibri" pitchFamily="34" charset="0"/>
                <a:ea typeface="Calibri" pitchFamily="34" charset="-122"/>
                <a:cs typeface="Calibri" pitchFamily="34" charset="-120"/>
              </a:rPr>
              <a:t>The Safe-Dignity Seeker</a:t>
            </a:r>
            <a:endParaRPr lang="en-US" sz="1250" dirty="0"/>
          </a:p>
        </p:txBody>
      </p:sp>
      <p:sp>
        <p:nvSpPr>
          <p:cNvPr id="34" name="Text 29"/>
          <p:cNvSpPr/>
          <p:nvPr/>
        </p:nvSpPr>
        <p:spPr>
          <a:xfrm>
            <a:off x="8357616" y="2651760"/>
            <a:ext cx="3008376" cy="914400"/>
          </a:xfrm>
          <a:prstGeom prst="rect">
            <a:avLst/>
          </a:prstGeom>
          <a:noFill/>
          <a:ln/>
        </p:spPr>
        <p:txBody>
          <a:bodyPr wrap="square" lIns="0" tIns="0" rIns="0" bIns="0" rtlCol="0" anchor="t"/>
          <a:lstStyle/>
          <a:p>
            <a:pPr marL="0" indent="0">
              <a:lnSpc>
                <a:spcPct val="106000"/>
              </a:lnSpc>
              <a:buNone/>
            </a:pPr>
            <a:r>
              <a:rPr lang="en-US" sz="1100" dirty="0">
                <a:solidFill>
                  <a:srgbClr val="55617A"/>
                </a:solidFill>
                <a:latin typeface="Calibri" pitchFamily="34" charset="0"/>
                <a:ea typeface="Calibri" pitchFamily="34" charset="-122"/>
                <a:cs typeface="Calibri" pitchFamily="34" charset="-120"/>
              </a:rPr>
              <a:t>Resells to fund upgrades; surfaces platform buyer-bias and acute safety concerns buyers never raise.</a:t>
            </a:r>
            <a:endParaRPr lang="en-US" sz="1100" dirty="0"/>
          </a:p>
        </p:txBody>
      </p:sp>
      <p:sp>
        <p:nvSpPr>
          <p:cNvPr id="35" name="Text 30"/>
          <p:cNvSpPr/>
          <p:nvPr/>
        </p:nvSpPr>
        <p:spPr>
          <a:xfrm>
            <a:off x="8357616" y="3566160"/>
            <a:ext cx="3008376" cy="566928"/>
          </a:xfrm>
          <a:prstGeom prst="rect">
            <a:avLst/>
          </a:prstGeom>
          <a:noFill/>
          <a:ln/>
        </p:spPr>
        <p:txBody>
          <a:bodyPr wrap="square" lIns="0" tIns="0" rIns="0" bIns="0" rtlCol="0" anchor="t"/>
          <a:lstStyle/>
          <a:p>
            <a:pPr marL="0" indent="0">
              <a:lnSpc>
                <a:spcPct val="103000"/>
              </a:lnSpc>
              <a:buNone/>
            </a:pPr>
            <a:r>
              <a:rPr lang="en-US" sz="1000" i="1" dirty="0">
                <a:solidFill>
                  <a:srgbClr val="1B2A4A"/>
                </a:solidFill>
                <a:latin typeface="Calibri" pitchFamily="34" charset="0"/>
                <a:ea typeface="Calibri" pitchFamily="34" charset="-122"/>
                <a:cs typeface="Calibri" pitchFamily="34" charset="-120"/>
              </a:rPr>
              <a:t>“Buyers should visit the platform’s location, not the seller’s residence.”</a:t>
            </a:r>
            <a:endParaRPr lang="en-US" sz="1000" dirty="0"/>
          </a:p>
        </p:txBody>
      </p:sp>
      <p:sp>
        <p:nvSpPr>
          <p:cNvPr id="36" name="Shape 31"/>
          <p:cNvSpPr/>
          <p:nvPr/>
        </p:nvSpPr>
        <p:spPr>
          <a:xfrm>
            <a:off x="10753344" y="1627632"/>
            <a:ext cx="676656" cy="219456"/>
          </a:xfrm>
          <a:prstGeom prst="roundRect">
            <a:avLst>
              <a:gd name="adj" fmla="val 16667"/>
            </a:avLst>
          </a:prstGeom>
          <a:solidFill>
            <a:srgbClr val="E5EDFC"/>
          </a:solidFill>
          <a:ln/>
        </p:spPr>
        <p:txBody>
          <a:bodyPr/>
          <a:lstStyle/>
          <a:p>
            <a:endParaRPr lang="en-IN"/>
          </a:p>
        </p:txBody>
      </p:sp>
      <p:sp>
        <p:nvSpPr>
          <p:cNvPr id="37" name="Text 32"/>
          <p:cNvSpPr/>
          <p:nvPr/>
        </p:nvSpPr>
        <p:spPr>
          <a:xfrm>
            <a:off x="10753344" y="1627632"/>
            <a:ext cx="676656" cy="219456"/>
          </a:xfrm>
          <a:prstGeom prst="rect">
            <a:avLst/>
          </a:prstGeom>
          <a:noFill/>
          <a:ln/>
        </p:spPr>
        <p:txBody>
          <a:bodyPr wrap="square" lIns="0" tIns="0" rIns="0" bIns="0" rtlCol="0" anchor="ctr"/>
          <a:lstStyle/>
          <a:p>
            <a:pPr marL="0" indent="0" algn="ctr">
              <a:buNone/>
            </a:pPr>
            <a:r>
              <a:rPr lang="en-US" sz="800" b="1" dirty="0">
                <a:solidFill>
                  <a:srgbClr val="2563EB"/>
                </a:solidFill>
                <a:latin typeface="Trebuchet MS" pitchFamily="34" charset="0"/>
                <a:ea typeface="Trebuchet MS" pitchFamily="34" charset="-122"/>
                <a:cs typeface="Trebuchet MS" pitchFamily="34" charset="-120"/>
              </a:rPr>
              <a:t>REAL</a:t>
            </a:r>
            <a:endParaRPr lang="en-US" sz="800" dirty="0"/>
          </a:p>
        </p:txBody>
      </p:sp>
      <p:sp>
        <p:nvSpPr>
          <p:cNvPr id="38" name="Shape 33"/>
          <p:cNvSpPr/>
          <p:nvPr/>
        </p:nvSpPr>
        <p:spPr>
          <a:xfrm>
            <a:off x="566928" y="4526280"/>
            <a:ext cx="11057839" cy="1691640"/>
          </a:xfrm>
          <a:prstGeom prst="roundRect">
            <a:avLst>
              <a:gd name="adj" fmla="val 3243"/>
            </a:avLst>
          </a:prstGeom>
          <a:solidFill>
            <a:srgbClr val="1B2A4A"/>
          </a:solidFill>
          <a:ln/>
        </p:spPr>
        <p:txBody>
          <a:bodyPr/>
          <a:lstStyle/>
          <a:p>
            <a:endParaRPr lang="en-IN"/>
          </a:p>
        </p:txBody>
      </p:sp>
      <p:sp>
        <p:nvSpPr>
          <p:cNvPr id="39" name="Text 34"/>
          <p:cNvSpPr/>
          <p:nvPr/>
        </p:nvSpPr>
        <p:spPr>
          <a:xfrm>
            <a:off x="877824" y="4709160"/>
            <a:ext cx="3657600" cy="274320"/>
          </a:xfrm>
          <a:prstGeom prst="rect">
            <a:avLst/>
          </a:prstGeom>
          <a:noFill/>
          <a:ln/>
        </p:spPr>
        <p:txBody>
          <a:bodyPr wrap="square" lIns="0" tIns="0" rIns="0" bIns="0" rtlCol="0" anchor="ctr"/>
          <a:lstStyle/>
          <a:p>
            <a:pPr marL="0" indent="0">
              <a:buNone/>
            </a:pPr>
            <a:r>
              <a:rPr lang="en-US" sz="1100" b="1" kern="0" spc="200" dirty="0">
                <a:solidFill>
                  <a:srgbClr val="CBD8EC"/>
                </a:solidFill>
                <a:latin typeface="Trebuchet MS" pitchFamily="34" charset="0"/>
                <a:ea typeface="Trebuchet MS" pitchFamily="34" charset="-122"/>
                <a:cs typeface="Trebuchet MS" pitchFamily="34" charset="-120"/>
              </a:rPr>
              <a:t>METHODOLOGY</a:t>
            </a:r>
            <a:endParaRPr lang="en-US" sz="1100" dirty="0"/>
          </a:p>
        </p:txBody>
      </p:sp>
      <p:sp>
        <p:nvSpPr>
          <p:cNvPr id="40" name="Text 35"/>
          <p:cNvSpPr/>
          <p:nvPr/>
        </p:nvSpPr>
        <p:spPr>
          <a:xfrm>
            <a:off x="877824" y="5056632"/>
            <a:ext cx="260604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Sample</a:t>
            </a:r>
            <a:endParaRPr lang="en-US" sz="1200" dirty="0"/>
          </a:p>
        </p:txBody>
      </p:sp>
      <p:sp>
        <p:nvSpPr>
          <p:cNvPr id="41" name="Text 36"/>
          <p:cNvSpPr/>
          <p:nvPr/>
        </p:nvSpPr>
        <p:spPr>
          <a:xfrm>
            <a:off x="877824" y="5330952"/>
            <a:ext cx="2606040" cy="822960"/>
          </a:xfrm>
          <a:prstGeom prst="rect">
            <a:avLst/>
          </a:prstGeom>
          <a:noFill/>
          <a:ln/>
        </p:spPr>
        <p:txBody>
          <a:bodyPr wrap="square" lIns="0" tIns="0" rIns="0" bIns="0" rtlCol="0" anchor="t"/>
          <a:lstStyle/>
          <a:p>
            <a:pPr marL="0" indent="0">
              <a:lnSpc>
                <a:spcPct val="105000"/>
              </a:lnSpc>
              <a:buNone/>
            </a:pPr>
            <a:r>
              <a:rPr lang="en-US" sz="1000" dirty="0">
                <a:solidFill>
                  <a:srgbClr val="CBD8EC"/>
                </a:solidFill>
                <a:latin typeface="Calibri" pitchFamily="34" charset="0"/>
                <a:ea typeface="Calibri" pitchFamily="34" charset="-122"/>
                <a:cs typeface="Calibri" pitchFamily="34" charset="-120"/>
              </a:rPr>
              <a:t>3 real interviews (2 buyers + 1 seller), extended by 6 AI-synthesized adjacent respondents</a:t>
            </a:r>
            <a:endParaRPr lang="en-US" sz="1000" dirty="0"/>
          </a:p>
        </p:txBody>
      </p:sp>
      <p:sp>
        <p:nvSpPr>
          <p:cNvPr id="42" name="Text 37"/>
          <p:cNvSpPr/>
          <p:nvPr/>
        </p:nvSpPr>
        <p:spPr>
          <a:xfrm>
            <a:off x="3666744" y="5056632"/>
            <a:ext cx="260604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Method</a:t>
            </a:r>
            <a:endParaRPr lang="en-US" sz="1200" dirty="0"/>
          </a:p>
        </p:txBody>
      </p:sp>
      <p:sp>
        <p:nvSpPr>
          <p:cNvPr id="43" name="Text 38"/>
          <p:cNvSpPr/>
          <p:nvPr/>
        </p:nvSpPr>
        <p:spPr>
          <a:xfrm>
            <a:off x="3666744" y="5330952"/>
            <a:ext cx="2606040" cy="822960"/>
          </a:xfrm>
          <a:prstGeom prst="rect">
            <a:avLst/>
          </a:prstGeom>
          <a:noFill/>
          <a:ln/>
        </p:spPr>
        <p:txBody>
          <a:bodyPr wrap="square" lIns="0" tIns="0" rIns="0" bIns="0" rtlCol="0" anchor="t"/>
          <a:lstStyle/>
          <a:p>
            <a:pPr marL="0" indent="0">
              <a:lnSpc>
                <a:spcPct val="105000"/>
              </a:lnSpc>
              <a:buNone/>
            </a:pPr>
            <a:r>
              <a:rPr lang="en-US" sz="1000" dirty="0">
                <a:solidFill>
                  <a:srgbClr val="CBD8EC"/>
                </a:solidFill>
                <a:latin typeface="Calibri" pitchFamily="34" charset="0"/>
                <a:ea typeface="Calibri" pitchFamily="34" charset="-122"/>
                <a:cs typeface="Calibri" pitchFamily="34" charset="-120"/>
              </a:rPr>
              <a:t>15-min structured interview, 8-section guide; every statement tagged explicit vs. implicit</a:t>
            </a:r>
            <a:endParaRPr lang="en-US" sz="1000" dirty="0"/>
          </a:p>
        </p:txBody>
      </p:sp>
      <p:sp>
        <p:nvSpPr>
          <p:cNvPr id="44" name="Text 39"/>
          <p:cNvSpPr/>
          <p:nvPr/>
        </p:nvSpPr>
        <p:spPr>
          <a:xfrm>
            <a:off x="6455664" y="5056632"/>
            <a:ext cx="260604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Guardrail</a:t>
            </a:r>
            <a:endParaRPr lang="en-US" sz="1200" dirty="0"/>
          </a:p>
        </p:txBody>
      </p:sp>
      <p:sp>
        <p:nvSpPr>
          <p:cNvPr id="45" name="Text 40"/>
          <p:cNvSpPr/>
          <p:nvPr/>
        </p:nvSpPr>
        <p:spPr>
          <a:xfrm>
            <a:off x="6455664" y="5330952"/>
            <a:ext cx="2606040" cy="822960"/>
          </a:xfrm>
          <a:prstGeom prst="rect">
            <a:avLst/>
          </a:prstGeom>
          <a:noFill/>
          <a:ln/>
        </p:spPr>
        <p:txBody>
          <a:bodyPr wrap="square" lIns="0" tIns="0" rIns="0" bIns="0" rtlCol="0" anchor="t"/>
          <a:lstStyle/>
          <a:p>
            <a:pPr marL="0" indent="0">
              <a:lnSpc>
                <a:spcPct val="105000"/>
              </a:lnSpc>
              <a:buNone/>
            </a:pPr>
            <a:r>
              <a:rPr lang="en-US" sz="1000" dirty="0">
                <a:solidFill>
                  <a:srgbClr val="CBD8EC"/>
                </a:solidFill>
                <a:latin typeface="Calibri" pitchFamily="34" charset="0"/>
                <a:ea typeface="Calibri" pitchFamily="34" charset="-122"/>
                <a:cs typeface="Calibri" pitchFamily="34" charset="-120"/>
              </a:rPr>
              <a:t>Real findings are authoritative; synthetic evidence extends, never validated as fact</a:t>
            </a:r>
            <a:endParaRPr lang="en-US" sz="1000" dirty="0"/>
          </a:p>
        </p:txBody>
      </p:sp>
      <p:sp>
        <p:nvSpPr>
          <p:cNvPr id="46" name="Text 41"/>
          <p:cNvSpPr/>
          <p:nvPr/>
        </p:nvSpPr>
        <p:spPr>
          <a:xfrm>
            <a:off x="9244584" y="5056632"/>
            <a:ext cx="260604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Question areas</a:t>
            </a:r>
            <a:endParaRPr lang="en-US" sz="1200" dirty="0"/>
          </a:p>
        </p:txBody>
      </p:sp>
      <p:sp>
        <p:nvSpPr>
          <p:cNvPr id="47" name="Text 42"/>
          <p:cNvSpPr/>
          <p:nvPr/>
        </p:nvSpPr>
        <p:spPr>
          <a:xfrm>
            <a:off x="9244584" y="5330952"/>
            <a:ext cx="2606040" cy="822960"/>
          </a:xfrm>
          <a:prstGeom prst="rect">
            <a:avLst/>
          </a:prstGeom>
          <a:noFill/>
          <a:ln/>
        </p:spPr>
        <p:txBody>
          <a:bodyPr wrap="square" lIns="0" tIns="0" rIns="0" bIns="0" rtlCol="0" anchor="t"/>
          <a:lstStyle/>
          <a:p>
            <a:pPr marL="0" indent="0">
              <a:lnSpc>
                <a:spcPct val="105000"/>
              </a:lnSpc>
              <a:buNone/>
            </a:pPr>
            <a:r>
              <a:rPr lang="en-US" sz="1000" dirty="0">
                <a:solidFill>
                  <a:srgbClr val="CBD8EC"/>
                </a:solidFill>
                <a:latin typeface="Calibri" pitchFamily="34" charset="0"/>
                <a:ea typeface="Calibri" pitchFamily="34" charset="-122"/>
                <a:cs typeface="Calibri" pitchFamily="34" charset="-120"/>
              </a:rPr>
              <a:t>Upgrade &amp; ownership · resale (both sides) · trust barriers · digital maturity · willingness to pay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buNone/>
            </a:pPr>
            <a:r>
              <a:rPr lang="en-US" sz="1150" b="1" kern="0" spc="200" dirty="0">
                <a:solidFill>
                  <a:srgbClr val="0E7C7B"/>
                </a:solidFill>
                <a:latin typeface="Trebuchet MS" pitchFamily="34" charset="0"/>
                <a:ea typeface="Trebuchet MS" pitchFamily="34" charset="-122"/>
                <a:cs typeface="Trebuchet MS" pitchFamily="34" charset="-120"/>
              </a:rPr>
              <a:t>SEGMENTATION</a:t>
            </a:r>
            <a:endParaRPr lang="en-US" sz="1150" dirty="0"/>
          </a:p>
        </p:txBody>
      </p:sp>
      <p:sp>
        <p:nvSpPr>
          <p:cNvPr id="3" name="Text 1"/>
          <p:cNvSpPr/>
          <p:nvPr/>
        </p:nvSpPr>
        <p:spPr>
          <a:xfrm>
            <a:off x="566928" y="658368"/>
            <a:ext cx="11057839" cy="603504"/>
          </a:xfrm>
          <a:prstGeom prst="rect">
            <a:avLst/>
          </a:prstGeom>
          <a:noFill/>
          <a:ln/>
        </p:spPr>
        <p:txBody>
          <a:bodyPr wrap="square" lIns="0" tIns="0" rIns="0" bIns="0" rtlCol="0" anchor="ctr"/>
          <a:lstStyle/>
          <a:p>
            <a:pPr marL="0" indent="0">
              <a:buNone/>
            </a:pPr>
            <a:r>
              <a:rPr lang="en-US" sz="2700" b="1" dirty="0">
                <a:solidFill>
                  <a:srgbClr val="1B2A4A"/>
                </a:solidFill>
                <a:latin typeface="Georgia" pitchFamily="34" charset="0"/>
                <a:ea typeface="Georgia" pitchFamily="34" charset="-122"/>
                <a:cs typeface="Georgia" pitchFamily="34" charset="-120"/>
              </a:rPr>
              <a:t>From Many Segments to One Sharp Persona</a:t>
            </a:r>
            <a:endParaRPr lang="en-US" sz="2700" dirty="0"/>
          </a:p>
        </p:txBody>
      </p:sp>
      <p:sp>
        <p:nvSpPr>
          <p:cNvPr id="4" name="Shape 2"/>
          <p:cNvSpPr/>
          <p:nvPr/>
        </p:nvSpPr>
        <p:spPr>
          <a:xfrm>
            <a:off x="566928" y="6437376"/>
            <a:ext cx="11057839" cy="0"/>
          </a:xfrm>
          <a:prstGeom prst="line">
            <a:avLst/>
          </a:prstGeom>
          <a:noFill/>
          <a:ln w="12700">
            <a:solidFill>
              <a:srgbClr val="E3E8F0"/>
            </a:solidFill>
            <a:prstDash val="solid"/>
          </a:ln>
        </p:spPr>
        <p:txBody>
          <a:bodyPr/>
          <a:lstStyle/>
          <a:p>
            <a:endParaRPr lang="en-IN"/>
          </a:p>
        </p:txBody>
      </p:sp>
      <p:sp>
        <p:nvSpPr>
          <p:cNvPr id="5" name="Text 3"/>
          <p:cNvSpPr/>
          <p:nvPr/>
        </p:nvSpPr>
        <p:spPr>
          <a:xfrm>
            <a:off x="566928" y="6473952"/>
            <a:ext cx="6400800" cy="274320"/>
          </a:xfrm>
          <a:prstGeom prst="rect">
            <a:avLst/>
          </a:prstGeom>
          <a:noFill/>
          <a:ln/>
        </p:spPr>
        <p:txBody>
          <a:bodyPr wrap="square" lIns="0" tIns="0" rIns="0" bIns="0" rtlCol="0" anchor="ctr"/>
          <a:lstStyle/>
          <a:p>
            <a:pPr marL="0" indent="0">
              <a:buNone/>
            </a:pPr>
            <a:r>
              <a:rPr lang="en-US" sz="850" kern="0" spc="100" dirty="0">
                <a:solidFill>
                  <a:srgbClr val="8A97AD"/>
                </a:solidFill>
                <a:latin typeface="Trebuchet MS" pitchFamily="34" charset="0"/>
                <a:ea typeface="Trebuchet MS" pitchFamily="34" charset="-122"/>
                <a:cs typeface="Trebuchet MS" pitchFamily="34" charset="-120"/>
              </a:rPr>
              <a:t>CertiBuy  ·  Assignment 1</a:t>
            </a:r>
            <a:endParaRPr lang="en-US" sz="850" dirty="0"/>
          </a:p>
        </p:txBody>
      </p:sp>
      <p:sp>
        <p:nvSpPr>
          <p:cNvPr id="6" name="Text 4"/>
          <p:cNvSpPr/>
          <p:nvPr/>
        </p:nvSpPr>
        <p:spPr>
          <a:xfrm>
            <a:off x="4675327" y="6473952"/>
            <a:ext cx="6583680" cy="274320"/>
          </a:xfrm>
          <a:prstGeom prst="rect">
            <a:avLst/>
          </a:prstGeom>
          <a:noFill/>
          <a:ln/>
        </p:spPr>
        <p:txBody>
          <a:bodyPr wrap="square" lIns="0" tIns="0" rIns="0" bIns="0" rtlCol="0" anchor="ctr"/>
          <a:lstStyle/>
          <a:p>
            <a:pPr marL="0" indent="0" algn="r">
              <a:buNone/>
            </a:pPr>
            <a:r>
              <a:rPr lang="en-US" sz="850" dirty="0">
                <a:solidFill>
                  <a:srgbClr val="8A97AD"/>
                </a:solidFill>
                <a:latin typeface="Trebuchet MS" pitchFamily="34" charset="0"/>
                <a:ea typeface="Trebuchet MS" pitchFamily="34" charset="-122"/>
                <a:cs typeface="Trebuchet MS" pitchFamily="34" charset="-120"/>
              </a:rPr>
              <a:t>IITM Pravartak  ·  AI-Powered Product Design &amp; Management  ·  Batch 2 · Group 16</a:t>
            </a:r>
            <a:endParaRPr lang="en-US" sz="850" dirty="0"/>
          </a:p>
        </p:txBody>
      </p:sp>
      <p:sp>
        <p:nvSpPr>
          <p:cNvPr id="7" name="Text 5"/>
          <p:cNvSpPr/>
          <p:nvPr/>
        </p:nvSpPr>
        <p:spPr>
          <a:xfrm>
            <a:off x="11259007" y="6473952"/>
            <a:ext cx="365760" cy="274320"/>
          </a:xfrm>
          <a:prstGeom prst="rect">
            <a:avLst/>
          </a:prstGeom>
          <a:noFill/>
          <a:ln/>
        </p:spPr>
        <p:txBody>
          <a:bodyPr wrap="square" lIns="0" tIns="0" rIns="0" bIns="0" rtlCol="0" anchor="ctr"/>
          <a:lstStyle/>
          <a:p>
            <a:pPr marL="0" indent="0" algn="r">
              <a:buNone/>
            </a:pPr>
            <a:r>
              <a:rPr lang="en-US" sz="850" b="1" dirty="0">
                <a:solidFill>
                  <a:srgbClr val="8A97AD"/>
                </a:solidFill>
                <a:latin typeface="Trebuchet MS" pitchFamily="34" charset="0"/>
                <a:ea typeface="Trebuchet MS" pitchFamily="34" charset="-122"/>
                <a:cs typeface="Trebuchet MS" pitchFamily="34" charset="-120"/>
              </a:rPr>
              <a:t>04</a:t>
            </a:r>
            <a:endParaRPr lang="en-US" sz="850" dirty="0"/>
          </a:p>
        </p:txBody>
      </p:sp>
      <p:sp>
        <p:nvSpPr>
          <p:cNvPr id="8" name="Text 6"/>
          <p:cNvSpPr/>
          <p:nvPr/>
        </p:nvSpPr>
        <p:spPr>
          <a:xfrm>
            <a:off x="566928" y="1371600"/>
            <a:ext cx="11057839" cy="548640"/>
          </a:xfrm>
          <a:prstGeom prst="rect">
            <a:avLst/>
          </a:prstGeom>
          <a:noFill/>
          <a:ln/>
        </p:spPr>
        <p:txBody>
          <a:bodyPr wrap="square" lIns="0" tIns="0" rIns="0" bIns="0" rtlCol="0" anchor="t"/>
          <a:lstStyle/>
          <a:p>
            <a:pPr marL="0" indent="0">
              <a:lnSpc>
                <a:spcPct val="108000"/>
              </a:lnSpc>
              <a:buNone/>
            </a:pPr>
            <a:r>
              <a:rPr lang="en-US" sz="1250" dirty="0">
                <a:solidFill>
                  <a:srgbClr val="1B2A4A"/>
                </a:solidFill>
                <a:latin typeface="Calibri" pitchFamily="34" charset="0"/>
                <a:ea typeface="Calibri" pitchFamily="34" charset="-122"/>
                <a:cs typeface="Calibri" pitchFamily="34" charset="-120"/>
              </a:rPr>
              <a:t>We segmented on behaviour, need and psychographics — not demographics alone — then narrowed to the two launch personas whose pairing creates the healthiest initial marketplace, and consolidated them into one trust-gated archetype.</a:t>
            </a:r>
            <a:endParaRPr lang="en-US" sz="1250" dirty="0"/>
          </a:p>
        </p:txBody>
      </p:sp>
      <p:sp>
        <p:nvSpPr>
          <p:cNvPr id="9" name="Shape 7"/>
          <p:cNvSpPr/>
          <p:nvPr/>
        </p:nvSpPr>
        <p:spPr>
          <a:xfrm>
            <a:off x="883768" y="2103120"/>
            <a:ext cx="10424160" cy="841248"/>
          </a:xfrm>
          <a:prstGeom prst="roundRect">
            <a:avLst>
              <a:gd name="adj" fmla="val 6522"/>
            </a:avLst>
          </a:prstGeom>
          <a:solidFill>
            <a:srgbClr val="2A4068"/>
          </a:solidFill>
          <a:ln/>
          <a:effectLst>
            <a:outerShdw blurRad="88900" dist="25400" dir="5400000" algn="bl" rotWithShape="0">
              <a:srgbClr val="8A86A8">
                <a:alpha val="20000"/>
              </a:srgbClr>
            </a:outerShdw>
          </a:effectLst>
        </p:spPr>
        <p:txBody>
          <a:bodyPr/>
          <a:lstStyle/>
          <a:p>
            <a:endParaRPr lang="en-IN"/>
          </a:p>
        </p:txBody>
      </p:sp>
      <p:sp>
        <p:nvSpPr>
          <p:cNvPr id="10" name="Text 8"/>
          <p:cNvSpPr/>
          <p:nvPr/>
        </p:nvSpPr>
        <p:spPr>
          <a:xfrm>
            <a:off x="1158088" y="2221992"/>
            <a:ext cx="9875520" cy="274320"/>
          </a:xfrm>
          <a:prstGeom prst="rect">
            <a:avLst/>
          </a:prstGeom>
          <a:noFill/>
          <a:ln/>
        </p:spPr>
        <p:txBody>
          <a:bodyPr wrap="square" lIns="0" tIns="0" rIns="0" bIns="0" rtlCol="0" anchor="ctr"/>
          <a:lstStyle/>
          <a:p>
            <a:pPr marL="0" indent="0">
              <a:buNone/>
            </a:pPr>
            <a:r>
              <a:rPr lang="en-US" sz="1150" b="1" kern="0" spc="150" dirty="0">
                <a:solidFill>
                  <a:srgbClr val="CBD8EC"/>
                </a:solidFill>
                <a:latin typeface="Trebuchet MS" pitchFamily="34" charset="0"/>
                <a:ea typeface="Trebuchet MS" pitchFamily="34" charset="-122"/>
                <a:cs typeface="Trebuchet MS" pitchFamily="34" charset="-120"/>
              </a:rPr>
              <a:t>BEHAVIOURAL SEGMENTS</a:t>
            </a:r>
            <a:endParaRPr lang="en-US" sz="1150" dirty="0"/>
          </a:p>
        </p:txBody>
      </p:sp>
      <p:sp>
        <p:nvSpPr>
          <p:cNvPr id="11" name="Text 9"/>
          <p:cNvSpPr/>
          <p:nvPr/>
        </p:nvSpPr>
        <p:spPr>
          <a:xfrm>
            <a:off x="1158088" y="2505456"/>
            <a:ext cx="9875520" cy="36576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Frequent upgraders · Bargain-sensitive buyers · Convenience-first sellers · Trust-sensitive buyers · Urgent liquidators</a:t>
            </a:r>
            <a:endParaRPr lang="en-US" sz="1150" dirty="0"/>
          </a:p>
        </p:txBody>
      </p:sp>
      <p:sp>
        <p:nvSpPr>
          <p:cNvPr id="12" name="Text 10"/>
          <p:cNvSpPr/>
          <p:nvPr/>
        </p:nvSpPr>
        <p:spPr>
          <a:xfrm>
            <a:off x="5821528" y="2944368"/>
            <a:ext cx="548640" cy="256032"/>
          </a:xfrm>
          <a:prstGeom prst="rect">
            <a:avLst/>
          </a:prstGeom>
          <a:noFill/>
          <a:ln/>
        </p:spPr>
        <p:txBody>
          <a:bodyPr wrap="square" lIns="0" tIns="0" rIns="0" bIns="0" rtlCol="0" anchor="ctr"/>
          <a:lstStyle/>
          <a:p>
            <a:pPr marL="0" indent="0" algn="ctr">
              <a:buNone/>
            </a:pPr>
            <a:r>
              <a:rPr lang="en-US" sz="1400" dirty="0">
                <a:solidFill>
                  <a:srgbClr val="8A97AD"/>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2163928" y="3273552"/>
            <a:ext cx="7863840" cy="841248"/>
          </a:xfrm>
          <a:prstGeom prst="roundRect">
            <a:avLst>
              <a:gd name="adj" fmla="val 6522"/>
            </a:avLst>
          </a:prstGeom>
          <a:solidFill>
            <a:srgbClr val="0E7C7B"/>
          </a:solidFill>
          <a:ln/>
          <a:effectLst>
            <a:outerShdw blurRad="88900" dist="25400" dir="5400000" algn="bl" rotWithShape="0">
              <a:srgbClr val="8A86A8">
                <a:alpha val="20000"/>
              </a:srgbClr>
            </a:outerShdw>
          </a:effectLst>
        </p:spPr>
        <p:txBody>
          <a:bodyPr/>
          <a:lstStyle/>
          <a:p>
            <a:endParaRPr lang="en-IN"/>
          </a:p>
        </p:txBody>
      </p:sp>
      <p:sp>
        <p:nvSpPr>
          <p:cNvPr id="14" name="Text 12"/>
          <p:cNvSpPr/>
          <p:nvPr/>
        </p:nvSpPr>
        <p:spPr>
          <a:xfrm>
            <a:off x="2438248" y="3392424"/>
            <a:ext cx="7315200" cy="274320"/>
          </a:xfrm>
          <a:prstGeom prst="rect">
            <a:avLst/>
          </a:prstGeom>
          <a:noFill/>
          <a:ln/>
        </p:spPr>
        <p:txBody>
          <a:bodyPr wrap="square" lIns="0" tIns="0" rIns="0" bIns="0" rtlCol="0" anchor="ctr"/>
          <a:lstStyle/>
          <a:p>
            <a:pPr marL="0" indent="0">
              <a:buNone/>
            </a:pPr>
            <a:r>
              <a:rPr lang="en-US" sz="1150" b="1" kern="0" spc="150" dirty="0">
                <a:solidFill>
                  <a:srgbClr val="CBD8EC"/>
                </a:solidFill>
                <a:latin typeface="Trebuchet MS" pitchFamily="34" charset="0"/>
                <a:ea typeface="Trebuchet MS" pitchFamily="34" charset="-122"/>
                <a:cs typeface="Trebuchet MS" pitchFamily="34" charset="-120"/>
              </a:rPr>
              <a:t>TWO LAUNCH PERSONAS</a:t>
            </a:r>
            <a:endParaRPr lang="en-US" sz="1150" dirty="0"/>
          </a:p>
        </p:txBody>
      </p:sp>
      <p:sp>
        <p:nvSpPr>
          <p:cNvPr id="15" name="Text 13"/>
          <p:cNvSpPr/>
          <p:nvPr/>
        </p:nvSpPr>
        <p:spPr>
          <a:xfrm>
            <a:off x="2438248" y="3675888"/>
            <a:ext cx="7315200" cy="36576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Urban Tech Upgrader  (premium supply)      +      Smart Budget Buyer  (trust-sensitive demand)</a:t>
            </a:r>
            <a:endParaRPr lang="en-US" sz="1150" dirty="0"/>
          </a:p>
        </p:txBody>
      </p:sp>
      <p:sp>
        <p:nvSpPr>
          <p:cNvPr id="16" name="Text 14"/>
          <p:cNvSpPr/>
          <p:nvPr/>
        </p:nvSpPr>
        <p:spPr>
          <a:xfrm>
            <a:off x="5821528" y="4114800"/>
            <a:ext cx="548640" cy="256032"/>
          </a:xfrm>
          <a:prstGeom prst="rect">
            <a:avLst/>
          </a:prstGeom>
          <a:noFill/>
          <a:ln/>
        </p:spPr>
        <p:txBody>
          <a:bodyPr wrap="square" lIns="0" tIns="0" rIns="0" bIns="0" rtlCol="0" anchor="ctr"/>
          <a:lstStyle/>
          <a:p>
            <a:pPr marL="0" indent="0" algn="ctr">
              <a:buNone/>
            </a:pPr>
            <a:r>
              <a:rPr lang="en-US" sz="1400" dirty="0">
                <a:solidFill>
                  <a:srgbClr val="8A97AD"/>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3444088" y="4443984"/>
            <a:ext cx="5303520" cy="841248"/>
          </a:xfrm>
          <a:prstGeom prst="roundRect">
            <a:avLst>
              <a:gd name="adj" fmla="val 6522"/>
            </a:avLst>
          </a:prstGeom>
          <a:solidFill>
            <a:srgbClr val="1B2A4A"/>
          </a:solidFill>
          <a:ln/>
          <a:effectLst>
            <a:outerShdw blurRad="88900" dist="25400" dir="5400000" algn="bl" rotWithShape="0">
              <a:srgbClr val="8A86A8">
                <a:alpha val="20000"/>
              </a:srgbClr>
            </a:outerShdw>
          </a:effectLst>
        </p:spPr>
        <p:txBody>
          <a:bodyPr/>
          <a:lstStyle/>
          <a:p>
            <a:endParaRPr lang="en-IN"/>
          </a:p>
        </p:txBody>
      </p:sp>
      <p:sp>
        <p:nvSpPr>
          <p:cNvPr id="18" name="Text 16"/>
          <p:cNvSpPr/>
          <p:nvPr/>
        </p:nvSpPr>
        <p:spPr>
          <a:xfrm>
            <a:off x="3718408" y="4562856"/>
            <a:ext cx="4754880" cy="274320"/>
          </a:xfrm>
          <a:prstGeom prst="rect">
            <a:avLst/>
          </a:prstGeom>
          <a:noFill/>
          <a:ln/>
        </p:spPr>
        <p:txBody>
          <a:bodyPr wrap="square" lIns="0" tIns="0" rIns="0" bIns="0" rtlCol="0" anchor="ctr"/>
          <a:lstStyle/>
          <a:p>
            <a:pPr marL="0" indent="0">
              <a:buNone/>
            </a:pPr>
            <a:r>
              <a:rPr lang="en-US" sz="1150" b="1" kern="0" spc="150" dirty="0">
                <a:solidFill>
                  <a:srgbClr val="CBD8EC"/>
                </a:solidFill>
                <a:latin typeface="Trebuchet MS" pitchFamily="34" charset="0"/>
                <a:ea typeface="Trebuchet MS" pitchFamily="34" charset="-122"/>
                <a:cs typeface="Trebuchet MS" pitchFamily="34" charset="-120"/>
              </a:rPr>
              <a:t>ONE CONSOLIDATED PERSONA</a:t>
            </a:r>
            <a:endParaRPr lang="en-US" sz="1150" dirty="0"/>
          </a:p>
        </p:txBody>
      </p:sp>
      <p:sp>
        <p:nvSpPr>
          <p:cNvPr id="19" name="Text 17"/>
          <p:cNvSpPr/>
          <p:nvPr/>
        </p:nvSpPr>
        <p:spPr>
          <a:xfrm>
            <a:off x="3718408" y="4846320"/>
            <a:ext cx="47548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KIRAN — The Trust-Gated Upgrader  (buyer + seller in one loop)</a:t>
            </a:r>
            <a:endParaRPr lang="en-US" sz="1300" dirty="0"/>
          </a:p>
        </p:txBody>
      </p:sp>
      <p:sp>
        <p:nvSpPr>
          <p:cNvPr id="20" name="Shape 18"/>
          <p:cNvSpPr/>
          <p:nvPr/>
        </p:nvSpPr>
        <p:spPr>
          <a:xfrm>
            <a:off x="566928" y="5669280"/>
            <a:ext cx="3520440" cy="658368"/>
          </a:xfrm>
          <a:prstGeom prst="roundRect">
            <a:avLst>
              <a:gd name="adj" fmla="val 6944"/>
            </a:avLst>
          </a:prstGeom>
          <a:solidFill>
            <a:srgbClr val="F4F6FA"/>
          </a:solidFill>
          <a:ln/>
        </p:spPr>
        <p:txBody>
          <a:bodyPr/>
          <a:lstStyle/>
          <a:p>
            <a:endParaRPr lang="en-IN"/>
          </a:p>
        </p:txBody>
      </p:sp>
      <p:sp>
        <p:nvSpPr>
          <p:cNvPr id="21" name="Shape 19"/>
          <p:cNvSpPr/>
          <p:nvPr/>
        </p:nvSpPr>
        <p:spPr>
          <a:xfrm>
            <a:off x="713232" y="5815584"/>
            <a:ext cx="365760" cy="365760"/>
          </a:xfrm>
          <a:prstGeom prst="ellipse">
            <a:avLst/>
          </a:prstGeom>
          <a:solidFill>
            <a:srgbClr val="E9EEF6"/>
          </a:solidFill>
          <a:ln/>
        </p:spPr>
        <p:txBody>
          <a:bodyPr/>
          <a:lstStyle/>
          <a:p>
            <a:endParaRPr lang="en-IN"/>
          </a:p>
        </p:txBody>
      </p:sp>
      <p:pic>
        <p:nvPicPr>
          <p:cNvPr id="22" name="Image 0" descr="preencoded.png"/>
          <p:cNvPicPr>
            <a:picLocks noChangeAspect="1"/>
          </p:cNvPicPr>
          <p:nvPr/>
        </p:nvPicPr>
        <p:blipFill>
          <a:blip r:embed="rId3"/>
          <a:stretch>
            <a:fillRect/>
          </a:stretch>
        </p:blipFill>
        <p:spPr>
          <a:xfrm>
            <a:off x="801014" y="5903366"/>
            <a:ext cx="190195" cy="190195"/>
          </a:xfrm>
          <a:prstGeom prst="rect">
            <a:avLst/>
          </a:prstGeom>
        </p:spPr>
      </p:pic>
      <p:sp>
        <p:nvSpPr>
          <p:cNvPr id="23" name="Text 20"/>
          <p:cNvSpPr/>
          <p:nvPr/>
        </p:nvSpPr>
        <p:spPr>
          <a:xfrm>
            <a:off x="1170432" y="5669280"/>
            <a:ext cx="2788920" cy="658368"/>
          </a:xfrm>
          <a:prstGeom prst="rect">
            <a:avLst/>
          </a:prstGeom>
          <a:noFill/>
          <a:ln/>
        </p:spPr>
        <p:txBody>
          <a:bodyPr wrap="square" lIns="0" tIns="0" rIns="0" bIns="0" rtlCol="0" anchor="ctr"/>
          <a:lstStyle/>
          <a:p>
            <a:pPr marL="0" indent="0">
              <a:lnSpc>
                <a:spcPct val="100000"/>
              </a:lnSpc>
              <a:buNone/>
            </a:pPr>
            <a:r>
              <a:rPr lang="en-US" sz="1050" b="1" dirty="0">
                <a:solidFill>
                  <a:srgbClr val="1B2A4A"/>
                </a:solidFill>
                <a:latin typeface="Calibri" pitchFamily="34" charset="0"/>
                <a:ea typeface="Calibri" pitchFamily="34" charset="-122"/>
                <a:cs typeface="Calibri" pitchFamily="34" charset="-120"/>
              </a:rPr>
              <a:t>MVP categories   </a:t>
            </a:r>
            <a:r>
              <a:rPr lang="en-US" sz="1050" dirty="0">
                <a:solidFill>
                  <a:srgbClr val="55617A"/>
                </a:solidFill>
                <a:latin typeface="Calibri" pitchFamily="34" charset="0"/>
                <a:ea typeface="Calibri" pitchFamily="34" charset="-122"/>
                <a:cs typeface="Calibri" pitchFamily="34" charset="-120"/>
              </a:rPr>
              <a:t>Smartphones · laptops · premium electronics</a:t>
            </a:r>
            <a:endParaRPr lang="en-US" sz="1050" dirty="0"/>
          </a:p>
        </p:txBody>
      </p:sp>
      <p:sp>
        <p:nvSpPr>
          <p:cNvPr id="24" name="Shape 21"/>
          <p:cNvSpPr/>
          <p:nvPr/>
        </p:nvSpPr>
        <p:spPr>
          <a:xfrm>
            <a:off x="4288536" y="5669280"/>
            <a:ext cx="3520440" cy="658368"/>
          </a:xfrm>
          <a:prstGeom prst="roundRect">
            <a:avLst>
              <a:gd name="adj" fmla="val 6944"/>
            </a:avLst>
          </a:prstGeom>
          <a:solidFill>
            <a:srgbClr val="F4F6FA"/>
          </a:solidFill>
          <a:ln/>
        </p:spPr>
        <p:txBody>
          <a:bodyPr/>
          <a:lstStyle/>
          <a:p>
            <a:endParaRPr lang="en-IN"/>
          </a:p>
        </p:txBody>
      </p:sp>
      <p:sp>
        <p:nvSpPr>
          <p:cNvPr id="25" name="Shape 22"/>
          <p:cNvSpPr/>
          <p:nvPr/>
        </p:nvSpPr>
        <p:spPr>
          <a:xfrm>
            <a:off x="4434840" y="5815584"/>
            <a:ext cx="365760" cy="365760"/>
          </a:xfrm>
          <a:prstGeom prst="ellipse">
            <a:avLst/>
          </a:prstGeom>
          <a:solidFill>
            <a:srgbClr val="E9EEF6"/>
          </a:solidFill>
          <a:ln/>
        </p:spPr>
        <p:txBody>
          <a:bodyPr/>
          <a:lstStyle/>
          <a:p>
            <a:endParaRPr lang="en-IN"/>
          </a:p>
        </p:txBody>
      </p:sp>
      <p:pic>
        <p:nvPicPr>
          <p:cNvPr id="26" name="Image 1" descr="preencoded.png"/>
          <p:cNvPicPr>
            <a:picLocks noChangeAspect="1"/>
          </p:cNvPicPr>
          <p:nvPr/>
        </p:nvPicPr>
        <p:blipFill>
          <a:blip r:embed="rId4"/>
          <a:stretch>
            <a:fillRect/>
          </a:stretch>
        </p:blipFill>
        <p:spPr>
          <a:xfrm>
            <a:off x="4522622" y="5903366"/>
            <a:ext cx="190195" cy="190195"/>
          </a:xfrm>
          <a:prstGeom prst="rect">
            <a:avLst/>
          </a:prstGeom>
        </p:spPr>
      </p:pic>
      <p:sp>
        <p:nvSpPr>
          <p:cNvPr id="27" name="Text 23"/>
          <p:cNvSpPr/>
          <p:nvPr/>
        </p:nvSpPr>
        <p:spPr>
          <a:xfrm>
            <a:off x="4892040" y="5669280"/>
            <a:ext cx="2788920" cy="658368"/>
          </a:xfrm>
          <a:prstGeom prst="rect">
            <a:avLst/>
          </a:prstGeom>
          <a:noFill/>
          <a:ln/>
        </p:spPr>
        <p:txBody>
          <a:bodyPr wrap="square" lIns="0" tIns="0" rIns="0" bIns="0" rtlCol="0" anchor="ctr"/>
          <a:lstStyle/>
          <a:p>
            <a:pPr marL="0" indent="0">
              <a:lnSpc>
                <a:spcPct val="100000"/>
              </a:lnSpc>
              <a:buNone/>
            </a:pPr>
            <a:r>
              <a:rPr lang="en-US" sz="1050" b="1" dirty="0">
                <a:solidFill>
                  <a:srgbClr val="1B2A4A"/>
                </a:solidFill>
                <a:latin typeface="Calibri" pitchFamily="34" charset="0"/>
                <a:ea typeface="Calibri" pitchFamily="34" charset="-122"/>
                <a:cs typeface="Calibri" pitchFamily="34" charset="-120"/>
              </a:rPr>
              <a:t>Launch geos   </a:t>
            </a:r>
            <a:r>
              <a:rPr lang="en-US" sz="1050" dirty="0">
                <a:solidFill>
                  <a:srgbClr val="55617A"/>
                </a:solidFill>
                <a:latin typeface="Calibri" pitchFamily="34" charset="0"/>
                <a:ea typeface="Calibri" pitchFamily="34" charset="-122"/>
                <a:cs typeface="Calibri" pitchFamily="34" charset="-120"/>
              </a:rPr>
              <a:t>Bengaluru · Pune · Hyderabad</a:t>
            </a:r>
            <a:endParaRPr lang="en-US" sz="1050" dirty="0"/>
          </a:p>
        </p:txBody>
      </p:sp>
      <p:sp>
        <p:nvSpPr>
          <p:cNvPr id="28" name="Shape 24"/>
          <p:cNvSpPr/>
          <p:nvPr/>
        </p:nvSpPr>
        <p:spPr>
          <a:xfrm>
            <a:off x="8010144" y="5669280"/>
            <a:ext cx="3520440" cy="658368"/>
          </a:xfrm>
          <a:prstGeom prst="roundRect">
            <a:avLst>
              <a:gd name="adj" fmla="val 6944"/>
            </a:avLst>
          </a:prstGeom>
          <a:solidFill>
            <a:srgbClr val="F4F6FA"/>
          </a:solidFill>
          <a:ln/>
        </p:spPr>
        <p:txBody>
          <a:bodyPr/>
          <a:lstStyle/>
          <a:p>
            <a:endParaRPr lang="en-IN"/>
          </a:p>
        </p:txBody>
      </p:sp>
      <p:sp>
        <p:nvSpPr>
          <p:cNvPr id="29" name="Shape 25"/>
          <p:cNvSpPr/>
          <p:nvPr/>
        </p:nvSpPr>
        <p:spPr>
          <a:xfrm>
            <a:off x="8156448" y="5815584"/>
            <a:ext cx="365760" cy="365760"/>
          </a:xfrm>
          <a:prstGeom prst="ellipse">
            <a:avLst/>
          </a:prstGeom>
          <a:solidFill>
            <a:srgbClr val="E9EEF6"/>
          </a:solidFill>
          <a:ln/>
        </p:spPr>
        <p:txBody>
          <a:bodyPr/>
          <a:lstStyle/>
          <a:p>
            <a:endParaRPr lang="en-IN"/>
          </a:p>
        </p:txBody>
      </p:sp>
      <p:pic>
        <p:nvPicPr>
          <p:cNvPr id="30" name="Image 2" descr="preencoded.png"/>
          <p:cNvPicPr>
            <a:picLocks noChangeAspect="1"/>
          </p:cNvPicPr>
          <p:nvPr/>
        </p:nvPicPr>
        <p:blipFill>
          <a:blip r:embed="rId5"/>
          <a:stretch>
            <a:fillRect/>
          </a:stretch>
        </p:blipFill>
        <p:spPr>
          <a:xfrm>
            <a:off x="8244230" y="5903366"/>
            <a:ext cx="190195" cy="190195"/>
          </a:xfrm>
          <a:prstGeom prst="rect">
            <a:avLst/>
          </a:prstGeom>
        </p:spPr>
      </p:pic>
      <p:sp>
        <p:nvSpPr>
          <p:cNvPr id="31" name="Text 26"/>
          <p:cNvSpPr/>
          <p:nvPr/>
        </p:nvSpPr>
        <p:spPr>
          <a:xfrm>
            <a:off x="8613648" y="5669280"/>
            <a:ext cx="2788920" cy="658368"/>
          </a:xfrm>
          <a:prstGeom prst="rect">
            <a:avLst/>
          </a:prstGeom>
          <a:noFill/>
          <a:ln/>
        </p:spPr>
        <p:txBody>
          <a:bodyPr wrap="square" lIns="0" tIns="0" rIns="0" bIns="0" rtlCol="0" anchor="ctr"/>
          <a:lstStyle/>
          <a:p>
            <a:pPr marL="0" indent="0">
              <a:lnSpc>
                <a:spcPct val="100000"/>
              </a:lnSpc>
              <a:buNone/>
            </a:pPr>
            <a:r>
              <a:rPr lang="en-US" sz="1050" b="1" dirty="0">
                <a:solidFill>
                  <a:srgbClr val="1B2A4A"/>
                </a:solidFill>
                <a:latin typeface="Calibri" pitchFamily="34" charset="0"/>
                <a:ea typeface="Calibri" pitchFamily="34" charset="-122"/>
                <a:cs typeface="Calibri" pitchFamily="34" charset="-120"/>
              </a:rPr>
              <a:t>Positioning   </a:t>
            </a:r>
            <a:r>
              <a:rPr lang="en-US" sz="1050" dirty="0">
                <a:solidFill>
                  <a:srgbClr val="55617A"/>
                </a:solidFill>
                <a:latin typeface="Calibri" pitchFamily="34" charset="0"/>
                <a:ea typeface="Calibri" pitchFamily="34" charset="-122"/>
                <a:cs typeface="Calibri" pitchFamily="34" charset="-120"/>
              </a:rPr>
              <a:t>Trust-first recommerce, not generic classifieds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buNone/>
            </a:pPr>
            <a:r>
              <a:rPr lang="en-US" sz="1150" b="1" kern="0" spc="200" dirty="0">
                <a:solidFill>
                  <a:srgbClr val="0E7C7B"/>
                </a:solidFill>
                <a:latin typeface="Trebuchet MS" pitchFamily="34" charset="0"/>
                <a:ea typeface="Trebuchet MS" pitchFamily="34" charset="-122"/>
                <a:cs typeface="Trebuchet MS" pitchFamily="34" charset="-120"/>
              </a:rPr>
              <a:t>AI WORKFLOW</a:t>
            </a:r>
            <a:endParaRPr lang="en-US" sz="1150" dirty="0"/>
          </a:p>
        </p:txBody>
      </p:sp>
      <p:sp>
        <p:nvSpPr>
          <p:cNvPr id="3" name="Text 1"/>
          <p:cNvSpPr/>
          <p:nvPr/>
        </p:nvSpPr>
        <p:spPr>
          <a:xfrm>
            <a:off x="566928" y="658368"/>
            <a:ext cx="11057839" cy="603504"/>
          </a:xfrm>
          <a:prstGeom prst="rect">
            <a:avLst/>
          </a:prstGeom>
          <a:noFill/>
          <a:ln/>
        </p:spPr>
        <p:txBody>
          <a:bodyPr wrap="square" lIns="0" tIns="0" rIns="0" bIns="0" rtlCol="0" anchor="ctr"/>
          <a:lstStyle/>
          <a:p>
            <a:pPr marL="0" indent="0">
              <a:buNone/>
            </a:pPr>
            <a:r>
              <a:rPr lang="en-US" sz="2700" b="1" dirty="0">
                <a:solidFill>
                  <a:srgbClr val="1B2A4A"/>
                </a:solidFill>
                <a:latin typeface="Georgia" pitchFamily="34" charset="0"/>
                <a:ea typeface="Georgia" pitchFamily="34" charset="-122"/>
                <a:cs typeface="Georgia" pitchFamily="34" charset="-120"/>
              </a:rPr>
              <a:t>How AI Turned Transcripts into an Auditable Persona</a:t>
            </a:r>
            <a:endParaRPr lang="en-US" sz="2700" dirty="0"/>
          </a:p>
        </p:txBody>
      </p:sp>
      <p:sp>
        <p:nvSpPr>
          <p:cNvPr id="4" name="Shape 2"/>
          <p:cNvSpPr/>
          <p:nvPr/>
        </p:nvSpPr>
        <p:spPr>
          <a:xfrm>
            <a:off x="566928" y="6437376"/>
            <a:ext cx="11057839" cy="0"/>
          </a:xfrm>
          <a:prstGeom prst="line">
            <a:avLst/>
          </a:prstGeom>
          <a:noFill/>
          <a:ln w="12700">
            <a:solidFill>
              <a:srgbClr val="E3E8F0"/>
            </a:solidFill>
            <a:prstDash val="solid"/>
          </a:ln>
        </p:spPr>
        <p:txBody>
          <a:bodyPr/>
          <a:lstStyle/>
          <a:p>
            <a:endParaRPr lang="en-IN"/>
          </a:p>
        </p:txBody>
      </p:sp>
      <p:sp>
        <p:nvSpPr>
          <p:cNvPr id="5" name="Text 3"/>
          <p:cNvSpPr/>
          <p:nvPr/>
        </p:nvSpPr>
        <p:spPr>
          <a:xfrm>
            <a:off x="566928" y="6473952"/>
            <a:ext cx="6400800" cy="274320"/>
          </a:xfrm>
          <a:prstGeom prst="rect">
            <a:avLst/>
          </a:prstGeom>
          <a:noFill/>
          <a:ln/>
        </p:spPr>
        <p:txBody>
          <a:bodyPr wrap="square" lIns="0" tIns="0" rIns="0" bIns="0" rtlCol="0" anchor="ctr"/>
          <a:lstStyle/>
          <a:p>
            <a:pPr marL="0" indent="0">
              <a:buNone/>
            </a:pPr>
            <a:r>
              <a:rPr lang="en-US" sz="850" kern="0" spc="100" dirty="0">
                <a:solidFill>
                  <a:srgbClr val="8A97AD"/>
                </a:solidFill>
                <a:latin typeface="Trebuchet MS" pitchFamily="34" charset="0"/>
                <a:ea typeface="Trebuchet MS" pitchFamily="34" charset="-122"/>
                <a:cs typeface="Trebuchet MS" pitchFamily="34" charset="-120"/>
              </a:rPr>
              <a:t>CertiBuy  ·  Assignment 1</a:t>
            </a:r>
            <a:endParaRPr lang="en-US" sz="850" dirty="0"/>
          </a:p>
        </p:txBody>
      </p:sp>
      <p:sp>
        <p:nvSpPr>
          <p:cNvPr id="6" name="Text 4"/>
          <p:cNvSpPr/>
          <p:nvPr/>
        </p:nvSpPr>
        <p:spPr>
          <a:xfrm>
            <a:off x="4675327" y="6473952"/>
            <a:ext cx="6583680" cy="274320"/>
          </a:xfrm>
          <a:prstGeom prst="rect">
            <a:avLst/>
          </a:prstGeom>
          <a:noFill/>
          <a:ln/>
        </p:spPr>
        <p:txBody>
          <a:bodyPr wrap="square" lIns="0" tIns="0" rIns="0" bIns="0" rtlCol="0" anchor="ctr"/>
          <a:lstStyle/>
          <a:p>
            <a:pPr marL="0" indent="0" algn="r">
              <a:buNone/>
            </a:pPr>
            <a:r>
              <a:rPr lang="en-US" sz="850" dirty="0">
                <a:solidFill>
                  <a:srgbClr val="8A97AD"/>
                </a:solidFill>
                <a:latin typeface="Trebuchet MS" pitchFamily="34" charset="0"/>
                <a:ea typeface="Trebuchet MS" pitchFamily="34" charset="-122"/>
                <a:cs typeface="Trebuchet MS" pitchFamily="34" charset="-120"/>
              </a:rPr>
              <a:t>IITM Pravartak  ·  AI-Powered Product Design &amp; Management  ·  Batch 2 · Group 16</a:t>
            </a:r>
            <a:endParaRPr lang="en-US" sz="850" dirty="0"/>
          </a:p>
        </p:txBody>
      </p:sp>
      <p:sp>
        <p:nvSpPr>
          <p:cNvPr id="7" name="Text 5"/>
          <p:cNvSpPr/>
          <p:nvPr/>
        </p:nvSpPr>
        <p:spPr>
          <a:xfrm>
            <a:off x="11259007" y="6473952"/>
            <a:ext cx="365760" cy="274320"/>
          </a:xfrm>
          <a:prstGeom prst="rect">
            <a:avLst/>
          </a:prstGeom>
          <a:noFill/>
          <a:ln/>
        </p:spPr>
        <p:txBody>
          <a:bodyPr wrap="square" lIns="0" tIns="0" rIns="0" bIns="0" rtlCol="0" anchor="ctr"/>
          <a:lstStyle/>
          <a:p>
            <a:pPr marL="0" indent="0" algn="r">
              <a:buNone/>
            </a:pPr>
            <a:r>
              <a:rPr lang="en-US" sz="850" b="1" dirty="0">
                <a:solidFill>
                  <a:srgbClr val="8A97AD"/>
                </a:solidFill>
                <a:latin typeface="Trebuchet MS" pitchFamily="34" charset="0"/>
                <a:ea typeface="Trebuchet MS" pitchFamily="34" charset="-122"/>
                <a:cs typeface="Trebuchet MS" pitchFamily="34" charset="-120"/>
              </a:rPr>
              <a:t>05</a:t>
            </a:r>
            <a:endParaRPr lang="en-US" sz="850" dirty="0"/>
          </a:p>
        </p:txBody>
      </p:sp>
      <p:sp>
        <p:nvSpPr>
          <p:cNvPr id="8" name="Shape 6"/>
          <p:cNvSpPr/>
          <p:nvPr/>
        </p:nvSpPr>
        <p:spPr>
          <a:xfrm>
            <a:off x="566928" y="1417320"/>
            <a:ext cx="1828800" cy="3200400"/>
          </a:xfrm>
          <a:prstGeom prst="roundRect">
            <a:avLst>
              <a:gd name="adj" fmla="val 3000"/>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9" name="Text 7"/>
          <p:cNvSpPr/>
          <p:nvPr/>
        </p:nvSpPr>
        <p:spPr>
          <a:xfrm>
            <a:off x="566928" y="1554480"/>
            <a:ext cx="1828800" cy="274320"/>
          </a:xfrm>
          <a:prstGeom prst="rect">
            <a:avLst/>
          </a:prstGeom>
          <a:noFill/>
          <a:ln/>
        </p:spPr>
        <p:txBody>
          <a:bodyPr wrap="square" lIns="0" tIns="0" rIns="0" bIns="0" rtlCol="0" anchor="ctr"/>
          <a:lstStyle/>
          <a:p>
            <a:pPr marL="0" indent="0" algn="ctr">
              <a:buNone/>
            </a:pPr>
            <a:r>
              <a:rPr lang="en-US" sz="1050" b="1" kern="0" spc="150" dirty="0">
                <a:solidFill>
                  <a:srgbClr val="0E7C7B"/>
                </a:solidFill>
                <a:latin typeface="Trebuchet MS" pitchFamily="34" charset="0"/>
                <a:ea typeface="Trebuchet MS" pitchFamily="34" charset="-122"/>
                <a:cs typeface="Trebuchet MS" pitchFamily="34" charset="-120"/>
              </a:rPr>
              <a:t>INPUTS</a:t>
            </a:r>
            <a:endParaRPr lang="en-US" sz="1050" dirty="0"/>
          </a:p>
        </p:txBody>
      </p:sp>
      <p:sp>
        <p:nvSpPr>
          <p:cNvPr id="10" name="Shape 8"/>
          <p:cNvSpPr/>
          <p:nvPr/>
        </p:nvSpPr>
        <p:spPr>
          <a:xfrm>
            <a:off x="749808" y="1938528"/>
            <a:ext cx="1463040" cy="713232"/>
          </a:xfrm>
          <a:prstGeom prst="roundRect">
            <a:avLst>
              <a:gd name="adj" fmla="val 6410"/>
            </a:avLst>
          </a:prstGeom>
          <a:solidFill>
            <a:srgbClr val="FFFFFF"/>
          </a:solidFill>
          <a:ln w="12700">
            <a:solidFill>
              <a:srgbClr val="E3E8F0"/>
            </a:solidFill>
            <a:prstDash val="solid"/>
          </a:ln>
        </p:spPr>
        <p:txBody>
          <a:bodyPr/>
          <a:lstStyle/>
          <a:p>
            <a:endParaRPr lang="en-IN"/>
          </a:p>
        </p:txBody>
      </p:sp>
      <p:sp>
        <p:nvSpPr>
          <p:cNvPr id="11" name="Shape 9"/>
          <p:cNvSpPr/>
          <p:nvPr/>
        </p:nvSpPr>
        <p:spPr>
          <a:xfrm>
            <a:off x="886968" y="2084832"/>
            <a:ext cx="420624" cy="420624"/>
          </a:xfrm>
          <a:prstGeom prst="ellipse">
            <a:avLst/>
          </a:prstGeom>
          <a:solidFill>
            <a:srgbClr val="E9EEF6"/>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987918" y="2185782"/>
            <a:ext cx="218724" cy="218724"/>
          </a:xfrm>
          <a:prstGeom prst="rect">
            <a:avLst/>
          </a:prstGeom>
        </p:spPr>
      </p:pic>
      <p:sp>
        <p:nvSpPr>
          <p:cNvPr id="13" name="Text 10"/>
          <p:cNvSpPr/>
          <p:nvPr/>
        </p:nvSpPr>
        <p:spPr>
          <a:xfrm>
            <a:off x="704088" y="2377440"/>
            <a:ext cx="1554480" cy="237744"/>
          </a:xfrm>
          <a:prstGeom prst="rect">
            <a:avLst/>
          </a:prstGeom>
          <a:noFill/>
          <a:ln/>
        </p:spPr>
        <p:txBody>
          <a:bodyPr wrap="square" lIns="0" tIns="0" rIns="0" bIns="0"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Rishabh — Buyer</a:t>
            </a:r>
            <a:endParaRPr lang="en-US" sz="950" dirty="0"/>
          </a:p>
        </p:txBody>
      </p:sp>
      <p:sp>
        <p:nvSpPr>
          <p:cNvPr id="14" name="Shape 11"/>
          <p:cNvSpPr/>
          <p:nvPr/>
        </p:nvSpPr>
        <p:spPr>
          <a:xfrm>
            <a:off x="749808" y="2779776"/>
            <a:ext cx="1463040" cy="713232"/>
          </a:xfrm>
          <a:prstGeom prst="roundRect">
            <a:avLst>
              <a:gd name="adj" fmla="val 6410"/>
            </a:avLst>
          </a:prstGeom>
          <a:solidFill>
            <a:srgbClr val="FFFFFF"/>
          </a:solidFill>
          <a:ln w="12700">
            <a:solidFill>
              <a:srgbClr val="E3E8F0"/>
            </a:solidFill>
            <a:prstDash val="solid"/>
          </a:ln>
        </p:spPr>
        <p:txBody>
          <a:bodyPr/>
          <a:lstStyle/>
          <a:p>
            <a:endParaRPr lang="en-IN"/>
          </a:p>
        </p:txBody>
      </p:sp>
      <p:sp>
        <p:nvSpPr>
          <p:cNvPr id="15" name="Shape 12"/>
          <p:cNvSpPr/>
          <p:nvPr/>
        </p:nvSpPr>
        <p:spPr>
          <a:xfrm>
            <a:off x="886968" y="2926080"/>
            <a:ext cx="420624" cy="420624"/>
          </a:xfrm>
          <a:prstGeom prst="ellipse">
            <a:avLst/>
          </a:prstGeom>
          <a:solidFill>
            <a:srgbClr val="E9EEF6"/>
          </a:solidFill>
          <a:ln/>
        </p:spPr>
        <p:txBody>
          <a:bodyPr/>
          <a:lstStyle/>
          <a:p>
            <a:endParaRPr lang="en-IN"/>
          </a:p>
        </p:txBody>
      </p:sp>
      <p:pic>
        <p:nvPicPr>
          <p:cNvPr id="16" name="Image 1" descr="preencoded.png"/>
          <p:cNvPicPr>
            <a:picLocks noChangeAspect="1"/>
          </p:cNvPicPr>
          <p:nvPr/>
        </p:nvPicPr>
        <p:blipFill>
          <a:blip r:embed="rId3"/>
          <a:stretch>
            <a:fillRect/>
          </a:stretch>
        </p:blipFill>
        <p:spPr>
          <a:xfrm>
            <a:off x="987918" y="3027030"/>
            <a:ext cx="218724" cy="218724"/>
          </a:xfrm>
          <a:prstGeom prst="rect">
            <a:avLst/>
          </a:prstGeom>
        </p:spPr>
      </p:pic>
      <p:sp>
        <p:nvSpPr>
          <p:cNvPr id="17" name="Text 13"/>
          <p:cNvSpPr/>
          <p:nvPr/>
        </p:nvSpPr>
        <p:spPr>
          <a:xfrm>
            <a:off x="704088" y="3218688"/>
            <a:ext cx="1554480" cy="237744"/>
          </a:xfrm>
          <a:prstGeom prst="rect">
            <a:avLst/>
          </a:prstGeom>
          <a:noFill/>
          <a:ln/>
        </p:spPr>
        <p:txBody>
          <a:bodyPr wrap="square" lIns="0" tIns="0" rIns="0" bIns="0"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Gia — Buyer</a:t>
            </a:r>
            <a:endParaRPr lang="en-US" sz="950" dirty="0"/>
          </a:p>
        </p:txBody>
      </p:sp>
      <p:sp>
        <p:nvSpPr>
          <p:cNvPr id="18" name="Shape 14"/>
          <p:cNvSpPr/>
          <p:nvPr/>
        </p:nvSpPr>
        <p:spPr>
          <a:xfrm>
            <a:off x="749808" y="3621024"/>
            <a:ext cx="1463040" cy="713232"/>
          </a:xfrm>
          <a:prstGeom prst="roundRect">
            <a:avLst>
              <a:gd name="adj" fmla="val 6410"/>
            </a:avLst>
          </a:prstGeom>
          <a:solidFill>
            <a:srgbClr val="FFFFFF"/>
          </a:solidFill>
          <a:ln w="12700">
            <a:solidFill>
              <a:srgbClr val="E3E8F0"/>
            </a:solidFill>
            <a:prstDash val="solid"/>
          </a:ln>
        </p:spPr>
        <p:txBody>
          <a:bodyPr/>
          <a:lstStyle/>
          <a:p>
            <a:endParaRPr lang="en-IN"/>
          </a:p>
        </p:txBody>
      </p:sp>
      <p:sp>
        <p:nvSpPr>
          <p:cNvPr id="19" name="Shape 15"/>
          <p:cNvSpPr/>
          <p:nvPr/>
        </p:nvSpPr>
        <p:spPr>
          <a:xfrm>
            <a:off x="886968" y="3767328"/>
            <a:ext cx="420624" cy="420624"/>
          </a:xfrm>
          <a:prstGeom prst="ellipse">
            <a:avLst/>
          </a:prstGeom>
          <a:solidFill>
            <a:srgbClr val="E9EEF6"/>
          </a:solidFill>
          <a:ln/>
        </p:spPr>
        <p:txBody>
          <a:bodyPr/>
          <a:lstStyle/>
          <a:p>
            <a:endParaRPr lang="en-IN"/>
          </a:p>
        </p:txBody>
      </p:sp>
      <p:pic>
        <p:nvPicPr>
          <p:cNvPr id="20" name="Image 2" descr="preencoded.png"/>
          <p:cNvPicPr>
            <a:picLocks noChangeAspect="1"/>
          </p:cNvPicPr>
          <p:nvPr/>
        </p:nvPicPr>
        <p:blipFill>
          <a:blip r:embed="rId3"/>
          <a:stretch>
            <a:fillRect/>
          </a:stretch>
        </p:blipFill>
        <p:spPr>
          <a:xfrm>
            <a:off x="987918" y="3868278"/>
            <a:ext cx="218724" cy="218724"/>
          </a:xfrm>
          <a:prstGeom prst="rect">
            <a:avLst/>
          </a:prstGeom>
        </p:spPr>
      </p:pic>
      <p:sp>
        <p:nvSpPr>
          <p:cNvPr id="21" name="Text 16"/>
          <p:cNvSpPr/>
          <p:nvPr/>
        </p:nvSpPr>
        <p:spPr>
          <a:xfrm>
            <a:off x="704088" y="4059936"/>
            <a:ext cx="1554480" cy="237744"/>
          </a:xfrm>
          <a:prstGeom prst="rect">
            <a:avLst/>
          </a:prstGeom>
          <a:noFill/>
          <a:ln/>
        </p:spPr>
        <p:txBody>
          <a:bodyPr wrap="square" lIns="0" tIns="0" rIns="0" bIns="0"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Seller persona</a:t>
            </a:r>
            <a:endParaRPr lang="en-US" sz="950" dirty="0"/>
          </a:p>
        </p:txBody>
      </p:sp>
      <p:sp>
        <p:nvSpPr>
          <p:cNvPr id="22" name="Shape 17"/>
          <p:cNvSpPr/>
          <p:nvPr/>
        </p:nvSpPr>
        <p:spPr>
          <a:xfrm>
            <a:off x="1143000" y="4297680"/>
            <a:ext cx="676656" cy="219456"/>
          </a:xfrm>
          <a:prstGeom prst="roundRect">
            <a:avLst>
              <a:gd name="adj" fmla="val 16667"/>
            </a:avLst>
          </a:prstGeom>
          <a:solidFill>
            <a:srgbClr val="E5EDFC"/>
          </a:solidFill>
          <a:ln/>
        </p:spPr>
        <p:txBody>
          <a:bodyPr/>
          <a:lstStyle/>
          <a:p>
            <a:endParaRPr lang="en-IN"/>
          </a:p>
        </p:txBody>
      </p:sp>
      <p:sp>
        <p:nvSpPr>
          <p:cNvPr id="23" name="Text 18"/>
          <p:cNvSpPr/>
          <p:nvPr/>
        </p:nvSpPr>
        <p:spPr>
          <a:xfrm>
            <a:off x="1143000" y="4297680"/>
            <a:ext cx="676656" cy="219456"/>
          </a:xfrm>
          <a:prstGeom prst="rect">
            <a:avLst/>
          </a:prstGeom>
          <a:noFill/>
          <a:ln/>
        </p:spPr>
        <p:txBody>
          <a:bodyPr wrap="square" lIns="0" tIns="0" rIns="0" bIns="0" rtlCol="0" anchor="ctr"/>
          <a:lstStyle/>
          <a:p>
            <a:pPr marL="0" indent="0" algn="ctr">
              <a:buNone/>
            </a:pPr>
            <a:r>
              <a:rPr lang="en-US" sz="800" b="1" dirty="0">
                <a:solidFill>
                  <a:srgbClr val="2563EB"/>
                </a:solidFill>
                <a:latin typeface="Trebuchet MS" pitchFamily="34" charset="0"/>
                <a:ea typeface="Trebuchet MS" pitchFamily="34" charset="-122"/>
                <a:cs typeface="Trebuchet MS" pitchFamily="34" charset="-120"/>
              </a:rPr>
              <a:t>REAL</a:t>
            </a:r>
            <a:endParaRPr lang="en-US" sz="800" dirty="0"/>
          </a:p>
        </p:txBody>
      </p:sp>
      <p:sp>
        <p:nvSpPr>
          <p:cNvPr id="24" name="Shape 19"/>
          <p:cNvSpPr/>
          <p:nvPr/>
        </p:nvSpPr>
        <p:spPr>
          <a:xfrm>
            <a:off x="2898648" y="1417320"/>
            <a:ext cx="1128918" cy="3200400"/>
          </a:xfrm>
          <a:prstGeom prst="roundRect">
            <a:avLst>
              <a:gd name="adj" fmla="val 4860"/>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25" name="Shape 20"/>
          <p:cNvSpPr/>
          <p:nvPr/>
        </p:nvSpPr>
        <p:spPr>
          <a:xfrm>
            <a:off x="3170499" y="1655064"/>
            <a:ext cx="585216" cy="585216"/>
          </a:xfrm>
          <a:prstGeom prst="ellipse">
            <a:avLst/>
          </a:prstGeom>
          <a:solidFill>
            <a:srgbClr val="1B2A4A"/>
          </a:solidFill>
          <a:ln/>
        </p:spPr>
        <p:txBody>
          <a:bodyPr/>
          <a:lstStyle/>
          <a:p>
            <a:endParaRPr lang="en-IN"/>
          </a:p>
        </p:txBody>
      </p:sp>
      <p:pic>
        <p:nvPicPr>
          <p:cNvPr id="26" name="Image 3" descr="preencoded.png"/>
          <p:cNvPicPr>
            <a:picLocks noChangeAspect="1"/>
          </p:cNvPicPr>
          <p:nvPr/>
        </p:nvPicPr>
        <p:blipFill>
          <a:blip r:embed="rId4"/>
          <a:stretch>
            <a:fillRect/>
          </a:stretch>
        </p:blipFill>
        <p:spPr>
          <a:xfrm>
            <a:off x="3307659" y="1792224"/>
            <a:ext cx="310896" cy="310896"/>
          </a:xfrm>
          <a:prstGeom prst="rect">
            <a:avLst/>
          </a:prstGeom>
        </p:spPr>
      </p:pic>
      <p:sp>
        <p:nvSpPr>
          <p:cNvPr id="27" name="Text 21"/>
          <p:cNvSpPr/>
          <p:nvPr/>
        </p:nvSpPr>
        <p:spPr>
          <a:xfrm>
            <a:off x="2971800" y="1563624"/>
            <a:ext cx="365760" cy="274320"/>
          </a:xfrm>
          <a:prstGeom prst="rect">
            <a:avLst/>
          </a:prstGeom>
          <a:noFill/>
          <a:ln/>
        </p:spPr>
        <p:txBody>
          <a:bodyPr wrap="square" lIns="0" tIns="0" rIns="0" bIns="0" rtlCol="0" anchor="ctr"/>
          <a:lstStyle/>
          <a:p>
            <a:pPr marL="0" indent="0">
              <a:buNone/>
            </a:pPr>
            <a:r>
              <a:rPr lang="en-US" sz="1500" b="1" dirty="0">
                <a:solidFill>
                  <a:srgbClr val="0E7C7B"/>
                </a:solidFill>
                <a:latin typeface="Georgia" pitchFamily="34" charset="0"/>
                <a:ea typeface="Georgia" pitchFamily="34" charset="-122"/>
                <a:cs typeface="Georgia" pitchFamily="34" charset="-120"/>
              </a:rPr>
              <a:t>1</a:t>
            </a:r>
            <a:endParaRPr lang="en-US" sz="1500" dirty="0"/>
          </a:p>
        </p:txBody>
      </p:sp>
      <p:sp>
        <p:nvSpPr>
          <p:cNvPr id="28" name="Text 22"/>
          <p:cNvSpPr/>
          <p:nvPr/>
        </p:nvSpPr>
        <p:spPr>
          <a:xfrm>
            <a:off x="2944368" y="2350008"/>
            <a:ext cx="1037478" cy="640080"/>
          </a:xfrm>
          <a:prstGeom prst="rect">
            <a:avLst/>
          </a:prstGeom>
          <a:noFill/>
          <a:ln/>
        </p:spPr>
        <p:txBody>
          <a:bodyPr wrap="square" lIns="0" tIns="0" rIns="0" bIns="0" rtlCol="0" anchor="t"/>
          <a:lstStyle/>
          <a:p>
            <a:pPr marL="0" indent="0" algn="ctr">
              <a:lnSpc>
                <a:spcPct val="95000"/>
              </a:lnSpc>
              <a:buNone/>
            </a:pPr>
            <a:r>
              <a:rPr lang="en-US" sz="1100" b="1" dirty="0">
                <a:solidFill>
                  <a:srgbClr val="1B2A4A"/>
                </a:solidFill>
                <a:latin typeface="Trebuchet MS" pitchFamily="34" charset="0"/>
                <a:ea typeface="Trebuchet MS" pitchFamily="34" charset="-122"/>
                <a:cs typeface="Trebuchet MS" pitchFamily="34" charset="-120"/>
              </a:rPr>
              <a:t>Analyze &amp; tag</a:t>
            </a:r>
            <a:endParaRPr lang="en-US" sz="1100" dirty="0"/>
          </a:p>
        </p:txBody>
      </p:sp>
      <p:sp>
        <p:nvSpPr>
          <p:cNvPr id="29" name="Text 23"/>
          <p:cNvSpPr/>
          <p:nvPr/>
        </p:nvSpPr>
        <p:spPr>
          <a:xfrm>
            <a:off x="3008376" y="2990088"/>
            <a:ext cx="909462" cy="1463040"/>
          </a:xfrm>
          <a:prstGeom prst="rect">
            <a:avLst/>
          </a:prstGeom>
          <a:noFill/>
          <a:ln/>
        </p:spPr>
        <p:txBody>
          <a:bodyPr wrap="square" lIns="0" tIns="0" rIns="0" bIns="0" rtlCol="0" anchor="t"/>
          <a:lstStyle/>
          <a:p>
            <a:pPr marL="0" indent="0" algn="ctr">
              <a:lnSpc>
                <a:spcPct val="105000"/>
              </a:lnSpc>
              <a:buNone/>
            </a:pPr>
            <a:r>
              <a:rPr lang="en-US" sz="900" dirty="0">
                <a:solidFill>
                  <a:srgbClr val="55617A"/>
                </a:solidFill>
                <a:latin typeface="Calibri" pitchFamily="34" charset="0"/>
                <a:ea typeface="Calibri" pitchFamily="34" charset="-122"/>
                <a:cs typeface="Calibri" pitchFamily="34" charset="-120"/>
              </a:rPr>
              <a:t>Extract motivations, pains, needs; label each EXPLICIT vs IMPLICIT</a:t>
            </a:r>
            <a:endParaRPr lang="en-US" sz="900" dirty="0"/>
          </a:p>
        </p:txBody>
      </p:sp>
      <p:sp>
        <p:nvSpPr>
          <p:cNvPr id="30" name="Text 24"/>
          <p:cNvSpPr/>
          <p:nvPr/>
        </p:nvSpPr>
        <p:spPr>
          <a:xfrm>
            <a:off x="3990990" y="1783080"/>
            <a:ext cx="201168" cy="365760"/>
          </a:xfrm>
          <a:prstGeom prst="rect">
            <a:avLst/>
          </a:prstGeom>
          <a:noFill/>
          <a:ln/>
        </p:spPr>
        <p:txBody>
          <a:bodyPr wrap="square" lIns="0" tIns="0" rIns="0" bIns="0" rtlCol="0" anchor="ctr"/>
          <a:lstStyle/>
          <a:p>
            <a:pPr marL="0" indent="0" algn="ctr">
              <a:buNone/>
            </a:pPr>
            <a:r>
              <a:rPr lang="en-US" sz="2000" dirty="0">
                <a:solidFill>
                  <a:srgbClr val="8A97AD"/>
                </a:solidFill>
                <a:latin typeface="Calibri" pitchFamily="34" charset="0"/>
                <a:ea typeface="Calibri" pitchFamily="34" charset="-122"/>
                <a:cs typeface="Calibri" pitchFamily="34" charset="-120"/>
              </a:rPr>
              <a:t>›</a:t>
            </a:r>
            <a:endParaRPr lang="en-US" sz="2000" dirty="0"/>
          </a:p>
        </p:txBody>
      </p:sp>
      <p:sp>
        <p:nvSpPr>
          <p:cNvPr id="31" name="Shape 25"/>
          <p:cNvSpPr/>
          <p:nvPr/>
        </p:nvSpPr>
        <p:spPr>
          <a:xfrm>
            <a:off x="4192158" y="1417320"/>
            <a:ext cx="1128918" cy="3200400"/>
          </a:xfrm>
          <a:prstGeom prst="roundRect">
            <a:avLst>
              <a:gd name="adj" fmla="val 4860"/>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32" name="Shape 26"/>
          <p:cNvSpPr/>
          <p:nvPr/>
        </p:nvSpPr>
        <p:spPr>
          <a:xfrm>
            <a:off x="4464009" y="1655064"/>
            <a:ext cx="585216" cy="585216"/>
          </a:xfrm>
          <a:prstGeom prst="ellipse">
            <a:avLst/>
          </a:prstGeom>
          <a:solidFill>
            <a:srgbClr val="1B2A4A"/>
          </a:solidFill>
          <a:ln/>
        </p:spPr>
        <p:txBody>
          <a:bodyPr/>
          <a:lstStyle/>
          <a:p>
            <a:endParaRPr lang="en-IN"/>
          </a:p>
        </p:txBody>
      </p:sp>
      <p:pic>
        <p:nvPicPr>
          <p:cNvPr id="33" name="Image 4" descr="preencoded.png"/>
          <p:cNvPicPr>
            <a:picLocks noChangeAspect="1"/>
          </p:cNvPicPr>
          <p:nvPr/>
        </p:nvPicPr>
        <p:blipFill>
          <a:blip r:embed="rId5"/>
          <a:stretch>
            <a:fillRect/>
          </a:stretch>
        </p:blipFill>
        <p:spPr>
          <a:xfrm>
            <a:off x="4601169" y="1792224"/>
            <a:ext cx="310896" cy="310896"/>
          </a:xfrm>
          <a:prstGeom prst="rect">
            <a:avLst/>
          </a:prstGeom>
        </p:spPr>
      </p:pic>
      <p:sp>
        <p:nvSpPr>
          <p:cNvPr id="34" name="Text 27"/>
          <p:cNvSpPr/>
          <p:nvPr/>
        </p:nvSpPr>
        <p:spPr>
          <a:xfrm>
            <a:off x="4265310" y="1563624"/>
            <a:ext cx="365760" cy="274320"/>
          </a:xfrm>
          <a:prstGeom prst="rect">
            <a:avLst/>
          </a:prstGeom>
          <a:noFill/>
          <a:ln/>
        </p:spPr>
        <p:txBody>
          <a:bodyPr wrap="square" lIns="0" tIns="0" rIns="0" bIns="0" rtlCol="0" anchor="ctr"/>
          <a:lstStyle/>
          <a:p>
            <a:pPr marL="0" indent="0">
              <a:buNone/>
            </a:pPr>
            <a:r>
              <a:rPr lang="en-US" sz="1500" b="1" dirty="0">
                <a:solidFill>
                  <a:srgbClr val="0E7C7B"/>
                </a:solidFill>
                <a:latin typeface="Georgia" pitchFamily="34" charset="0"/>
                <a:ea typeface="Georgia" pitchFamily="34" charset="-122"/>
                <a:cs typeface="Georgia" pitchFamily="34" charset="-120"/>
              </a:rPr>
              <a:t>2</a:t>
            </a:r>
            <a:endParaRPr lang="en-US" sz="1500" dirty="0"/>
          </a:p>
        </p:txBody>
      </p:sp>
      <p:sp>
        <p:nvSpPr>
          <p:cNvPr id="35" name="Text 28"/>
          <p:cNvSpPr/>
          <p:nvPr/>
        </p:nvSpPr>
        <p:spPr>
          <a:xfrm>
            <a:off x="4237878" y="2350008"/>
            <a:ext cx="1037478" cy="640080"/>
          </a:xfrm>
          <a:prstGeom prst="rect">
            <a:avLst/>
          </a:prstGeom>
          <a:noFill/>
          <a:ln/>
        </p:spPr>
        <p:txBody>
          <a:bodyPr wrap="square" lIns="0" tIns="0" rIns="0" bIns="0" rtlCol="0" anchor="t"/>
          <a:lstStyle/>
          <a:p>
            <a:pPr marL="0" indent="0" algn="ctr">
              <a:lnSpc>
                <a:spcPct val="95000"/>
              </a:lnSpc>
              <a:buNone/>
            </a:pPr>
            <a:r>
              <a:rPr lang="en-US" sz="1100" b="1" dirty="0">
                <a:solidFill>
                  <a:srgbClr val="1B2A4A"/>
                </a:solidFill>
                <a:latin typeface="Trebuchet MS" pitchFamily="34" charset="0"/>
                <a:ea typeface="Trebuchet MS" pitchFamily="34" charset="-122"/>
                <a:cs typeface="Trebuchet MS" pitchFamily="34" charset="-120"/>
              </a:rPr>
              <a:t>Find patterns</a:t>
            </a:r>
            <a:endParaRPr lang="en-US" sz="1100" dirty="0"/>
          </a:p>
        </p:txBody>
      </p:sp>
      <p:sp>
        <p:nvSpPr>
          <p:cNvPr id="36" name="Text 29"/>
          <p:cNvSpPr/>
          <p:nvPr/>
        </p:nvSpPr>
        <p:spPr>
          <a:xfrm>
            <a:off x="4301886" y="2990088"/>
            <a:ext cx="909462" cy="1463040"/>
          </a:xfrm>
          <a:prstGeom prst="rect">
            <a:avLst/>
          </a:prstGeom>
          <a:noFill/>
          <a:ln/>
        </p:spPr>
        <p:txBody>
          <a:bodyPr wrap="square" lIns="0" tIns="0" rIns="0" bIns="0" rtlCol="0" anchor="t"/>
          <a:lstStyle/>
          <a:p>
            <a:pPr marL="0" indent="0" algn="ctr">
              <a:lnSpc>
                <a:spcPct val="105000"/>
              </a:lnSpc>
              <a:buNone/>
            </a:pPr>
            <a:r>
              <a:rPr lang="en-US" sz="900" dirty="0">
                <a:solidFill>
                  <a:srgbClr val="55617A"/>
                </a:solidFill>
                <a:latin typeface="Calibri" pitchFamily="34" charset="0"/>
                <a:ea typeface="Calibri" pitchFamily="34" charset="-122"/>
                <a:cs typeface="Calibri" pitchFamily="34" charset="-120"/>
              </a:rPr>
              <a:t>Cluster across the 3 transcripts; surface convergent themes</a:t>
            </a:r>
            <a:endParaRPr lang="en-US" sz="900" dirty="0"/>
          </a:p>
        </p:txBody>
      </p:sp>
      <p:sp>
        <p:nvSpPr>
          <p:cNvPr id="37" name="Text 30"/>
          <p:cNvSpPr/>
          <p:nvPr/>
        </p:nvSpPr>
        <p:spPr>
          <a:xfrm>
            <a:off x="5284500" y="1783080"/>
            <a:ext cx="201168" cy="365760"/>
          </a:xfrm>
          <a:prstGeom prst="rect">
            <a:avLst/>
          </a:prstGeom>
          <a:noFill/>
          <a:ln/>
        </p:spPr>
        <p:txBody>
          <a:bodyPr wrap="square" lIns="0" tIns="0" rIns="0" bIns="0" rtlCol="0" anchor="ctr"/>
          <a:lstStyle/>
          <a:p>
            <a:pPr marL="0" indent="0" algn="ctr">
              <a:buNone/>
            </a:pPr>
            <a:r>
              <a:rPr lang="en-US" sz="2000" dirty="0">
                <a:solidFill>
                  <a:srgbClr val="8A97AD"/>
                </a:solidFill>
                <a:latin typeface="Calibri" pitchFamily="34" charset="0"/>
                <a:ea typeface="Calibri" pitchFamily="34" charset="-122"/>
                <a:cs typeface="Calibri" pitchFamily="34" charset="-120"/>
              </a:rPr>
              <a:t>›</a:t>
            </a:r>
            <a:endParaRPr lang="en-US" sz="2000" dirty="0"/>
          </a:p>
        </p:txBody>
      </p:sp>
      <p:sp>
        <p:nvSpPr>
          <p:cNvPr id="38" name="Shape 31"/>
          <p:cNvSpPr/>
          <p:nvPr/>
        </p:nvSpPr>
        <p:spPr>
          <a:xfrm>
            <a:off x="5485668" y="1417320"/>
            <a:ext cx="1128918" cy="3200400"/>
          </a:xfrm>
          <a:prstGeom prst="roundRect">
            <a:avLst>
              <a:gd name="adj" fmla="val 4860"/>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39" name="Shape 32"/>
          <p:cNvSpPr/>
          <p:nvPr/>
        </p:nvSpPr>
        <p:spPr>
          <a:xfrm>
            <a:off x="5757520" y="1655064"/>
            <a:ext cx="585216" cy="585216"/>
          </a:xfrm>
          <a:prstGeom prst="ellipse">
            <a:avLst/>
          </a:prstGeom>
          <a:solidFill>
            <a:srgbClr val="1B2A4A"/>
          </a:solidFill>
          <a:ln/>
        </p:spPr>
        <p:txBody>
          <a:bodyPr/>
          <a:lstStyle/>
          <a:p>
            <a:endParaRPr lang="en-IN"/>
          </a:p>
        </p:txBody>
      </p:sp>
      <p:pic>
        <p:nvPicPr>
          <p:cNvPr id="40" name="Image 5" descr="preencoded.png"/>
          <p:cNvPicPr>
            <a:picLocks noChangeAspect="1"/>
          </p:cNvPicPr>
          <p:nvPr/>
        </p:nvPicPr>
        <p:blipFill>
          <a:blip r:embed="rId6"/>
          <a:stretch>
            <a:fillRect/>
          </a:stretch>
        </p:blipFill>
        <p:spPr>
          <a:xfrm>
            <a:off x="5894680" y="1792224"/>
            <a:ext cx="310896" cy="310896"/>
          </a:xfrm>
          <a:prstGeom prst="rect">
            <a:avLst/>
          </a:prstGeom>
        </p:spPr>
      </p:pic>
      <p:sp>
        <p:nvSpPr>
          <p:cNvPr id="41" name="Text 33"/>
          <p:cNvSpPr/>
          <p:nvPr/>
        </p:nvSpPr>
        <p:spPr>
          <a:xfrm>
            <a:off x="5558820" y="1563624"/>
            <a:ext cx="365760" cy="274320"/>
          </a:xfrm>
          <a:prstGeom prst="rect">
            <a:avLst/>
          </a:prstGeom>
          <a:noFill/>
          <a:ln/>
        </p:spPr>
        <p:txBody>
          <a:bodyPr wrap="square" lIns="0" tIns="0" rIns="0" bIns="0" rtlCol="0" anchor="ctr"/>
          <a:lstStyle/>
          <a:p>
            <a:pPr marL="0" indent="0">
              <a:buNone/>
            </a:pPr>
            <a:r>
              <a:rPr lang="en-US" sz="1500" b="1" dirty="0">
                <a:solidFill>
                  <a:srgbClr val="0E7C7B"/>
                </a:solidFill>
                <a:latin typeface="Georgia" pitchFamily="34" charset="0"/>
                <a:ea typeface="Georgia" pitchFamily="34" charset="-122"/>
                <a:cs typeface="Georgia" pitchFamily="34" charset="-120"/>
              </a:rPr>
              <a:t>3</a:t>
            </a:r>
            <a:endParaRPr lang="en-US" sz="1500" dirty="0"/>
          </a:p>
        </p:txBody>
      </p:sp>
      <p:sp>
        <p:nvSpPr>
          <p:cNvPr id="42" name="Text 34"/>
          <p:cNvSpPr/>
          <p:nvPr/>
        </p:nvSpPr>
        <p:spPr>
          <a:xfrm>
            <a:off x="5531388" y="2350008"/>
            <a:ext cx="1037478" cy="640080"/>
          </a:xfrm>
          <a:prstGeom prst="rect">
            <a:avLst/>
          </a:prstGeom>
          <a:noFill/>
          <a:ln/>
        </p:spPr>
        <p:txBody>
          <a:bodyPr wrap="square" lIns="0" tIns="0" rIns="0" bIns="0" rtlCol="0" anchor="t"/>
          <a:lstStyle/>
          <a:p>
            <a:pPr marL="0" indent="0" algn="ctr">
              <a:lnSpc>
                <a:spcPct val="95000"/>
              </a:lnSpc>
              <a:buNone/>
            </a:pPr>
            <a:r>
              <a:rPr lang="en-US" sz="1100" b="1" dirty="0">
                <a:solidFill>
                  <a:srgbClr val="1B2A4A"/>
                </a:solidFill>
                <a:latin typeface="Trebuchet MS" pitchFamily="34" charset="0"/>
                <a:ea typeface="Trebuchet MS" pitchFamily="34" charset="-122"/>
                <a:cs typeface="Trebuchet MS" pitchFamily="34" charset="-120"/>
              </a:rPr>
              <a:t>Generate perspectives</a:t>
            </a:r>
            <a:endParaRPr lang="en-US" sz="1100" dirty="0"/>
          </a:p>
        </p:txBody>
      </p:sp>
      <p:sp>
        <p:nvSpPr>
          <p:cNvPr id="43" name="Text 35"/>
          <p:cNvSpPr/>
          <p:nvPr/>
        </p:nvSpPr>
        <p:spPr>
          <a:xfrm>
            <a:off x="5595396" y="2990088"/>
            <a:ext cx="909462" cy="1463040"/>
          </a:xfrm>
          <a:prstGeom prst="rect">
            <a:avLst/>
          </a:prstGeom>
          <a:noFill/>
          <a:ln/>
        </p:spPr>
        <p:txBody>
          <a:bodyPr wrap="square" lIns="0" tIns="0" rIns="0" bIns="0" rtlCol="0" anchor="t"/>
          <a:lstStyle/>
          <a:p>
            <a:pPr marL="0" indent="0" algn="ctr">
              <a:lnSpc>
                <a:spcPct val="105000"/>
              </a:lnSpc>
              <a:buNone/>
            </a:pPr>
            <a:r>
              <a:rPr lang="en-US" sz="900" dirty="0">
                <a:solidFill>
                  <a:srgbClr val="55617A"/>
                </a:solidFill>
                <a:latin typeface="Calibri" pitchFamily="34" charset="0"/>
                <a:ea typeface="Calibri" pitchFamily="34" charset="-122"/>
                <a:cs typeface="Calibri" pitchFamily="34" charset="-120"/>
              </a:rPr>
              <a:t>6 synthetic respondents from adjacent segments, source-grounded</a:t>
            </a:r>
            <a:endParaRPr lang="en-US" sz="900" dirty="0"/>
          </a:p>
        </p:txBody>
      </p:sp>
      <p:sp>
        <p:nvSpPr>
          <p:cNvPr id="44" name="Text 36"/>
          <p:cNvSpPr/>
          <p:nvPr/>
        </p:nvSpPr>
        <p:spPr>
          <a:xfrm>
            <a:off x="6578011" y="1783080"/>
            <a:ext cx="201168" cy="365760"/>
          </a:xfrm>
          <a:prstGeom prst="rect">
            <a:avLst/>
          </a:prstGeom>
          <a:noFill/>
          <a:ln/>
        </p:spPr>
        <p:txBody>
          <a:bodyPr wrap="square" lIns="0" tIns="0" rIns="0" bIns="0" rtlCol="0" anchor="ctr"/>
          <a:lstStyle/>
          <a:p>
            <a:pPr marL="0" indent="0" algn="ctr">
              <a:buNone/>
            </a:pPr>
            <a:r>
              <a:rPr lang="en-US" sz="2000" dirty="0">
                <a:solidFill>
                  <a:srgbClr val="8A97AD"/>
                </a:solidFill>
                <a:latin typeface="Calibri" pitchFamily="34" charset="0"/>
                <a:ea typeface="Calibri" pitchFamily="34" charset="-122"/>
                <a:cs typeface="Calibri" pitchFamily="34" charset="-120"/>
              </a:rPr>
              <a:t>›</a:t>
            </a:r>
            <a:endParaRPr lang="en-US" sz="2000" dirty="0"/>
          </a:p>
        </p:txBody>
      </p:sp>
      <p:sp>
        <p:nvSpPr>
          <p:cNvPr id="45" name="Shape 37"/>
          <p:cNvSpPr/>
          <p:nvPr/>
        </p:nvSpPr>
        <p:spPr>
          <a:xfrm>
            <a:off x="6779179" y="1417320"/>
            <a:ext cx="1128918" cy="3200400"/>
          </a:xfrm>
          <a:prstGeom prst="roundRect">
            <a:avLst>
              <a:gd name="adj" fmla="val 4860"/>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46" name="Shape 38"/>
          <p:cNvSpPr/>
          <p:nvPr/>
        </p:nvSpPr>
        <p:spPr>
          <a:xfrm>
            <a:off x="7051030" y="1655064"/>
            <a:ext cx="585216" cy="585216"/>
          </a:xfrm>
          <a:prstGeom prst="ellipse">
            <a:avLst/>
          </a:prstGeom>
          <a:solidFill>
            <a:srgbClr val="1B2A4A"/>
          </a:solidFill>
          <a:ln/>
        </p:spPr>
        <p:txBody>
          <a:bodyPr/>
          <a:lstStyle/>
          <a:p>
            <a:endParaRPr lang="en-IN"/>
          </a:p>
        </p:txBody>
      </p:sp>
      <p:pic>
        <p:nvPicPr>
          <p:cNvPr id="47" name="Image 6" descr="preencoded.png"/>
          <p:cNvPicPr>
            <a:picLocks noChangeAspect="1"/>
          </p:cNvPicPr>
          <p:nvPr/>
        </p:nvPicPr>
        <p:blipFill>
          <a:blip r:embed="rId7"/>
          <a:stretch>
            <a:fillRect/>
          </a:stretch>
        </p:blipFill>
        <p:spPr>
          <a:xfrm>
            <a:off x="7188190" y="1792224"/>
            <a:ext cx="310896" cy="310896"/>
          </a:xfrm>
          <a:prstGeom prst="rect">
            <a:avLst/>
          </a:prstGeom>
        </p:spPr>
      </p:pic>
      <p:sp>
        <p:nvSpPr>
          <p:cNvPr id="48" name="Text 39"/>
          <p:cNvSpPr/>
          <p:nvPr/>
        </p:nvSpPr>
        <p:spPr>
          <a:xfrm>
            <a:off x="6852331" y="1563624"/>
            <a:ext cx="365760" cy="274320"/>
          </a:xfrm>
          <a:prstGeom prst="rect">
            <a:avLst/>
          </a:prstGeom>
          <a:noFill/>
          <a:ln/>
        </p:spPr>
        <p:txBody>
          <a:bodyPr wrap="square" lIns="0" tIns="0" rIns="0" bIns="0" rtlCol="0" anchor="ctr"/>
          <a:lstStyle/>
          <a:p>
            <a:pPr marL="0" indent="0">
              <a:buNone/>
            </a:pPr>
            <a:r>
              <a:rPr lang="en-US" sz="1500" b="1" dirty="0">
                <a:solidFill>
                  <a:srgbClr val="0E7C7B"/>
                </a:solidFill>
                <a:latin typeface="Georgia" pitchFamily="34" charset="0"/>
                <a:ea typeface="Georgia" pitchFamily="34" charset="-122"/>
                <a:cs typeface="Georgia" pitchFamily="34" charset="-120"/>
              </a:rPr>
              <a:t>4</a:t>
            </a:r>
            <a:endParaRPr lang="en-US" sz="1500" dirty="0"/>
          </a:p>
        </p:txBody>
      </p:sp>
      <p:sp>
        <p:nvSpPr>
          <p:cNvPr id="49" name="Text 40"/>
          <p:cNvSpPr/>
          <p:nvPr/>
        </p:nvSpPr>
        <p:spPr>
          <a:xfrm>
            <a:off x="6824899" y="2350008"/>
            <a:ext cx="1037478" cy="640080"/>
          </a:xfrm>
          <a:prstGeom prst="rect">
            <a:avLst/>
          </a:prstGeom>
          <a:noFill/>
          <a:ln/>
        </p:spPr>
        <p:txBody>
          <a:bodyPr wrap="square" lIns="0" tIns="0" rIns="0" bIns="0" rtlCol="0" anchor="t"/>
          <a:lstStyle/>
          <a:p>
            <a:pPr marL="0" indent="0" algn="ctr">
              <a:lnSpc>
                <a:spcPct val="95000"/>
              </a:lnSpc>
              <a:buNone/>
            </a:pPr>
            <a:r>
              <a:rPr lang="en-US" sz="1100" b="1" dirty="0">
                <a:solidFill>
                  <a:srgbClr val="1B2A4A"/>
                </a:solidFill>
                <a:latin typeface="Trebuchet MS" pitchFamily="34" charset="0"/>
                <a:ea typeface="Trebuchet MS" pitchFamily="34" charset="-122"/>
                <a:cs typeface="Trebuchet MS" pitchFamily="34" charset="-120"/>
              </a:rPr>
              <a:t>Surface edge cases</a:t>
            </a:r>
            <a:endParaRPr lang="en-US" sz="1100" dirty="0"/>
          </a:p>
        </p:txBody>
      </p:sp>
      <p:sp>
        <p:nvSpPr>
          <p:cNvPr id="50" name="Text 41"/>
          <p:cNvSpPr/>
          <p:nvPr/>
        </p:nvSpPr>
        <p:spPr>
          <a:xfrm>
            <a:off x="6888907" y="2990088"/>
            <a:ext cx="909462" cy="1463040"/>
          </a:xfrm>
          <a:prstGeom prst="rect">
            <a:avLst/>
          </a:prstGeom>
          <a:noFill/>
          <a:ln/>
        </p:spPr>
        <p:txBody>
          <a:bodyPr wrap="square" lIns="0" tIns="0" rIns="0" bIns="0" rtlCol="0" anchor="t"/>
          <a:lstStyle/>
          <a:p>
            <a:pPr marL="0" indent="0" algn="ctr">
              <a:lnSpc>
                <a:spcPct val="105000"/>
              </a:lnSpc>
              <a:buNone/>
            </a:pPr>
            <a:r>
              <a:rPr lang="en-US" sz="900" dirty="0">
                <a:solidFill>
                  <a:srgbClr val="55617A"/>
                </a:solidFill>
                <a:latin typeface="Calibri" pitchFamily="34" charset="0"/>
                <a:ea typeface="Calibri" pitchFamily="34" charset="-122"/>
                <a:cs typeface="Calibri" pitchFamily="34" charset="-120"/>
              </a:rPr>
              <a:t>Power user, dormant seller, detractor, proxy buyer, skeptic</a:t>
            </a:r>
            <a:endParaRPr lang="en-US" sz="900" dirty="0"/>
          </a:p>
        </p:txBody>
      </p:sp>
      <p:sp>
        <p:nvSpPr>
          <p:cNvPr id="51" name="Text 42"/>
          <p:cNvSpPr/>
          <p:nvPr/>
        </p:nvSpPr>
        <p:spPr>
          <a:xfrm>
            <a:off x="7871521" y="1783080"/>
            <a:ext cx="201168" cy="365760"/>
          </a:xfrm>
          <a:prstGeom prst="rect">
            <a:avLst/>
          </a:prstGeom>
          <a:noFill/>
          <a:ln/>
        </p:spPr>
        <p:txBody>
          <a:bodyPr wrap="square" lIns="0" tIns="0" rIns="0" bIns="0" rtlCol="0" anchor="ctr"/>
          <a:lstStyle/>
          <a:p>
            <a:pPr marL="0" indent="0" algn="ctr">
              <a:buNone/>
            </a:pPr>
            <a:r>
              <a:rPr lang="en-US" sz="2000" dirty="0">
                <a:solidFill>
                  <a:srgbClr val="8A97AD"/>
                </a:solidFill>
                <a:latin typeface="Calibri" pitchFamily="34" charset="0"/>
                <a:ea typeface="Calibri" pitchFamily="34" charset="-122"/>
                <a:cs typeface="Calibri" pitchFamily="34" charset="-120"/>
              </a:rPr>
              <a:t>›</a:t>
            </a:r>
            <a:endParaRPr lang="en-US" sz="2000" dirty="0"/>
          </a:p>
        </p:txBody>
      </p:sp>
      <p:sp>
        <p:nvSpPr>
          <p:cNvPr id="52" name="Shape 43"/>
          <p:cNvSpPr/>
          <p:nvPr/>
        </p:nvSpPr>
        <p:spPr>
          <a:xfrm>
            <a:off x="8072689" y="1417320"/>
            <a:ext cx="1128918" cy="3200400"/>
          </a:xfrm>
          <a:prstGeom prst="roundRect">
            <a:avLst>
              <a:gd name="adj" fmla="val 4860"/>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53" name="Shape 44"/>
          <p:cNvSpPr/>
          <p:nvPr/>
        </p:nvSpPr>
        <p:spPr>
          <a:xfrm>
            <a:off x="8344540" y="1655064"/>
            <a:ext cx="585216" cy="585216"/>
          </a:xfrm>
          <a:prstGeom prst="ellipse">
            <a:avLst/>
          </a:prstGeom>
          <a:solidFill>
            <a:srgbClr val="1B2A4A"/>
          </a:solidFill>
          <a:ln/>
        </p:spPr>
        <p:txBody>
          <a:bodyPr/>
          <a:lstStyle/>
          <a:p>
            <a:endParaRPr lang="en-IN"/>
          </a:p>
        </p:txBody>
      </p:sp>
      <p:pic>
        <p:nvPicPr>
          <p:cNvPr id="54" name="Image 7" descr="preencoded.png"/>
          <p:cNvPicPr>
            <a:picLocks noChangeAspect="1"/>
          </p:cNvPicPr>
          <p:nvPr/>
        </p:nvPicPr>
        <p:blipFill>
          <a:blip r:embed="rId8"/>
          <a:stretch>
            <a:fillRect/>
          </a:stretch>
        </p:blipFill>
        <p:spPr>
          <a:xfrm>
            <a:off x="8481700" y="1792224"/>
            <a:ext cx="310896" cy="310896"/>
          </a:xfrm>
          <a:prstGeom prst="rect">
            <a:avLst/>
          </a:prstGeom>
        </p:spPr>
      </p:pic>
      <p:sp>
        <p:nvSpPr>
          <p:cNvPr id="55" name="Text 45"/>
          <p:cNvSpPr/>
          <p:nvPr/>
        </p:nvSpPr>
        <p:spPr>
          <a:xfrm>
            <a:off x="8145841" y="1563624"/>
            <a:ext cx="365760" cy="274320"/>
          </a:xfrm>
          <a:prstGeom prst="rect">
            <a:avLst/>
          </a:prstGeom>
          <a:noFill/>
          <a:ln/>
        </p:spPr>
        <p:txBody>
          <a:bodyPr wrap="square" lIns="0" tIns="0" rIns="0" bIns="0" rtlCol="0" anchor="ctr"/>
          <a:lstStyle/>
          <a:p>
            <a:pPr marL="0" indent="0">
              <a:buNone/>
            </a:pPr>
            <a:r>
              <a:rPr lang="en-US" sz="1500" b="1" dirty="0">
                <a:solidFill>
                  <a:srgbClr val="0E7C7B"/>
                </a:solidFill>
                <a:latin typeface="Georgia" pitchFamily="34" charset="0"/>
                <a:ea typeface="Georgia" pitchFamily="34" charset="-122"/>
                <a:cs typeface="Georgia" pitchFamily="34" charset="-120"/>
              </a:rPr>
              <a:t>5</a:t>
            </a:r>
            <a:endParaRPr lang="en-US" sz="1500" dirty="0"/>
          </a:p>
        </p:txBody>
      </p:sp>
      <p:sp>
        <p:nvSpPr>
          <p:cNvPr id="56" name="Text 46"/>
          <p:cNvSpPr/>
          <p:nvPr/>
        </p:nvSpPr>
        <p:spPr>
          <a:xfrm>
            <a:off x="8118409" y="2350008"/>
            <a:ext cx="1037478" cy="640080"/>
          </a:xfrm>
          <a:prstGeom prst="rect">
            <a:avLst/>
          </a:prstGeom>
          <a:noFill/>
          <a:ln/>
        </p:spPr>
        <p:txBody>
          <a:bodyPr wrap="square" lIns="0" tIns="0" rIns="0" bIns="0" rtlCol="0" anchor="t"/>
          <a:lstStyle/>
          <a:p>
            <a:pPr marL="0" indent="0" algn="ctr">
              <a:lnSpc>
                <a:spcPct val="95000"/>
              </a:lnSpc>
              <a:buNone/>
            </a:pPr>
            <a:r>
              <a:rPr lang="en-US" sz="1100" b="1" dirty="0">
                <a:solidFill>
                  <a:srgbClr val="1B2A4A"/>
                </a:solidFill>
                <a:latin typeface="Trebuchet MS" pitchFamily="34" charset="0"/>
                <a:ea typeface="Trebuchet MS" pitchFamily="34" charset="-122"/>
                <a:cs typeface="Trebuchet MS" pitchFamily="34" charset="-120"/>
              </a:rPr>
              <a:t>Consolidate</a:t>
            </a:r>
            <a:endParaRPr lang="en-US" sz="1100" dirty="0"/>
          </a:p>
        </p:txBody>
      </p:sp>
      <p:sp>
        <p:nvSpPr>
          <p:cNvPr id="57" name="Text 47"/>
          <p:cNvSpPr/>
          <p:nvPr/>
        </p:nvSpPr>
        <p:spPr>
          <a:xfrm>
            <a:off x="8182417" y="2990088"/>
            <a:ext cx="909462" cy="1463040"/>
          </a:xfrm>
          <a:prstGeom prst="rect">
            <a:avLst/>
          </a:prstGeom>
          <a:noFill/>
          <a:ln/>
        </p:spPr>
        <p:txBody>
          <a:bodyPr wrap="square" lIns="0" tIns="0" rIns="0" bIns="0" rtlCol="0" anchor="t"/>
          <a:lstStyle/>
          <a:p>
            <a:pPr marL="0" indent="0" algn="ctr">
              <a:lnSpc>
                <a:spcPct val="105000"/>
              </a:lnSpc>
              <a:buNone/>
            </a:pPr>
            <a:r>
              <a:rPr lang="en-US" sz="900" dirty="0">
                <a:solidFill>
                  <a:srgbClr val="55617A"/>
                </a:solidFill>
                <a:latin typeface="Calibri" pitchFamily="34" charset="0"/>
                <a:ea typeface="Calibri" pitchFamily="34" charset="-122"/>
                <a:cs typeface="Calibri" pitchFamily="34" charset="-120"/>
              </a:rPr>
              <a:t>One persona + traceability matrix + confidence tiers</a:t>
            </a:r>
            <a:endParaRPr lang="en-US" sz="900" dirty="0"/>
          </a:p>
        </p:txBody>
      </p:sp>
      <p:sp>
        <p:nvSpPr>
          <p:cNvPr id="58" name="Shape 48"/>
          <p:cNvSpPr/>
          <p:nvPr/>
        </p:nvSpPr>
        <p:spPr>
          <a:xfrm>
            <a:off x="9475927" y="1417320"/>
            <a:ext cx="2148840" cy="3200400"/>
          </a:xfrm>
          <a:prstGeom prst="roundRect">
            <a:avLst>
              <a:gd name="adj" fmla="val 2553"/>
            </a:avLst>
          </a:prstGeom>
          <a:solidFill>
            <a:srgbClr val="1B2A4A"/>
          </a:solidFill>
          <a:ln/>
          <a:effectLst>
            <a:outerShdw blurRad="88900" dist="25400" dir="5400000" algn="bl" rotWithShape="0">
              <a:srgbClr val="8A86A8">
                <a:alpha val="20000"/>
              </a:srgbClr>
            </a:outerShdw>
          </a:effectLst>
        </p:spPr>
        <p:txBody>
          <a:bodyPr/>
          <a:lstStyle/>
          <a:p>
            <a:endParaRPr lang="en-IN"/>
          </a:p>
        </p:txBody>
      </p:sp>
      <p:sp>
        <p:nvSpPr>
          <p:cNvPr id="59" name="Text 49"/>
          <p:cNvSpPr/>
          <p:nvPr/>
        </p:nvSpPr>
        <p:spPr>
          <a:xfrm>
            <a:off x="9475927" y="1554480"/>
            <a:ext cx="2148840" cy="274320"/>
          </a:xfrm>
          <a:prstGeom prst="rect">
            <a:avLst/>
          </a:prstGeom>
          <a:noFill/>
          <a:ln/>
        </p:spPr>
        <p:txBody>
          <a:bodyPr wrap="square" lIns="0" tIns="0" rIns="0" bIns="0" rtlCol="0" anchor="ctr"/>
          <a:lstStyle/>
          <a:p>
            <a:pPr marL="0" indent="0" algn="ctr">
              <a:buNone/>
            </a:pPr>
            <a:r>
              <a:rPr lang="en-US" sz="1050" b="1" kern="0" spc="150" dirty="0">
                <a:solidFill>
                  <a:srgbClr val="CBD8EC"/>
                </a:solidFill>
                <a:latin typeface="Trebuchet MS" pitchFamily="34" charset="0"/>
                <a:ea typeface="Trebuchet MS" pitchFamily="34" charset="-122"/>
                <a:cs typeface="Trebuchet MS" pitchFamily="34" charset="-120"/>
              </a:rPr>
              <a:t>OUTPUT</a:t>
            </a:r>
            <a:endParaRPr lang="en-US" sz="1050" dirty="0"/>
          </a:p>
        </p:txBody>
      </p:sp>
      <p:sp>
        <p:nvSpPr>
          <p:cNvPr id="60" name="Shape 50"/>
          <p:cNvSpPr/>
          <p:nvPr/>
        </p:nvSpPr>
        <p:spPr>
          <a:xfrm>
            <a:off x="10047427" y="1965960"/>
            <a:ext cx="1005840" cy="1005840"/>
          </a:xfrm>
          <a:prstGeom prst="ellipse">
            <a:avLst/>
          </a:prstGeom>
          <a:solidFill>
            <a:srgbClr val="FFFFFF"/>
          </a:solidFill>
          <a:ln/>
        </p:spPr>
        <p:txBody>
          <a:bodyPr/>
          <a:lstStyle/>
          <a:p>
            <a:endParaRPr lang="en-IN"/>
          </a:p>
        </p:txBody>
      </p:sp>
      <p:pic>
        <p:nvPicPr>
          <p:cNvPr id="61" name="Image 8" descr="preencoded.png"/>
          <p:cNvPicPr>
            <a:picLocks noChangeAspect="1"/>
          </p:cNvPicPr>
          <p:nvPr/>
        </p:nvPicPr>
        <p:blipFill>
          <a:blip r:embed="rId9"/>
          <a:stretch>
            <a:fillRect/>
          </a:stretch>
        </p:blipFill>
        <p:spPr>
          <a:xfrm>
            <a:off x="10093147" y="2011680"/>
            <a:ext cx="914400" cy="914400"/>
          </a:xfrm>
          <a:prstGeom prst="rect">
            <a:avLst/>
          </a:prstGeom>
        </p:spPr>
      </p:pic>
      <p:sp>
        <p:nvSpPr>
          <p:cNvPr id="62" name="Text 51"/>
          <p:cNvSpPr/>
          <p:nvPr/>
        </p:nvSpPr>
        <p:spPr>
          <a:xfrm>
            <a:off x="9567367" y="3035808"/>
            <a:ext cx="196596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One auditable persona</a:t>
            </a:r>
            <a:endParaRPr lang="en-US" sz="1050" dirty="0"/>
          </a:p>
        </p:txBody>
      </p:sp>
      <p:sp>
        <p:nvSpPr>
          <p:cNvPr id="63" name="Text 52"/>
          <p:cNvSpPr/>
          <p:nvPr/>
        </p:nvSpPr>
        <p:spPr>
          <a:xfrm>
            <a:off x="9613087" y="3310128"/>
            <a:ext cx="1874520" cy="822960"/>
          </a:xfrm>
          <a:prstGeom prst="rect">
            <a:avLst/>
          </a:prstGeom>
          <a:noFill/>
          <a:ln/>
        </p:spPr>
        <p:txBody>
          <a:bodyPr wrap="square" lIns="0" tIns="0" rIns="0" bIns="0" rtlCol="0" anchor="t"/>
          <a:lstStyle/>
          <a:p>
            <a:pPr marL="0" indent="0" algn="ctr">
              <a:lnSpc>
                <a:spcPct val="105000"/>
              </a:lnSpc>
              <a:buNone/>
            </a:pPr>
            <a:r>
              <a:rPr lang="en-US" sz="900" dirty="0">
                <a:solidFill>
                  <a:srgbClr val="CBD8EC"/>
                </a:solidFill>
                <a:latin typeface="Calibri" pitchFamily="34" charset="0"/>
                <a:ea typeface="Calibri" pitchFamily="34" charset="-122"/>
                <a:cs typeface="Calibri" pitchFamily="34" charset="-120"/>
              </a:rPr>
              <a:t>+ 6 synthetic profiles, traceability matrix &amp; confidence tiers</a:t>
            </a:r>
            <a:endParaRPr lang="en-US" sz="900" dirty="0"/>
          </a:p>
        </p:txBody>
      </p:sp>
      <p:sp>
        <p:nvSpPr>
          <p:cNvPr id="64" name="Shape 53"/>
          <p:cNvSpPr/>
          <p:nvPr/>
        </p:nvSpPr>
        <p:spPr>
          <a:xfrm>
            <a:off x="566928" y="4892040"/>
            <a:ext cx="11057839" cy="1325880"/>
          </a:xfrm>
          <a:prstGeom prst="roundRect">
            <a:avLst>
              <a:gd name="adj" fmla="val 4138"/>
            </a:avLst>
          </a:prstGeom>
          <a:solidFill>
            <a:srgbClr val="14213B"/>
          </a:solidFill>
          <a:ln/>
        </p:spPr>
        <p:txBody>
          <a:bodyPr/>
          <a:lstStyle/>
          <a:p>
            <a:endParaRPr lang="en-IN"/>
          </a:p>
        </p:txBody>
      </p:sp>
      <p:pic>
        <p:nvPicPr>
          <p:cNvPr id="65" name="Image 9" descr="preencoded.png"/>
          <p:cNvPicPr>
            <a:picLocks noChangeAspect="1"/>
          </p:cNvPicPr>
          <p:nvPr/>
        </p:nvPicPr>
        <p:blipFill>
          <a:blip r:embed="rId10"/>
          <a:stretch>
            <a:fillRect/>
          </a:stretch>
        </p:blipFill>
        <p:spPr>
          <a:xfrm>
            <a:off x="841248" y="5120640"/>
            <a:ext cx="457200" cy="457200"/>
          </a:xfrm>
          <a:prstGeom prst="rect">
            <a:avLst/>
          </a:prstGeom>
        </p:spPr>
      </p:pic>
      <p:sp>
        <p:nvSpPr>
          <p:cNvPr id="66" name="Text 54"/>
          <p:cNvSpPr/>
          <p:nvPr/>
        </p:nvSpPr>
        <p:spPr>
          <a:xfrm>
            <a:off x="1481328" y="5029200"/>
            <a:ext cx="5486400" cy="274320"/>
          </a:xfrm>
          <a:prstGeom prst="rect">
            <a:avLst/>
          </a:prstGeom>
          <a:noFill/>
          <a:ln/>
        </p:spPr>
        <p:txBody>
          <a:bodyPr wrap="square" lIns="0" tIns="0" rIns="0" bIns="0" rtlCol="0" anchor="ctr"/>
          <a:lstStyle/>
          <a:p>
            <a:pPr marL="0" indent="0">
              <a:buNone/>
            </a:pPr>
            <a:r>
              <a:rPr lang="en-US" sz="1100" b="1" kern="0" spc="150" dirty="0">
                <a:solidFill>
                  <a:srgbClr val="7FD0C4"/>
                </a:solidFill>
                <a:latin typeface="Trebuchet MS" pitchFamily="34" charset="0"/>
                <a:ea typeface="Trebuchet MS" pitchFamily="34" charset="-122"/>
                <a:cs typeface="Trebuchet MS" pitchFamily="34" charset="-120"/>
              </a:rPr>
              <a:t>GOVERNANCE &amp; GUARDRAILS</a:t>
            </a:r>
            <a:endParaRPr lang="en-US" sz="1100" dirty="0"/>
          </a:p>
        </p:txBody>
      </p:sp>
      <p:sp>
        <p:nvSpPr>
          <p:cNvPr id="67" name="Text 55"/>
          <p:cNvSpPr/>
          <p:nvPr/>
        </p:nvSpPr>
        <p:spPr>
          <a:xfrm>
            <a:off x="1481328" y="5321808"/>
            <a:ext cx="9869119" cy="822960"/>
          </a:xfrm>
          <a:prstGeom prst="rect">
            <a:avLst/>
          </a:prstGeom>
          <a:noFill/>
          <a:ln/>
        </p:spPr>
        <p:txBody>
          <a:bodyPr wrap="square" lIns="0" tIns="0" rIns="0" bIns="0" rtlCol="0" anchor="t"/>
          <a:lstStyle/>
          <a:p>
            <a:pPr marL="0" indent="0">
              <a:lnSpc>
                <a:spcPct val="110000"/>
              </a:lnSpc>
              <a:buNone/>
            </a:pPr>
            <a:r>
              <a:rPr lang="en-US" sz="1150" dirty="0">
                <a:solidFill>
                  <a:srgbClr val="CBD8EC"/>
                </a:solidFill>
                <a:latin typeface="Calibri" pitchFamily="34" charset="0"/>
                <a:ea typeface="Calibri" pitchFamily="34" charset="-122"/>
                <a:cs typeface="Calibri" pitchFamily="34" charset="-120"/>
              </a:rPr>
              <a:t>Every claim is tagged </a:t>
            </a:r>
            <a:r>
              <a:rPr lang="en-US" sz="1150" b="1" dirty="0">
                <a:solidFill>
                  <a:srgbClr val="8FB6FF"/>
                </a:solidFill>
                <a:latin typeface="Calibri" pitchFamily="34" charset="0"/>
                <a:ea typeface="Calibri" pitchFamily="34" charset="-122"/>
                <a:cs typeface="Calibri" pitchFamily="34" charset="-120"/>
              </a:rPr>
              <a:t>[REAL] </a:t>
            </a:r>
            <a:r>
              <a:rPr lang="en-US" sz="1150" dirty="0">
                <a:solidFill>
                  <a:srgbClr val="CBD8EC"/>
                </a:solidFill>
                <a:latin typeface="Calibri" pitchFamily="34" charset="0"/>
                <a:ea typeface="Calibri" pitchFamily="34" charset="-122"/>
                <a:cs typeface="Calibri" pitchFamily="34" charset="-120"/>
              </a:rPr>
              <a:t>or </a:t>
            </a:r>
            <a:r>
              <a:rPr lang="en-US" sz="1150" b="1" dirty="0">
                <a:solidFill>
                  <a:srgbClr val="8FD9CF"/>
                </a:solidFill>
                <a:latin typeface="Calibri" pitchFamily="34" charset="0"/>
                <a:ea typeface="Calibri" pitchFamily="34" charset="-122"/>
                <a:cs typeface="Calibri" pitchFamily="34" charset="-120"/>
              </a:rPr>
              <a:t>[AI]</a:t>
            </a:r>
            <a:r>
              <a:rPr lang="en-US" sz="1150" dirty="0">
                <a:solidFill>
                  <a:srgbClr val="CBD8EC"/>
                </a:solidFill>
                <a:latin typeface="Calibri" pitchFamily="34" charset="0"/>
                <a:ea typeface="Calibri" pitchFamily="34" charset="-122"/>
                <a:cs typeface="Calibri" pitchFamily="34" charset="-120"/>
              </a:rPr>
              <a:t>.  Real evidence is authoritative; synthetic evidence extends coverage but is held as hypothesis. Per-attribute traceability keeps the persona auditable end-to-end — an evidence chain, not a vibe.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buNone/>
            </a:pPr>
            <a:r>
              <a:rPr lang="en-US" sz="1150" b="1" kern="0" spc="200" dirty="0">
                <a:solidFill>
                  <a:srgbClr val="0E7C7B"/>
                </a:solidFill>
                <a:latin typeface="Trebuchet MS" pitchFamily="34" charset="0"/>
                <a:ea typeface="Trebuchet MS" pitchFamily="34" charset="-122"/>
                <a:cs typeface="Trebuchet MS" pitchFamily="34" charset="-120"/>
              </a:rPr>
              <a:t>KEY INSIGHTS</a:t>
            </a:r>
            <a:endParaRPr lang="en-US" sz="1150" dirty="0"/>
          </a:p>
        </p:txBody>
      </p:sp>
      <p:sp>
        <p:nvSpPr>
          <p:cNvPr id="3" name="Text 1"/>
          <p:cNvSpPr/>
          <p:nvPr/>
        </p:nvSpPr>
        <p:spPr>
          <a:xfrm>
            <a:off x="566928" y="658368"/>
            <a:ext cx="11057839" cy="603504"/>
          </a:xfrm>
          <a:prstGeom prst="rect">
            <a:avLst/>
          </a:prstGeom>
          <a:noFill/>
          <a:ln/>
        </p:spPr>
        <p:txBody>
          <a:bodyPr wrap="square" lIns="0" tIns="0" rIns="0" bIns="0" rtlCol="0" anchor="ctr"/>
          <a:lstStyle/>
          <a:p>
            <a:pPr marL="0" indent="0">
              <a:buNone/>
            </a:pPr>
            <a:r>
              <a:rPr lang="en-US" sz="2700" b="1" dirty="0">
                <a:solidFill>
                  <a:srgbClr val="1B2A4A"/>
                </a:solidFill>
                <a:latin typeface="Georgia" pitchFamily="34" charset="0"/>
                <a:ea typeface="Georgia" pitchFamily="34" charset="-122"/>
                <a:cs typeface="Georgia" pitchFamily="34" charset="-120"/>
              </a:rPr>
              <a:t>Six Patterns That Recur Across Every Voice</a:t>
            </a:r>
            <a:endParaRPr lang="en-US" sz="2700" dirty="0"/>
          </a:p>
        </p:txBody>
      </p:sp>
      <p:sp>
        <p:nvSpPr>
          <p:cNvPr id="4" name="Shape 2"/>
          <p:cNvSpPr/>
          <p:nvPr/>
        </p:nvSpPr>
        <p:spPr>
          <a:xfrm>
            <a:off x="566928" y="6437376"/>
            <a:ext cx="11057839" cy="0"/>
          </a:xfrm>
          <a:prstGeom prst="line">
            <a:avLst/>
          </a:prstGeom>
          <a:noFill/>
          <a:ln w="12700">
            <a:solidFill>
              <a:srgbClr val="E3E8F0"/>
            </a:solidFill>
            <a:prstDash val="solid"/>
          </a:ln>
        </p:spPr>
        <p:txBody>
          <a:bodyPr/>
          <a:lstStyle/>
          <a:p>
            <a:endParaRPr lang="en-IN"/>
          </a:p>
        </p:txBody>
      </p:sp>
      <p:sp>
        <p:nvSpPr>
          <p:cNvPr id="5" name="Text 3"/>
          <p:cNvSpPr/>
          <p:nvPr/>
        </p:nvSpPr>
        <p:spPr>
          <a:xfrm>
            <a:off x="566928" y="6473952"/>
            <a:ext cx="6400800" cy="274320"/>
          </a:xfrm>
          <a:prstGeom prst="rect">
            <a:avLst/>
          </a:prstGeom>
          <a:noFill/>
          <a:ln/>
        </p:spPr>
        <p:txBody>
          <a:bodyPr wrap="square" lIns="0" tIns="0" rIns="0" bIns="0" rtlCol="0" anchor="ctr"/>
          <a:lstStyle/>
          <a:p>
            <a:pPr marL="0" indent="0">
              <a:buNone/>
            </a:pPr>
            <a:r>
              <a:rPr lang="en-US" sz="850" kern="0" spc="100" dirty="0">
                <a:solidFill>
                  <a:srgbClr val="8A97AD"/>
                </a:solidFill>
                <a:latin typeface="Trebuchet MS" pitchFamily="34" charset="0"/>
                <a:ea typeface="Trebuchet MS" pitchFamily="34" charset="-122"/>
                <a:cs typeface="Trebuchet MS" pitchFamily="34" charset="-120"/>
              </a:rPr>
              <a:t>CertiBuy  ·  Assignment 1</a:t>
            </a:r>
            <a:endParaRPr lang="en-US" sz="850" dirty="0"/>
          </a:p>
        </p:txBody>
      </p:sp>
      <p:sp>
        <p:nvSpPr>
          <p:cNvPr id="6" name="Text 4"/>
          <p:cNvSpPr/>
          <p:nvPr/>
        </p:nvSpPr>
        <p:spPr>
          <a:xfrm>
            <a:off x="4675327" y="6473952"/>
            <a:ext cx="6583680" cy="274320"/>
          </a:xfrm>
          <a:prstGeom prst="rect">
            <a:avLst/>
          </a:prstGeom>
          <a:noFill/>
          <a:ln/>
        </p:spPr>
        <p:txBody>
          <a:bodyPr wrap="square" lIns="0" tIns="0" rIns="0" bIns="0" rtlCol="0" anchor="ctr"/>
          <a:lstStyle/>
          <a:p>
            <a:pPr marL="0" indent="0" algn="r">
              <a:buNone/>
            </a:pPr>
            <a:r>
              <a:rPr lang="en-US" sz="850" dirty="0">
                <a:solidFill>
                  <a:srgbClr val="8A97AD"/>
                </a:solidFill>
                <a:latin typeface="Trebuchet MS" pitchFamily="34" charset="0"/>
                <a:ea typeface="Trebuchet MS" pitchFamily="34" charset="-122"/>
                <a:cs typeface="Trebuchet MS" pitchFamily="34" charset="-120"/>
              </a:rPr>
              <a:t>IITM Pravartak  ·  AI-Powered Product Design &amp; Management  ·  Batch 2 · Group 16</a:t>
            </a:r>
            <a:endParaRPr lang="en-US" sz="850" dirty="0"/>
          </a:p>
        </p:txBody>
      </p:sp>
      <p:sp>
        <p:nvSpPr>
          <p:cNvPr id="7" name="Text 5"/>
          <p:cNvSpPr/>
          <p:nvPr/>
        </p:nvSpPr>
        <p:spPr>
          <a:xfrm>
            <a:off x="11259007" y="6473952"/>
            <a:ext cx="365760" cy="274320"/>
          </a:xfrm>
          <a:prstGeom prst="rect">
            <a:avLst/>
          </a:prstGeom>
          <a:noFill/>
          <a:ln/>
        </p:spPr>
        <p:txBody>
          <a:bodyPr wrap="square" lIns="0" tIns="0" rIns="0" bIns="0" rtlCol="0" anchor="ctr"/>
          <a:lstStyle/>
          <a:p>
            <a:pPr marL="0" indent="0" algn="r">
              <a:buNone/>
            </a:pPr>
            <a:r>
              <a:rPr lang="en-US" sz="850" b="1" dirty="0">
                <a:solidFill>
                  <a:srgbClr val="8A97AD"/>
                </a:solidFill>
                <a:latin typeface="Trebuchet MS" pitchFamily="34" charset="0"/>
                <a:ea typeface="Trebuchet MS" pitchFamily="34" charset="-122"/>
                <a:cs typeface="Trebuchet MS" pitchFamily="34" charset="-120"/>
              </a:rPr>
              <a:t>06</a:t>
            </a:r>
            <a:endParaRPr lang="en-US" sz="850" dirty="0"/>
          </a:p>
        </p:txBody>
      </p:sp>
      <p:sp>
        <p:nvSpPr>
          <p:cNvPr id="8" name="Shape 6"/>
          <p:cNvSpPr/>
          <p:nvPr/>
        </p:nvSpPr>
        <p:spPr>
          <a:xfrm>
            <a:off x="566928" y="1371600"/>
            <a:ext cx="3503066" cy="1572768"/>
          </a:xfrm>
          <a:prstGeom prst="roundRect">
            <a:avLst>
              <a:gd name="adj" fmla="val 3488"/>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9" name="Shape 7"/>
          <p:cNvSpPr/>
          <p:nvPr/>
        </p:nvSpPr>
        <p:spPr>
          <a:xfrm>
            <a:off x="786384" y="1591056"/>
            <a:ext cx="493776" cy="493776"/>
          </a:xfrm>
          <a:prstGeom prst="ellipse">
            <a:avLst/>
          </a:prstGeom>
          <a:solidFill>
            <a:srgbClr val="E9EEF6"/>
          </a:solidFill>
          <a:ln/>
        </p:spPr>
        <p:txBody>
          <a:bodyPr/>
          <a:lstStyle/>
          <a:p>
            <a:endParaRPr lang="en-IN"/>
          </a:p>
        </p:txBody>
      </p:sp>
      <p:pic>
        <p:nvPicPr>
          <p:cNvPr id="10" name="Image 0" descr="preencoded.png"/>
          <p:cNvPicPr>
            <a:picLocks noChangeAspect="1"/>
          </p:cNvPicPr>
          <p:nvPr/>
        </p:nvPicPr>
        <p:blipFill>
          <a:blip r:embed="rId3"/>
          <a:stretch>
            <a:fillRect/>
          </a:stretch>
        </p:blipFill>
        <p:spPr>
          <a:xfrm>
            <a:off x="904890" y="1709562"/>
            <a:ext cx="256764" cy="256764"/>
          </a:xfrm>
          <a:prstGeom prst="rect">
            <a:avLst/>
          </a:prstGeom>
        </p:spPr>
      </p:pic>
      <p:sp>
        <p:nvSpPr>
          <p:cNvPr id="11" name="Shape 8"/>
          <p:cNvSpPr/>
          <p:nvPr/>
        </p:nvSpPr>
        <p:spPr>
          <a:xfrm>
            <a:off x="3201314" y="1609344"/>
            <a:ext cx="676656" cy="219456"/>
          </a:xfrm>
          <a:prstGeom prst="roundRect">
            <a:avLst>
              <a:gd name="adj" fmla="val 16667"/>
            </a:avLst>
          </a:prstGeom>
          <a:solidFill>
            <a:srgbClr val="E9EEF6"/>
          </a:solidFill>
          <a:ln/>
        </p:spPr>
        <p:txBody>
          <a:bodyPr/>
          <a:lstStyle/>
          <a:p>
            <a:endParaRPr lang="en-IN"/>
          </a:p>
        </p:txBody>
      </p:sp>
      <p:sp>
        <p:nvSpPr>
          <p:cNvPr id="12" name="Text 9"/>
          <p:cNvSpPr/>
          <p:nvPr/>
        </p:nvSpPr>
        <p:spPr>
          <a:xfrm>
            <a:off x="3201314" y="1609344"/>
            <a:ext cx="676656" cy="219456"/>
          </a:xfrm>
          <a:prstGeom prst="rect">
            <a:avLst/>
          </a:prstGeom>
          <a:noFill/>
          <a:ln/>
        </p:spPr>
        <p:txBody>
          <a:bodyPr wrap="square" lIns="0" tIns="0" rIns="0" bIns="0" rtlCol="0" anchor="ctr"/>
          <a:lstStyle/>
          <a:p>
            <a:pPr marL="0" indent="0" algn="ctr">
              <a:buNone/>
            </a:pPr>
            <a:r>
              <a:rPr lang="en-US" sz="800" b="1" dirty="0">
                <a:solidFill>
                  <a:srgbClr val="0E7C7B"/>
                </a:solidFill>
                <a:latin typeface="Trebuchet MS" pitchFamily="34" charset="0"/>
                <a:ea typeface="Trebuchet MS" pitchFamily="34" charset="-122"/>
                <a:cs typeface="Trebuchet MS" pitchFamily="34" charset="-120"/>
              </a:rPr>
              <a:t>BOTH</a:t>
            </a:r>
            <a:endParaRPr lang="en-US" sz="800" dirty="0"/>
          </a:p>
        </p:txBody>
      </p:sp>
      <p:sp>
        <p:nvSpPr>
          <p:cNvPr id="13" name="Text 10"/>
          <p:cNvSpPr/>
          <p:nvPr/>
        </p:nvSpPr>
        <p:spPr>
          <a:xfrm>
            <a:off x="1408176" y="1591056"/>
            <a:ext cx="1765706" cy="502920"/>
          </a:xfrm>
          <a:prstGeom prst="rect">
            <a:avLst/>
          </a:prstGeom>
          <a:noFill/>
          <a:ln/>
        </p:spPr>
        <p:txBody>
          <a:bodyPr wrap="square" lIns="0" tIns="0" rIns="0" bIns="0" rtlCol="0" anchor="ctr"/>
          <a:lstStyle/>
          <a:p>
            <a:pPr marL="0" indent="0">
              <a:buNone/>
            </a:pPr>
            <a:r>
              <a:rPr lang="en-US" sz="1250" b="1" dirty="0">
                <a:solidFill>
                  <a:srgbClr val="1B2A4A"/>
                </a:solidFill>
                <a:latin typeface="Trebuchet MS" pitchFamily="34" charset="0"/>
                <a:ea typeface="Trebuchet MS" pitchFamily="34" charset="-122"/>
                <a:cs typeface="Trebuchet MS" pitchFamily="34" charset="-120"/>
              </a:rPr>
              <a:t>Trust gates everything</a:t>
            </a:r>
            <a:endParaRPr lang="en-US" sz="1250" dirty="0"/>
          </a:p>
        </p:txBody>
      </p:sp>
      <p:sp>
        <p:nvSpPr>
          <p:cNvPr id="14" name="Text 11"/>
          <p:cNvSpPr/>
          <p:nvPr/>
        </p:nvSpPr>
        <p:spPr>
          <a:xfrm>
            <a:off x="804672" y="2194560"/>
            <a:ext cx="3045866" cy="676656"/>
          </a:xfrm>
          <a:prstGeom prst="rect">
            <a:avLst/>
          </a:prstGeom>
          <a:noFill/>
          <a:ln/>
        </p:spPr>
        <p:txBody>
          <a:bodyPr wrap="square" lIns="0" tIns="0" rIns="0" bIns="0" rtlCol="0" anchor="t"/>
          <a:lstStyle/>
          <a:p>
            <a:pPr marL="0" indent="0">
              <a:lnSpc>
                <a:spcPct val="106000"/>
              </a:lnSpc>
              <a:buNone/>
            </a:pPr>
            <a:r>
              <a:rPr lang="en-US" sz="1050" dirty="0">
                <a:solidFill>
                  <a:srgbClr val="55617A"/>
                </a:solidFill>
                <a:latin typeface="Calibri" pitchFamily="34" charset="0"/>
                <a:ea typeface="Calibri" pitchFamily="34" charset="-122"/>
                <a:cs typeface="Calibri" pitchFamily="34" charset="-120"/>
              </a:rPr>
              <a:t>No transaction happens until trust is resolved — price comes second.</a:t>
            </a:r>
            <a:endParaRPr lang="en-US" sz="1050" dirty="0"/>
          </a:p>
        </p:txBody>
      </p:sp>
      <p:sp>
        <p:nvSpPr>
          <p:cNvPr id="15" name="Shape 12"/>
          <p:cNvSpPr/>
          <p:nvPr/>
        </p:nvSpPr>
        <p:spPr>
          <a:xfrm>
            <a:off x="4344314" y="1371600"/>
            <a:ext cx="3503066" cy="1572768"/>
          </a:xfrm>
          <a:prstGeom prst="roundRect">
            <a:avLst>
              <a:gd name="adj" fmla="val 3488"/>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16" name="Shape 13"/>
          <p:cNvSpPr/>
          <p:nvPr/>
        </p:nvSpPr>
        <p:spPr>
          <a:xfrm>
            <a:off x="4563770" y="1591056"/>
            <a:ext cx="493776" cy="493776"/>
          </a:xfrm>
          <a:prstGeom prst="ellipse">
            <a:avLst/>
          </a:prstGeom>
          <a:solidFill>
            <a:srgbClr val="E9EEF6"/>
          </a:solidFill>
          <a:ln/>
        </p:spPr>
        <p:txBody>
          <a:bodyPr/>
          <a:lstStyle/>
          <a:p>
            <a:endParaRPr lang="en-IN"/>
          </a:p>
        </p:txBody>
      </p:sp>
      <p:pic>
        <p:nvPicPr>
          <p:cNvPr id="17" name="Image 1" descr="preencoded.png"/>
          <p:cNvPicPr>
            <a:picLocks noChangeAspect="1"/>
          </p:cNvPicPr>
          <p:nvPr/>
        </p:nvPicPr>
        <p:blipFill>
          <a:blip r:embed="rId4"/>
          <a:stretch>
            <a:fillRect/>
          </a:stretch>
        </p:blipFill>
        <p:spPr>
          <a:xfrm>
            <a:off x="4682277" y="1709562"/>
            <a:ext cx="256764" cy="256764"/>
          </a:xfrm>
          <a:prstGeom prst="rect">
            <a:avLst/>
          </a:prstGeom>
        </p:spPr>
      </p:pic>
      <p:sp>
        <p:nvSpPr>
          <p:cNvPr id="18" name="Shape 14"/>
          <p:cNvSpPr/>
          <p:nvPr/>
        </p:nvSpPr>
        <p:spPr>
          <a:xfrm>
            <a:off x="6978701" y="1609344"/>
            <a:ext cx="676656" cy="219456"/>
          </a:xfrm>
          <a:prstGeom prst="roundRect">
            <a:avLst>
              <a:gd name="adj" fmla="val 16667"/>
            </a:avLst>
          </a:prstGeom>
          <a:solidFill>
            <a:srgbClr val="E9EEF6"/>
          </a:solidFill>
          <a:ln/>
        </p:spPr>
        <p:txBody>
          <a:bodyPr/>
          <a:lstStyle/>
          <a:p>
            <a:endParaRPr lang="en-IN"/>
          </a:p>
        </p:txBody>
      </p:sp>
      <p:sp>
        <p:nvSpPr>
          <p:cNvPr id="19" name="Text 15"/>
          <p:cNvSpPr/>
          <p:nvPr/>
        </p:nvSpPr>
        <p:spPr>
          <a:xfrm>
            <a:off x="6978701" y="1609344"/>
            <a:ext cx="676656" cy="219456"/>
          </a:xfrm>
          <a:prstGeom prst="rect">
            <a:avLst/>
          </a:prstGeom>
          <a:noFill/>
          <a:ln/>
        </p:spPr>
        <p:txBody>
          <a:bodyPr wrap="square" lIns="0" tIns="0" rIns="0" bIns="0" rtlCol="0" anchor="ctr"/>
          <a:lstStyle/>
          <a:p>
            <a:pPr marL="0" indent="0" algn="ctr">
              <a:buNone/>
            </a:pPr>
            <a:r>
              <a:rPr lang="en-US" sz="800" b="1" dirty="0">
                <a:solidFill>
                  <a:srgbClr val="0E7C7B"/>
                </a:solidFill>
                <a:latin typeface="Trebuchet MS" pitchFamily="34" charset="0"/>
                <a:ea typeface="Trebuchet MS" pitchFamily="34" charset="-122"/>
                <a:cs typeface="Trebuchet MS" pitchFamily="34" charset="-120"/>
              </a:rPr>
              <a:t>BOTH</a:t>
            </a:r>
            <a:endParaRPr lang="en-US" sz="800" dirty="0"/>
          </a:p>
        </p:txBody>
      </p:sp>
      <p:sp>
        <p:nvSpPr>
          <p:cNvPr id="20" name="Text 16"/>
          <p:cNvSpPr/>
          <p:nvPr/>
        </p:nvSpPr>
        <p:spPr>
          <a:xfrm>
            <a:off x="5185562" y="1591056"/>
            <a:ext cx="1765706" cy="502920"/>
          </a:xfrm>
          <a:prstGeom prst="rect">
            <a:avLst/>
          </a:prstGeom>
          <a:noFill/>
          <a:ln/>
        </p:spPr>
        <p:txBody>
          <a:bodyPr wrap="square" lIns="0" tIns="0" rIns="0" bIns="0" rtlCol="0" anchor="ctr"/>
          <a:lstStyle/>
          <a:p>
            <a:pPr marL="0" indent="0">
              <a:buNone/>
            </a:pPr>
            <a:r>
              <a:rPr lang="en-US" sz="1250" b="1" dirty="0">
                <a:solidFill>
                  <a:srgbClr val="1B2A4A"/>
                </a:solidFill>
                <a:latin typeface="Trebuchet MS" pitchFamily="34" charset="0"/>
                <a:ea typeface="Trebuchet MS" pitchFamily="34" charset="-122"/>
                <a:cs typeface="Trebuchet MS" pitchFamily="34" charset="-120"/>
              </a:rPr>
              <a:t>Certification is the master key</a:t>
            </a:r>
            <a:endParaRPr lang="en-US" sz="1250" dirty="0"/>
          </a:p>
        </p:txBody>
      </p:sp>
      <p:sp>
        <p:nvSpPr>
          <p:cNvPr id="21" name="Text 17"/>
          <p:cNvSpPr/>
          <p:nvPr/>
        </p:nvSpPr>
        <p:spPr>
          <a:xfrm>
            <a:off x="4582058" y="2194560"/>
            <a:ext cx="3045866" cy="676656"/>
          </a:xfrm>
          <a:prstGeom prst="rect">
            <a:avLst/>
          </a:prstGeom>
          <a:noFill/>
          <a:ln/>
        </p:spPr>
        <p:txBody>
          <a:bodyPr wrap="square" lIns="0" tIns="0" rIns="0" bIns="0" rtlCol="0" anchor="t"/>
          <a:lstStyle/>
          <a:p>
            <a:pPr marL="0" indent="0">
              <a:lnSpc>
                <a:spcPct val="106000"/>
              </a:lnSpc>
              <a:buNone/>
            </a:pPr>
            <a:r>
              <a:rPr lang="en-US" sz="1050" dirty="0">
                <a:solidFill>
                  <a:srgbClr val="55617A"/>
                </a:solidFill>
                <a:latin typeface="Calibri" pitchFamily="34" charset="0"/>
                <a:ea typeface="Calibri" pitchFamily="34" charset="-122"/>
                <a:cs typeface="Calibri" pitchFamily="34" charset="-120"/>
              </a:rPr>
              <a:t>Visible, graded, independent inspection is the #1 anxiety-resolver.</a:t>
            </a:r>
            <a:endParaRPr lang="en-US" sz="1050" dirty="0"/>
          </a:p>
        </p:txBody>
      </p:sp>
      <p:sp>
        <p:nvSpPr>
          <p:cNvPr id="22" name="Shape 18"/>
          <p:cNvSpPr/>
          <p:nvPr/>
        </p:nvSpPr>
        <p:spPr>
          <a:xfrm>
            <a:off x="8121701" y="1371600"/>
            <a:ext cx="3503066" cy="1572768"/>
          </a:xfrm>
          <a:prstGeom prst="roundRect">
            <a:avLst>
              <a:gd name="adj" fmla="val 3488"/>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23" name="Shape 19"/>
          <p:cNvSpPr/>
          <p:nvPr/>
        </p:nvSpPr>
        <p:spPr>
          <a:xfrm>
            <a:off x="8341157" y="1591056"/>
            <a:ext cx="493776" cy="493776"/>
          </a:xfrm>
          <a:prstGeom prst="ellipse">
            <a:avLst/>
          </a:prstGeom>
          <a:solidFill>
            <a:srgbClr val="E9EEF6"/>
          </a:solidFill>
          <a:ln/>
        </p:spPr>
        <p:txBody>
          <a:bodyPr/>
          <a:lstStyle/>
          <a:p>
            <a:endParaRPr lang="en-IN"/>
          </a:p>
        </p:txBody>
      </p:sp>
      <p:pic>
        <p:nvPicPr>
          <p:cNvPr id="24" name="Image 2" descr="preencoded.png"/>
          <p:cNvPicPr>
            <a:picLocks noChangeAspect="1"/>
          </p:cNvPicPr>
          <p:nvPr/>
        </p:nvPicPr>
        <p:blipFill>
          <a:blip r:embed="rId5"/>
          <a:stretch>
            <a:fillRect/>
          </a:stretch>
        </p:blipFill>
        <p:spPr>
          <a:xfrm>
            <a:off x="8459663" y="1709562"/>
            <a:ext cx="256764" cy="256764"/>
          </a:xfrm>
          <a:prstGeom prst="rect">
            <a:avLst/>
          </a:prstGeom>
        </p:spPr>
      </p:pic>
      <p:sp>
        <p:nvSpPr>
          <p:cNvPr id="25" name="Shape 20"/>
          <p:cNvSpPr/>
          <p:nvPr/>
        </p:nvSpPr>
        <p:spPr>
          <a:xfrm>
            <a:off x="10756087" y="1609344"/>
            <a:ext cx="676656" cy="219456"/>
          </a:xfrm>
          <a:prstGeom prst="roundRect">
            <a:avLst>
              <a:gd name="adj" fmla="val 16667"/>
            </a:avLst>
          </a:prstGeom>
          <a:solidFill>
            <a:srgbClr val="E9EEF6"/>
          </a:solidFill>
          <a:ln/>
        </p:spPr>
        <p:txBody>
          <a:bodyPr/>
          <a:lstStyle/>
          <a:p>
            <a:endParaRPr lang="en-IN"/>
          </a:p>
        </p:txBody>
      </p:sp>
      <p:sp>
        <p:nvSpPr>
          <p:cNvPr id="26" name="Text 21"/>
          <p:cNvSpPr/>
          <p:nvPr/>
        </p:nvSpPr>
        <p:spPr>
          <a:xfrm>
            <a:off x="10756087" y="1609344"/>
            <a:ext cx="676656" cy="219456"/>
          </a:xfrm>
          <a:prstGeom prst="rect">
            <a:avLst/>
          </a:prstGeom>
          <a:noFill/>
          <a:ln/>
        </p:spPr>
        <p:txBody>
          <a:bodyPr wrap="square" lIns="0" tIns="0" rIns="0" bIns="0" rtlCol="0" anchor="ctr"/>
          <a:lstStyle/>
          <a:p>
            <a:pPr marL="0" indent="0" algn="ctr">
              <a:buNone/>
            </a:pPr>
            <a:r>
              <a:rPr lang="en-US" sz="800" b="1" dirty="0">
                <a:solidFill>
                  <a:srgbClr val="0E7C7B"/>
                </a:solidFill>
                <a:latin typeface="Trebuchet MS" pitchFamily="34" charset="0"/>
                <a:ea typeface="Trebuchet MS" pitchFamily="34" charset="-122"/>
                <a:cs typeface="Trebuchet MS" pitchFamily="34" charset="-120"/>
              </a:rPr>
              <a:t>BOTH</a:t>
            </a:r>
            <a:endParaRPr lang="en-US" sz="800" dirty="0"/>
          </a:p>
        </p:txBody>
      </p:sp>
      <p:sp>
        <p:nvSpPr>
          <p:cNvPr id="27" name="Text 22"/>
          <p:cNvSpPr/>
          <p:nvPr/>
        </p:nvSpPr>
        <p:spPr>
          <a:xfrm>
            <a:off x="8962949" y="1591056"/>
            <a:ext cx="1765706" cy="502920"/>
          </a:xfrm>
          <a:prstGeom prst="rect">
            <a:avLst/>
          </a:prstGeom>
          <a:noFill/>
          <a:ln/>
        </p:spPr>
        <p:txBody>
          <a:bodyPr wrap="square" lIns="0" tIns="0" rIns="0" bIns="0" rtlCol="0" anchor="ctr"/>
          <a:lstStyle/>
          <a:p>
            <a:pPr marL="0" indent="0">
              <a:buNone/>
            </a:pPr>
            <a:r>
              <a:rPr lang="en-US" sz="1250" b="1" dirty="0">
                <a:solidFill>
                  <a:srgbClr val="1B2A4A"/>
                </a:solidFill>
                <a:latin typeface="Trebuchet MS" pitchFamily="34" charset="0"/>
                <a:ea typeface="Trebuchet MS" pitchFamily="34" charset="-122"/>
                <a:cs typeface="Trebuchet MS" pitchFamily="34" charset="-120"/>
              </a:rPr>
              <a:t>Upgrade-resell is the engine</a:t>
            </a:r>
            <a:endParaRPr lang="en-US" sz="1250" dirty="0"/>
          </a:p>
        </p:txBody>
      </p:sp>
      <p:sp>
        <p:nvSpPr>
          <p:cNvPr id="28" name="Text 23"/>
          <p:cNvSpPr/>
          <p:nvPr/>
        </p:nvSpPr>
        <p:spPr>
          <a:xfrm>
            <a:off x="8359445" y="2194560"/>
            <a:ext cx="3045866" cy="676656"/>
          </a:xfrm>
          <a:prstGeom prst="rect">
            <a:avLst/>
          </a:prstGeom>
          <a:noFill/>
          <a:ln/>
        </p:spPr>
        <p:txBody>
          <a:bodyPr wrap="square" lIns="0" tIns="0" rIns="0" bIns="0" rtlCol="0" anchor="t"/>
          <a:lstStyle/>
          <a:p>
            <a:pPr marL="0" indent="0">
              <a:lnSpc>
                <a:spcPct val="106000"/>
              </a:lnSpc>
              <a:buNone/>
            </a:pPr>
            <a:r>
              <a:rPr lang="en-US" sz="1050" dirty="0">
                <a:solidFill>
                  <a:srgbClr val="55617A"/>
                </a:solidFill>
                <a:latin typeface="Calibri" pitchFamily="34" charset="0"/>
                <a:ea typeface="Calibri" pitchFamily="34" charset="-122"/>
                <a:cs typeface="Calibri" pitchFamily="34" charset="-120"/>
              </a:rPr>
              <a:t>Selling the old funds the new — a recurring loop, not a one-off.</a:t>
            </a:r>
            <a:endParaRPr lang="en-US" sz="1050" dirty="0"/>
          </a:p>
        </p:txBody>
      </p:sp>
      <p:sp>
        <p:nvSpPr>
          <p:cNvPr id="29" name="Shape 24"/>
          <p:cNvSpPr/>
          <p:nvPr/>
        </p:nvSpPr>
        <p:spPr>
          <a:xfrm>
            <a:off x="566928" y="3182112"/>
            <a:ext cx="3503066" cy="1572768"/>
          </a:xfrm>
          <a:prstGeom prst="roundRect">
            <a:avLst>
              <a:gd name="adj" fmla="val 3488"/>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30" name="Shape 25"/>
          <p:cNvSpPr/>
          <p:nvPr/>
        </p:nvSpPr>
        <p:spPr>
          <a:xfrm>
            <a:off x="786384" y="3401568"/>
            <a:ext cx="493776" cy="493776"/>
          </a:xfrm>
          <a:prstGeom prst="ellipse">
            <a:avLst/>
          </a:prstGeom>
          <a:solidFill>
            <a:srgbClr val="E9EEF6"/>
          </a:solidFill>
          <a:ln/>
        </p:spPr>
        <p:txBody>
          <a:bodyPr/>
          <a:lstStyle/>
          <a:p>
            <a:endParaRPr lang="en-IN"/>
          </a:p>
        </p:txBody>
      </p:sp>
      <p:pic>
        <p:nvPicPr>
          <p:cNvPr id="31" name="Image 3" descr="preencoded.png"/>
          <p:cNvPicPr>
            <a:picLocks noChangeAspect="1"/>
          </p:cNvPicPr>
          <p:nvPr/>
        </p:nvPicPr>
        <p:blipFill>
          <a:blip r:embed="rId6"/>
          <a:stretch>
            <a:fillRect/>
          </a:stretch>
        </p:blipFill>
        <p:spPr>
          <a:xfrm>
            <a:off x="904890" y="3520074"/>
            <a:ext cx="256764" cy="256764"/>
          </a:xfrm>
          <a:prstGeom prst="rect">
            <a:avLst/>
          </a:prstGeom>
        </p:spPr>
      </p:pic>
      <p:sp>
        <p:nvSpPr>
          <p:cNvPr id="32" name="Shape 26"/>
          <p:cNvSpPr/>
          <p:nvPr/>
        </p:nvSpPr>
        <p:spPr>
          <a:xfrm>
            <a:off x="3201314" y="3419856"/>
            <a:ext cx="676656" cy="219456"/>
          </a:xfrm>
          <a:prstGeom prst="roundRect">
            <a:avLst>
              <a:gd name="adj" fmla="val 16667"/>
            </a:avLst>
          </a:prstGeom>
          <a:solidFill>
            <a:srgbClr val="E9EEF6"/>
          </a:solidFill>
          <a:ln/>
        </p:spPr>
        <p:txBody>
          <a:bodyPr/>
          <a:lstStyle/>
          <a:p>
            <a:endParaRPr lang="en-IN"/>
          </a:p>
        </p:txBody>
      </p:sp>
      <p:sp>
        <p:nvSpPr>
          <p:cNvPr id="33" name="Text 27"/>
          <p:cNvSpPr/>
          <p:nvPr/>
        </p:nvSpPr>
        <p:spPr>
          <a:xfrm>
            <a:off x="3201314" y="3419856"/>
            <a:ext cx="676656" cy="219456"/>
          </a:xfrm>
          <a:prstGeom prst="rect">
            <a:avLst/>
          </a:prstGeom>
          <a:noFill/>
          <a:ln/>
        </p:spPr>
        <p:txBody>
          <a:bodyPr wrap="square" lIns="0" tIns="0" rIns="0" bIns="0" rtlCol="0" anchor="ctr"/>
          <a:lstStyle/>
          <a:p>
            <a:pPr marL="0" indent="0" algn="ctr">
              <a:buNone/>
            </a:pPr>
            <a:r>
              <a:rPr lang="en-US" sz="800" b="1" dirty="0">
                <a:solidFill>
                  <a:srgbClr val="0E7C7B"/>
                </a:solidFill>
                <a:latin typeface="Trebuchet MS" pitchFamily="34" charset="0"/>
                <a:ea typeface="Trebuchet MS" pitchFamily="34" charset="-122"/>
                <a:cs typeface="Trebuchet MS" pitchFamily="34" charset="-120"/>
              </a:rPr>
              <a:t>BOTH</a:t>
            </a:r>
            <a:endParaRPr lang="en-US" sz="800" dirty="0"/>
          </a:p>
        </p:txBody>
      </p:sp>
      <p:sp>
        <p:nvSpPr>
          <p:cNvPr id="34" name="Text 28"/>
          <p:cNvSpPr/>
          <p:nvPr/>
        </p:nvSpPr>
        <p:spPr>
          <a:xfrm>
            <a:off x="1408176" y="3401568"/>
            <a:ext cx="1765706" cy="502920"/>
          </a:xfrm>
          <a:prstGeom prst="rect">
            <a:avLst/>
          </a:prstGeom>
          <a:noFill/>
          <a:ln/>
        </p:spPr>
        <p:txBody>
          <a:bodyPr wrap="square" lIns="0" tIns="0" rIns="0" bIns="0" rtlCol="0" anchor="ctr"/>
          <a:lstStyle/>
          <a:p>
            <a:pPr marL="0" indent="0">
              <a:buNone/>
            </a:pPr>
            <a:r>
              <a:rPr lang="en-US" sz="1250" b="1" dirty="0">
                <a:solidFill>
                  <a:srgbClr val="1B2A4A"/>
                </a:solidFill>
                <a:latin typeface="Trebuchet MS" pitchFamily="34" charset="0"/>
                <a:ea typeface="Trebuchet MS" pitchFamily="34" charset="-122"/>
                <a:cs typeface="Trebuchet MS" pitchFamily="34" charset="-120"/>
              </a:rPr>
              <a:t>Price sensitivity collapses</a:t>
            </a:r>
            <a:endParaRPr lang="en-US" sz="1250" dirty="0"/>
          </a:p>
        </p:txBody>
      </p:sp>
      <p:sp>
        <p:nvSpPr>
          <p:cNvPr id="35" name="Text 29"/>
          <p:cNvSpPr/>
          <p:nvPr/>
        </p:nvSpPr>
        <p:spPr>
          <a:xfrm>
            <a:off x="804672" y="4005072"/>
            <a:ext cx="3045866" cy="676656"/>
          </a:xfrm>
          <a:prstGeom prst="rect">
            <a:avLst/>
          </a:prstGeom>
          <a:noFill/>
          <a:ln/>
        </p:spPr>
        <p:txBody>
          <a:bodyPr wrap="square" lIns="0" tIns="0" rIns="0" bIns="0" rtlCol="0" anchor="t"/>
          <a:lstStyle/>
          <a:p>
            <a:pPr marL="0" indent="0">
              <a:lnSpc>
                <a:spcPct val="106000"/>
              </a:lnSpc>
              <a:buNone/>
            </a:pPr>
            <a:r>
              <a:rPr lang="en-US" sz="1050" dirty="0">
                <a:solidFill>
                  <a:srgbClr val="55617A"/>
                </a:solidFill>
                <a:latin typeface="Calibri" pitchFamily="34" charset="0"/>
                <a:ea typeface="Calibri" pitchFamily="34" charset="-122"/>
                <a:cs typeface="Calibri" pitchFamily="34" charset="-120"/>
              </a:rPr>
              <a:t>Both buyers pay a premium for guaranteed authenticity &amp; warranty.</a:t>
            </a:r>
            <a:endParaRPr lang="en-US" sz="1050" dirty="0"/>
          </a:p>
        </p:txBody>
      </p:sp>
      <p:sp>
        <p:nvSpPr>
          <p:cNvPr id="36" name="Shape 30"/>
          <p:cNvSpPr/>
          <p:nvPr/>
        </p:nvSpPr>
        <p:spPr>
          <a:xfrm>
            <a:off x="4344314" y="3182112"/>
            <a:ext cx="3503066" cy="1572768"/>
          </a:xfrm>
          <a:prstGeom prst="roundRect">
            <a:avLst>
              <a:gd name="adj" fmla="val 3488"/>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37" name="Shape 31"/>
          <p:cNvSpPr/>
          <p:nvPr/>
        </p:nvSpPr>
        <p:spPr>
          <a:xfrm>
            <a:off x="4563770" y="3401568"/>
            <a:ext cx="493776" cy="493776"/>
          </a:xfrm>
          <a:prstGeom prst="ellipse">
            <a:avLst/>
          </a:prstGeom>
          <a:solidFill>
            <a:srgbClr val="E9EEF6"/>
          </a:solidFill>
          <a:ln/>
        </p:spPr>
        <p:txBody>
          <a:bodyPr/>
          <a:lstStyle/>
          <a:p>
            <a:endParaRPr lang="en-IN"/>
          </a:p>
        </p:txBody>
      </p:sp>
      <p:pic>
        <p:nvPicPr>
          <p:cNvPr id="38" name="Image 4" descr="preencoded.png"/>
          <p:cNvPicPr>
            <a:picLocks noChangeAspect="1"/>
          </p:cNvPicPr>
          <p:nvPr/>
        </p:nvPicPr>
        <p:blipFill>
          <a:blip r:embed="rId7"/>
          <a:stretch>
            <a:fillRect/>
          </a:stretch>
        </p:blipFill>
        <p:spPr>
          <a:xfrm>
            <a:off x="4682277" y="3520074"/>
            <a:ext cx="256764" cy="256764"/>
          </a:xfrm>
          <a:prstGeom prst="rect">
            <a:avLst/>
          </a:prstGeom>
        </p:spPr>
      </p:pic>
      <p:sp>
        <p:nvSpPr>
          <p:cNvPr id="39" name="Shape 32"/>
          <p:cNvSpPr/>
          <p:nvPr/>
        </p:nvSpPr>
        <p:spPr>
          <a:xfrm>
            <a:off x="6978701" y="3419856"/>
            <a:ext cx="676656" cy="219456"/>
          </a:xfrm>
          <a:prstGeom prst="roundRect">
            <a:avLst>
              <a:gd name="adj" fmla="val 16667"/>
            </a:avLst>
          </a:prstGeom>
          <a:solidFill>
            <a:srgbClr val="E5EDFC"/>
          </a:solidFill>
          <a:ln/>
        </p:spPr>
        <p:txBody>
          <a:bodyPr/>
          <a:lstStyle/>
          <a:p>
            <a:endParaRPr lang="en-IN"/>
          </a:p>
        </p:txBody>
      </p:sp>
      <p:sp>
        <p:nvSpPr>
          <p:cNvPr id="40" name="Text 33"/>
          <p:cNvSpPr/>
          <p:nvPr/>
        </p:nvSpPr>
        <p:spPr>
          <a:xfrm>
            <a:off x="6978701" y="3419856"/>
            <a:ext cx="676656" cy="219456"/>
          </a:xfrm>
          <a:prstGeom prst="rect">
            <a:avLst/>
          </a:prstGeom>
          <a:noFill/>
          <a:ln/>
        </p:spPr>
        <p:txBody>
          <a:bodyPr wrap="square" lIns="0" tIns="0" rIns="0" bIns="0" rtlCol="0" anchor="ctr"/>
          <a:lstStyle/>
          <a:p>
            <a:pPr marL="0" indent="0" algn="ctr">
              <a:buNone/>
            </a:pPr>
            <a:r>
              <a:rPr lang="en-US" sz="800" b="1" dirty="0">
                <a:solidFill>
                  <a:srgbClr val="2563EB"/>
                </a:solidFill>
                <a:latin typeface="Trebuchet MS" pitchFamily="34" charset="0"/>
                <a:ea typeface="Trebuchet MS" pitchFamily="34" charset="-122"/>
                <a:cs typeface="Trebuchet MS" pitchFamily="34" charset="-120"/>
              </a:rPr>
              <a:t>REAL</a:t>
            </a:r>
            <a:endParaRPr lang="en-US" sz="800" dirty="0"/>
          </a:p>
        </p:txBody>
      </p:sp>
      <p:sp>
        <p:nvSpPr>
          <p:cNvPr id="41" name="Text 34"/>
          <p:cNvSpPr/>
          <p:nvPr/>
        </p:nvSpPr>
        <p:spPr>
          <a:xfrm>
            <a:off x="5185562" y="3401568"/>
            <a:ext cx="1765706" cy="502920"/>
          </a:xfrm>
          <a:prstGeom prst="rect">
            <a:avLst/>
          </a:prstGeom>
          <a:noFill/>
          <a:ln/>
        </p:spPr>
        <p:txBody>
          <a:bodyPr wrap="square" lIns="0" tIns="0" rIns="0" bIns="0" rtlCol="0" anchor="ctr"/>
          <a:lstStyle/>
          <a:p>
            <a:pPr marL="0" indent="0">
              <a:buNone/>
            </a:pPr>
            <a:r>
              <a:rPr lang="en-US" sz="1250" b="1" dirty="0">
                <a:solidFill>
                  <a:srgbClr val="1B2A4A"/>
                </a:solidFill>
                <a:latin typeface="Trebuchet MS" pitchFamily="34" charset="0"/>
                <a:ea typeface="Trebuchet MS" pitchFamily="34" charset="-122"/>
                <a:cs typeface="Trebuchet MS" pitchFamily="34" charset="-120"/>
              </a:rPr>
              <a:t>Sellers are underserved &amp; unsafe</a:t>
            </a:r>
            <a:endParaRPr lang="en-US" sz="1250" dirty="0"/>
          </a:p>
        </p:txBody>
      </p:sp>
      <p:sp>
        <p:nvSpPr>
          <p:cNvPr id="42" name="Text 35"/>
          <p:cNvSpPr/>
          <p:nvPr/>
        </p:nvSpPr>
        <p:spPr>
          <a:xfrm>
            <a:off x="4582058" y="4005072"/>
            <a:ext cx="3045866" cy="676656"/>
          </a:xfrm>
          <a:prstGeom prst="rect">
            <a:avLst/>
          </a:prstGeom>
          <a:noFill/>
          <a:ln/>
        </p:spPr>
        <p:txBody>
          <a:bodyPr wrap="square" lIns="0" tIns="0" rIns="0" bIns="0" rtlCol="0" anchor="t"/>
          <a:lstStyle/>
          <a:p>
            <a:pPr marL="0" indent="0">
              <a:lnSpc>
                <a:spcPct val="106000"/>
              </a:lnSpc>
              <a:buNone/>
            </a:pPr>
            <a:r>
              <a:rPr lang="en-US" sz="1050" dirty="0">
                <a:solidFill>
                  <a:srgbClr val="55617A"/>
                </a:solidFill>
                <a:latin typeface="Calibri" pitchFamily="34" charset="0"/>
                <a:ea typeface="Calibri" pitchFamily="34" charset="-122"/>
                <a:cs typeface="Calibri" pitchFamily="34" charset="-120"/>
              </a:rPr>
              <a:t>Buyer-biased platforms; home visits feel unsafe for a lone seller.</a:t>
            </a:r>
            <a:endParaRPr lang="en-US" sz="1050" dirty="0"/>
          </a:p>
        </p:txBody>
      </p:sp>
      <p:sp>
        <p:nvSpPr>
          <p:cNvPr id="43" name="Shape 36"/>
          <p:cNvSpPr/>
          <p:nvPr/>
        </p:nvSpPr>
        <p:spPr>
          <a:xfrm>
            <a:off x="8121701" y="3182112"/>
            <a:ext cx="3503066" cy="1572768"/>
          </a:xfrm>
          <a:prstGeom prst="roundRect">
            <a:avLst>
              <a:gd name="adj" fmla="val 3488"/>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44" name="Shape 37"/>
          <p:cNvSpPr/>
          <p:nvPr/>
        </p:nvSpPr>
        <p:spPr>
          <a:xfrm>
            <a:off x="8341157" y="3401568"/>
            <a:ext cx="493776" cy="493776"/>
          </a:xfrm>
          <a:prstGeom prst="ellipse">
            <a:avLst/>
          </a:prstGeom>
          <a:solidFill>
            <a:srgbClr val="E9EEF6"/>
          </a:solidFill>
          <a:ln/>
        </p:spPr>
        <p:txBody>
          <a:bodyPr/>
          <a:lstStyle/>
          <a:p>
            <a:endParaRPr lang="en-IN"/>
          </a:p>
        </p:txBody>
      </p:sp>
      <p:pic>
        <p:nvPicPr>
          <p:cNvPr id="45" name="Image 5" descr="preencoded.png"/>
          <p:cNvPicPr>
            <a:picLocks noChangeAspect="1"/>
          </p:cNvPicPr>
          <p:nvPr/>
        </p:nvPicPr>
        <p:blipFill>
          <a:blip r:embed="rId8"/>
          <a:stretch>
            <a:fillRect/>
          </a:stretch>
        </p:blipFill>
        <p:spPr>
          <a:xfrm>
            <a:off x="8459663" y="3520074"/>
            <a:ext cx="256764" cy="256764"/>
          </a:xfrm>
          <a:prstGeom prst="rect">
            <a:avLst/>
          </a:prstGeom>
        </p:spPr>
      </p:pic>
      <p:sp>
        <p:nvSpPr>
          <p:cNvPr id="46" name="Shape 38"/>
          <p:cNvSpPr/>
          <p:nvPr/>
        </p:nvSpPr>
        <p:spPr>
          <a:xfrm>
            <a:off x="10756087" y="3419856"/>
            <a:ext cx="676656" cy="219456"/>
          </a:xfrm>
          <a:prstGeom prst="roundRect">
            <a:avLst>
              <a:gd name="adj" fmla="val 16667"/>
            </a:avLst>
          </a:prstGeom>
          <a:solidFill>
            <a:srgbClr val="E9EEF6"/>
          </a:solidFill>
          <a:ln/>
        </p:spPr>
        <p:txBody>
          <a:bodyPr/>
          <a:lstStyle/>
          <a:p>
            <a:endParaRPr lang="en-IN"/>
          </a:p>
        </p:txBody>
      </p:sp>
      <p:sp>
        <p:nvSpPr>
          <p:cNvPr id="47" name="Text 39"/>
          <p:cNvSpPr/>
          <p:nvPr/>
        </p:nvSpPr>
        <p:spPr>
          <a:xfrm>
            <a:off x="10756087" y="3419856"/>
            <a:ext cx="676656" cy="219456"/>
          </a:xfrm>
          <a:prstGeom prst="rect">
            <a:avLst/>
          </a:prstGeom>
          <a:noFill/>
          <a:ln/>
        </p:spPr>
        <p:txBody>
          <a:bodyPr wrap="square" lIns="0" tIns="0" rIns="0" bIns="0" rtlCol="0" anchor="ctr"/>
          <a:lstStyle/>
          <a:p>
            <a:pPr marL="0" indent="0" algn="ctr">
              <a:buNone/>
            </a:pPr>
            <a:r>
              <a:rPr lang="en-US" sz="800" b="1" dirty="0">
                <a:solidFill>
                  <a:srgbClr val="0E7C7B"/>
                </a:solidFill>
                <a:latin typeface="Trebuchet MS" pitchFamily="34" charset="0"/>
                <a:ea typeface="Trebuchet MS" pitchFamily="34" charset="-122"/>
                <a:cs typeface="Trebuchet MS" pitchFamily="34" charset="-120"/>
              </a:rPr>
              <a:t>BOTH</a:t>
            </a:r>
            <a:endParaRPr lang="en-US" sz="800" dirty="0"/>
          </a:p>
        </p:txBody>
      </p:sp>
      <p:sp>
        <p:nvSpPr>
          <p:cNvPr id="48" name="Text 40"/>
          <p:cNvSpPr/>
          <p:nvPr/>
        </p:nvSpPr>
        <p:spPr>
          <a:xfrm>
            <a:off x="8962949" y="3401568"/>
            <a:ext cx="1765706" cy="502920"/>
          </a:xfrm>
          <a:prstGeom prst="rect">
            <a:avLst/>
          </a:prstGeom>
          <a:noFill/>
          <a:ln/>
        </p:spPr>
        <p:txBody>
          <a:bodyPr wrap="square" lIns="0" tIns="0" rIns="0" bIns="0" rtlCol="0" anchor="ctr"/>
          <a:lstStyle/>
          <a:p>
            <a:pPr marL="0" indent="0">
              <a:buNone/>
            </a:pPr>
            <a:r>
              <a:rPr lang="en-US" sz="1250" b="1" dirty="0">
                <a:solidFill>
                  <a:srgbClr val="1B2A4A"/>
                </a:solidFill>
                <a:latin typeface="Trebuchet MS" pitchFamily="34" charset="0"/>
                <a:ea typeface="Trebuchet MS" pitchFamily="34" charset="-122"/>
                <a:cs typeface="Trebuchet MS" pitchFamily="34" charset="-120"/>
              </a:rPr>
              <a:t>Peers &amp; YouTube beat brands</a:t>
            </a:r>
            <a:endParaRPr lang="en-US" sz="1250" dirty="0"/>
          </a:p>
        </p:txBody>
      </p:sp>
      <p:sp>
        <p:nvSpPr>
          <p:cNvPr id="49" name="Text 41"/>
          <p:cNvSpPr/>
          <p:nvPr/>
        </p:nvSpPr>
        <p:spPr>
          <a:xfrm>
            <a:off x="8359445" y="4005072"/>
            <a:ext cx="3045866" cy="676656"/>
          </a:xfrm>
          <a:prstGeom prst="rect">
            <a:avLst/>
          </a:prstGeom>
          <a:noFill/>
          <a:ln/>
        </p:spPr>
        <p:txBody>
          <a:bodyPr wrap="square" lIns="0" tIns="0" rIns="0" bIns="0" rtlCol="0" anchor="t"/>
          <a:lstStyle/>
          <a:p>
            <a:pPr marL="0" indent="0">
              <a:lnSpc>
                <a:spcPct val="106000"/>
              </a:lnSpc>
              <a:buNone/>
            </a:pPr>
            <a:r>
              <a:rPr lang="en-US" sz="1050" dirty="0">
                <a:solidFill>
                  <a:srgbClr val="55617A"/>
                </a:solidFill>
                <a:latin typeface="Calibri" pitchFamily="34" charset="0"/>
                <a:ea typeface="Calibri" pitchFamily="34" charset="-122"/>
                <a:cs typeface="Calibri" pitchFamily="34" charset="-120"/>
              </a:rPr>
              <a:t>Friends/family + YouTube outrank brand messaging for trust.</a:t>
            </a:r>
            <a:endParaRPr lang="en-US" sz="1050" dirty="0"/>
          </a:p>
        </p:txBody>
      </p:sp>
      <p:sp>
        <p:nvSpPr>
          <p:cNvPr id="50" name="Shape 42"/>
          <p:cNvSpPr/>
          <p:nvPr/>
        </p:nvSpPr>
        <p:spPr>
          <a:xfrm>
            <a:off x="566928" y="4800600"/>
            <a:ext cx="11057839" cy="914400"/>
          </a:xfrm>
          <a:prstGeom prst="roundRect">
            <a:avLst>
              <a:gd name="adj" fmla="val 6000"/>
            </a:avLst>
          </a:prstGeom>
          <a:solidFill>
            <a:srgbClr val="E9EEF6"/>
          </a:solidFill>
          <a:ln/>
        </p:spPr>
        <p:txBody>
          <a:bodyPr/>
          <a:lstStyle/>
          <a:p>
            <a:endParaRPr lang="en-IN"/>
          </a:p>
        </p:txBody>
      </p:sp>
      <p:pic>
        <p:nvPicPr>
          <p:cNvPr id="51" name="Image 6" descr="preencoded.png"/>
          <p:cNvPicPr>
            <a:picLocks noChangeAspect="1"/>
          </p:cNvPicPr>
          <p:nvPr/>
        </p:nvPicPr>
        <p:blipFill>
          <a:blip r:embed="rId9"/>
          <a:stretch>
            <a:fillRect/>
          </a:stretch>
        </p:blipFill>
        <p:spPr>
          <a:xfrm>
            <a:off x="841248" y="5038344"/>
            <a:ext cx="365760" cy="365760"/>
          </a:xfrm>
          <a:prstGeom prst="rect">
            <a:avLst/>
          </a:prstGeom>
        </p:spPr>
      </p:pic>
      <p:sp>
        <p:nvSpPr>
          <p:cNvPr id="52" name="Text 43"/>
          <p:cNvSpPr/>
          <p:nvPr/>
        </p:nvSpPr>
        <p:spPr>
          <a:xfrm>
            <a:off x="1435608" y="4910328"/>
            <a:ext cx="9869119" cy="713232"/>
          </a:xfrm>
          <a:prstGeom prst="rect">
            <a:avLst/>
          </a:prstGeom>
          <a:noFill/>
          <a:ln/>
        </p:spPr>
        <p:txBody>
          <a:bodyPr wrap="square" lIns="0" tIns="0" rIns="0" bIns="0" rtlCol="0" anchor="ctr"/>
          <a:lstStyle/>
          <a:p>
            <a:pPr marL="0" indent="0">
              <a:lnSpc>
                <a:spcPct val="106000"/>
              </a:lnSpc>
              <a:buNone/>
            </a:pPr>
            <a:r>
              <a:rPr lang="en-US" sz="1300" b="1" dirty="0">
                <a:solidFill>
                  <a:srgbClr val="1B2A4A"/>
                </a:solidFill>
                <a:latin typeface="Calibri" pitchFamily="34" charset="0"/>
                <a:ea typeface="Calibri" pitchFamily="34" charset="-122"/>
                <a:cs typeface="Calibri" pitchFamily="34" charset="-120"/>
              </a:rPr>
              <a:t>The through-line:  </a:t>
            </a:r>
            <a:r>
              <a:rPr lang="en-US" sz="1300" dirty="0">
                <a:solidFill>
                  <a:srgbClr val="1B2A4A"/>
                </a:solidFill>
                <a:latin typeface="Calibri" pitchFamily="34" charset="0"/>
                <a:ea typeface="Calibri" pitchFamily="34" charset="-122"/>
                <a:cs typeface="Calibri" pitchFamily="34" charset="-120"/>
              </a:rPr>
              <a:t>fear — of fraud, of overpaying, of an unsafe visit — is the shared emotional state. The platform’s core job is to </a:t>
            </a:r>
            <a:r>
              <a:rPr lang="en-US" sz="1300" b="1" dirty="0">
                <a:solidFill>
                  <a:srgbClr val="1B2A4A"/>
                </a:solidFill>
                <a:latin typeface="Calibri" pitchFamily="34" charset="0"/>
                <a:ea typeface="Calibri" pitchFamily="34" charset="-122"/>
                <a:cs typeface="Calibri" pitchFamily="34" charset="-120"/>
              </a:rPr>
              <a:t>absorb anxiety, not transfer it</a:t>
            </a:r>
            <a:r>
              <a:rPr lang="en-US" sz="1300" dirty="0">
                <a:solidFill>
                  <a:srgbClr val="1B2A4A"/>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buNone/>
            </a:pPr>
            <a:r>
              <a:rPr lang="en-US" sz="1150" b="1" kern="0" spc="200" dirty="0">
                <a:solidFill>
                  <a:srgbClr val="0E7C7B"/>
                </a:solidFill>
                <a:latin typeface="Trebuchet MS" pitchFamily="34" charset="0"/>
                <a:ea typeface="Trebuchet MS" pitchFamily="34" charset="-122"/>
                <a:cs typeface="Trebuchet MS" pitchFamily="34" charset="-120"/>
              </a:rPr>
              <a:t>RESEARCH EVIDENCE MATRIX</a:t>
            </a:r>
            <a:endParaRPr lang="en-US" sz="1150" dirty="0"/>
          </a:p>
        </p:txBody>
      </p:sp>
      <p:sp>
        <p:nvSpPr>
          <p:cNvPr id="3" name="Text 1"/>
          <p:cNvSpPr/>
          <p:nvPr/>
        </p:nvSpPr>
        <p:spPr>
          <a:xfrm>
            <a:off x="566928" y="658368"/>
            <a:ext cx="11057839" cy="603504"/>
          </a:xfrm>
          <a:prstGeom prst="rect">
            <a:avLst/>
          </a:prstGeom>
          <a:noFill/>
          <a:ln/>
        </p:spPr>
        <p:txBody>
          <a:bodyPr wrap="square" lIns="0" tIns="0" rIns="0" bIns="0" rtlCol="0" anchor="ctr"/>
          <a:lstStyle/>
          <a:p>
            <a:pPr marL="0" indent="0">
              <a:buNone/>
            </a:pPr>
            <a:r>
              <a:rPr lang="en-US" sz="2700" b="1" dirty="0">
                <a:solidFill>
                  <a:srgbClr val="1B2A4A"/>
                </a:solidFill>
                <a:latin typeface="Georgia" pitchFamily="34" charset="0"/>
                <a:ea typeface="Georgia" pitchFamily="34" charset="-122"/>
                <a:cs typeface="Georgia" pitchFamily="34" charset="-120"/>
              </a:rPr>
              <a:t>Every Finding, Traced to Its Source</a:t>
            </a:r>
            <a:endParaRPr lang="en-US" sz="2700" dirty="0"/>
          </a:p>
        </p:txBody>
      </p:sp>
      <p:sp>
        <p:nvSpPr>
          <p:cNvPr id="4" name="Shape 2"/>
          <p:cNvSpPr/>
          <p:nvPr/>
        </p:nvSpPr>
        <p:spPr>
          <a:xfrm>
            <a:off x="566928" y="6437376"/>
            <a:ext cx="11057839" cy="0"/>
          </a:xfrm>
          <a:prstGeom prst="line">
            <a:avLst/>
          </a:prstGeom>
          <a:noFill/>
          <a:ln w="12700">
            <a:solidFill>
              <a:srgbClr val="E3E8F0"/>
            </a:solidFill>
            <a:prstDash val="solid"/>
          </a:ln>
        </p:spPr>
        <p:txBody>
          <a:bodyPr/>
          <a:lstStyle/>
          <a:p>
            <a:endParaRPr lang="en-IN"/>
          </a:p>
        </p:txBody>
      </p:sp>
      <p:sp>
        <p:nvSpPr>
          <p:cNvPr id="5" name="Text 3"/>
          <p:cNvSpPr/>
          <p:nvPr/>
        </p:nvSpPr>
        <p:spPr>
          <a:xfrm>
            <a:off x="566928" y="6473952"/>
            <a:ext cx="6400800" cy="274320"/>
          </a:xfrm>
          <a:prstGeom prst="rect">
            <a:avLst/>
          </a:prstGeom>
          <a:noFill/>
          <a:ln/>
        </p:spPr>
        <p:txBody>
          <a:bodyPr wrap="square" lIns="0" tIns="0" rIns="0" bIns="0" rtlCol="0" anchor="ctr"/>
          <a:lstStyle/>
          <a:p>
            <a:pPr marL="0" indent="0">
              <a:buNone/>
            </a:pPr>
            <a:r>
              <a:rPr lang="en-US" sz="850" kern="0" spc="100" dirty="0">
                <a:solidFill>
                  <a:srgbClr val="8A97AD"/>
                </a:solidFill>
                <a:latin typeface="Trebuchet MS" pitchFamily="34" charset="0"/>
                <a:ea typeface="Trebuchet MS" pitchFamily="34" charset="-122"/>
                <a:cs typeface="Trebuchet MS" pitchFamily="34" charset="-120"/>
              </a:rPr>
              <a:t>CertiBuy  ·  Assignment 1</a:t>
            </a:r>
            <a:endParaRPr lang="en-US" sz="850" dirty="0"/>
          </a:p>
        </p:txBody>
      </p:sp>
      <p:sp>
        <p:nvSpPr>
          <p:cNvPr id="6" name="Text 4"/>
          <p:cNvSpPr/>
          <p:nvPr/>
        </p:nvSpPr>
        <p:spPr>
          <a:xfrm>
            <a:off x="4675327" y="6473952"/>
            <a:ext cx="6583680" cy="274320"/>
          </a:xfrm>
          <a:prstGeom prst="rect">
            <a:avLst/>
          </a:prstGeom>
          <a:noFill/>
          <a:ln/>
        </p:spPr>
        <p:txBody>
          <a:bodyPr wrap="square" lIns="0" tIns="0" rIns="0" bIns="0" rtlCol="0" anchor="ctr"/>
          <a:lstStyle/>
          <a:p>
            <a:pPr marL="0" indent="0" algn="r">
              <a:buNone/>
            </a:pPr>
            <a:r>
              <a:rPr lang="en-US" sz="850" dirty="0">
                <a:solidFill>
                  <a:srgbClr val="8A97AD"/>
                </a:solidFill>
                <a:latin typeface="Trebuchet MS" pitchFamily="34" charset="0"/>
                <a:ea typeface="Trebuchet MS" pitchFamily="34" charset="-122"/>
                <a:cs typeface="Trebuchet MS" pitchFamily="34" charset="-120"/>
              </a:rPr>
              <a:t>IITM Pravartak  ·  AI-Powered Product Design &amp; Management  ·  Batch 2 · Group 16</a:t>
            </a:r>
            <a:endParaRPr lang="en-US" sz="850" dirty="0"/>
          </a:p>
        </p:txBody>
      </p:sp>
      <p:sp>
        <p:nvSpPr>
          <p:cNvPr id="7" name="Text 5"/>
          <p:cNvSpPr/>
          <p:nvPr/>
        </p:nvSpPr>
        <p:spPr>
          <a:xfrm>
            <a:off x="11259007" y="6473952"/>
            <a:ext cx="365760" cy="274320"/>
          </a:xfrm>
          <a:prstGeom prst="rect">
            <a:avLst/>
          </a:prstGeom>
          <a:noFill/>
          <a:ln/>
        </p:spPr>
        <p:txBody>
          <a:bodyPr wrap="square" lIns="0" tIns="0" rIns="0" bIns="0" rtlCol="0" anchor="ctr"/>
          <a:lstStyle/>
          <a:p>
            <a:pPr marL="0" indent="0" algn="r">
              <a:buNone/>
            </a:pPr>
            <a:r>
              <a:rPr lang="en-US" sz="850" b="1" dirty="0">
                <a:solidFill>
                  <a:srgbClr val="8A97AD"/>
                </a:solidFill>
                <a:latin typeface="Trebuchet MS" pitchFamily="34" charset="0"/>
                <a:ea typeface="Trebuchet MS" pitchFamily="34" charset="-122"/>
                <a:cs typeface="Trebuchet MS" pitchFamily="34" charset="-120"/>
              </a:rPr>
              <a:t>07</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57839" cy="914400"/>
        </p:xfrm>
        <a:graphic>
          <a:graphicData uri="http://schemas.openxmlformats.org/drawingml/2006/table">
            <a:tbl>
              <a:tblPr/>
              <a:tblGrid>
                <a:gridCol w="274320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1728216">
                  <a:extLst>
                    <a:ext uri="{9D8B030D-6E8A-4147-A177-3AD203B41FA5}">
                      <a16:colId xmlns:a16="http://schemas.microsoft.com/office/drawing/2014/main" val="20003"/>
                    </a:ext>
                  </a:extLst>
                </a:gridCol>
              </a:tblGrid>
              <a:tr h="566928">
                <a:tc>
                  <a:txBody>
                    <a:bodyPr/>
                    <a:lstStyle/>
                    <a:p>
                      <a:pPr marL="0" indent="0" algn="l">
                        <a:buNone/>
                      </a:pPr>
                      <a:r>
                        <a:rPr lang="en-US" sz="1050" b="1" dirty="0">
                          <a:solidFill>
                            <a:srgbClr val="FFFFFF"/>
                          </a:solidFill>
                          <a:latin typeface="Trebuchet MS" pitchFamily="34" charset="0"/>
                          <a:ea typeface="Trebuchet MS" pitchFamily="34" charset="-122"/>
                          <a:cs typeface="Trebuchet MS" pitchFamily="34" charset="-120"/>
                        </a:rPr>
                        <a:t>Finding</a:t>
                      </a:r>
                      <a:endParaRPr lang="en-US" sz="1050" dirty="0">
                        <a:latin typeface="Trebuchet MS" charset="0"/>
                        <a:ea typeface="Trebuchet MS" charset="0"/>
                        <a:cs typeface="Trebuchet MS"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1B2A4A"/>
                    </a:solidFill>
                  </a:tcPr>
                </a:tc>
                <a:tc>
                  <a:txBody>
                    <a:bodyPr/>
                    <a:lstStyle/>
                    <a:p>
                      <a:pPr marL="0" indent="0" algn="l">
                        <a:buNone/>
                      </a:pPr>
                      <a:r>
                        <a:rPr lang="en-US" sz="1050" b="1" dirty="0">
                          <a:solidFill>
                            <a:srgbClr val="FFFFFF"/>
                          </a:solidFill>
                          <a:latin typeface="Trebuchet MS" pitchFamily="34" charset="0"/>
                          <a:ea typeface="Trebuchet MS" pitchFamily="34" charset="-122"/>
                          <a:cs typeface="Trebuchet MS" pitchFamily="34" charset="-120"/>
                        </a:rPr>
                        <a:t>Real interview evidence  [REAL]</a:t>
                      </a:r>
                      <a:endParaRPr lang="en-US" sz="1050" dirty="0">
                        <a:latin typeface="Trebuchet MS" charset="0"/>
                        <a:ea typeface="Trebuchet MS" charset="0"/>
                        <a:cs typeface="Trebuchet MS"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1B2A4A"/>
                    </a:solidFill>
                  </a:tcPr>
                </a:tc>
                <a:tc>
                  <a:txBody>
                    <a:bodyPr/>
                    <a:lstStyle/>
                    <a:p>
                      <a:pPr marL="0" indent="0" algn="l">
                        <a:buNone/>
                      </a:pPr>
                      <a:r>
                        <a:rPr lang="en-US" sz="1050" b="1" dirty="0">
                          <a:solidFill>
                            <a:srgbClr val="FFFFFF"/>
                          </a:solidFill>
                          <a:latin typeface="Trebuchet MS" pitchFamily="34" charset="0"/>
                          <a:ea typeface="Trebuchet MS" pitchFamily="34" charset="-122"/>
                          <a:cs typeface="Trebuchet MS" pitchFamily="34" charset="-120"/>
                        </a:rPr>
                        <a:t>Synthetic extension  [AI]</a:t>
                      </a:r>
                      <a:endParaRPr lang="en-US" sz="1050" dirty="0">
                        <a:latin typeface="Trebuchet MS" charset="0"/>
                        <a:ea typeface="Trebuchet MS" charset="0"/>
                        <a:cs typeface="Trebuchet MS"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1B2A4A"/>
                    </a:solidFill>
                  </a:tcPr>
                </a:tc>
                <a:tc>
                  <a:txBody>
                    <a:bodyPr/>
                    <a:lstStyle/>
                    <a:p>
                      <a:pPr marL="0" indent="0" algn="l">
                        <a:buNone/>
                      </a:pPr>
                      <a:r>
                        <a:rPr lang="en-US" sz="1050" b="1" dirty="0">
                          <a:solidFill>
                            <a:srgbClr val="FFFFFF"/>
                          </a:solidFill>
                          <a:latin typeface="Trebuchet MS" pitchFamily="34" charset="0"/>
                          <a:ea typeface="Trebuchet MS" pitchFamily="34" charset="-122"/>
                          <a:cs typeface="Trebuchet MS" pitchFamily="34" charset="-120"/>
                        </a:rPr>
                        <a:t>Confidence</a:t>
                      </a:r>
                      <a:endParaRPr lang="en-US" sz="1050" dirty="0">
                        <a:latin typeface="Trebuchet MS" charset="0"/>
                        <a:ea typeface="Trebuchet MS" charset="0"/>
                        <a:cs typeface="Trebuchet MS"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66928">
                <a:tc>
                  <a:txBody>
                    <a:bodyPr/>
                    <a:lstStyle/>
                    <a:p>
                      <a:pPr marL="0" indent="0" algn="l">
                        <a:buNone/>
                      </a:pPr>
                      <a:r>
                        <a:rPr lang="en-US" sz="950" b="1" dirty="0">
                          <a:solidFill>
                            <a:srgbClr val="1B2A4A"/>
                          </a:solidFill>
                          <a:latin typeface="Calibri" pitchFamily="34" charset="0"/>
                          <a:ea typeface="Calibri" pitchFamily="34" charset="-122"/>
                          <a:cs typeface="Calibri" pitchFamily="34" charset="-120"/>
                        </a:rPr>
                        <a:t>Trust gates every transaction</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All three: no purchase until trust is resolved</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4/6 profiles echo; power-user boundary case</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2E9E4F"/>
                          </a:solidFill>
                          <a:latin typeface="Trebuchet MS" pitchFamily="34" charset="0"/>
                          <a:ea typeface="Trebuchet MS" pitchFamily="34" charset="-122"/>
                          <a:cs typeface="Trebuchet MS" pitchFamily="34" charset="-120"/>
                        </a:rPr>
                        <a:t>High</a:t>
                      </a:r>
                      <a:endParaRPr lang="en-US" sz="1000" dirty="0">
                        <a:latin typeface="Trebuchet MS" charset="0"/>
                        <a:ea typeface="Trebuchet MS" charset="0"/>
                        <a:cs typeface="Trebuchet MS"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950" b="1" dirty="0">
                          <a:solidFill>
                            <a:srgbClr val="1B2A4A"/>
                          </a:solidFill>
                          <a:latin typeface="Calibri" pitchFamily="34" charset="0"/>
                          <a:ea typeface="Calibri" pitchFamily="34" charset="-122"/>
                          <a:cs typeface="Calibri" pitchFamily="34" charset="-120"/>
                        </a:rPr>
                        <a:t>Certification = #1 trust lever</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Named independently by all three participants</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Re-confirmed by 4/6; independent &gt; platform-run</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tc>
                  <a:txBody>
                    <a:bodyPr/>
                    <a:lstStyle/>
                    <a:p>
                      <a:pPr marL="0" indent="0" algn="ctr">
                        <a:buNone/>
                      </a:pPr>
                      <a:r>
                        <a:rPr lang="en-US" sz="1000" b="1" dirty="0">
                          <a:solidFill>
                            <a:srgbClr val="2E9E4F"/>
                          </a:solidFill>
                          <a:latin typeface="Trebuchet MS" pitchFamily="34" charset="0"/>
                          <a:ea typeface="Trebuchet MS" pitchFamily="34" charset="-122"/>
                          <a:cs typeface="Trebuchet MS" pitchFamily="34" charset="-120"/>
                        </a:rPr>
                        <a:t>High</a:t>
                      </a:r>
                      <a:endParaRPr lang="en-US" sz="1000" dirty="0">
                        <a:latin typeface="Trebuchet MS" charset="0"/>
                        <a:ea typeface="Trebuchet MS" charset="0"/>
                        <a:cs typeface="Trebuchet MS"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566928">
                <a:tc>
                  <a:txBody>
                    <a:bodyPr/>
                    <a:lstStyle/>
                    <a:p>
                      <a:pPr marL="0" indent="0" algn="l">
                        <a:buNone/>
                      </a:pPr>
                      <a:r>
                        <a:rPr lang="en-US" sz="950" b="1" dirty="0">
                          <a:solidFill>
                            <a:srgbClr val="1B2A4A"/>
                          </a:solidFill>
                          <a:latin typeface="Calibri" pitchFamily="34" charset="0"/>
                          <a:ea typeface="Calibri" pitchFamily="34" charset="-122"/>
                          <a:cs typeface="Calibri" pitchFamily="34" charset="-120"/>
                        </a:rPr>
                        <a:t>Upgrade-resell loop is the engine</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Seller resells to fund upgrades; Gia upgrades often</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Dormant-seller latent supply broadens the loop</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2E9E4F"/>
                          </a:solidFill>
                          <a:latin typeface="Trebuchet MS" pitchFamily="34" charset="0"/>
                          <a:ea typeface="Trebuchet MS" pitchFamily="34" charset="-122"/>
                          <a:cs typeface="Trebuchet MS" pitchFamily="34" charset="-120"/>
                        </a:rPr>
                        <a:t>High</a:t>
                      </a:r>
                      <a:endParaRPr lang="en-US" sz="1000" dirty="0">
                        <a:latin typeface="Trebuchet MS" charset="0"/>
                        <a:ea typeface="Trebuchet MS" charset="0"/>
                        <a:cs typeface="Trebuchet MS"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950" b="1" dirty="0">
                          <a:solidFill>
                            <a:srgbClr val="1B2A4A"/>
                          </a:solidFill>
                          <a:latin typeface="Calibri" pitchFamily="34" charset="0"/>
                          <a:ea typeface="Calibri" pitchFamily="34" charset="-122"/>
                          <a:cs typeface="Calibri" pitchFamily="34" charset="-120"/>
                        </a:rPr>
                        <a:t>Price sensitivity collapses with trust</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Both buyers pay a premium for authenticity</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Fee-sensitivity at margin; legitimacy pricing</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tc>
                  <a:txBody>
                    <a:bodyPr/>
                    <a:lstStyle/>
                    <a:p>
                      <a:pPr marL="0" indent="0" algn="ctr">
                        <a:buNone/>
                      </a:pPr>
                      <a:r>
                        <a:rPr lang="en-US" sz="1000" b="1" dirty="0">
                          <a:solidFill>
                            <a:srgbClr val="2E9E4F"/>
                          </a:solidFill>
                          <a:latin typeface="Trebuchet MS" pitchFamily="34" charset="0"/>
                          <a:ea typeface="Trebuchet MS" pitchFamily="34" charset="-122"/>
                          <a:cs typeface="Trebuchet MS" pitchFamily="34" charset="-120"/>
                        </a:rPr>
                        <a:t>High</a:t>
                      </a:r>
                      <a:endParaRPr lang="en-US" sz="1000" dirty="0">
                        <a:latin typeface="Trebuchet MS" charset="0"/>
                        <a:ea typeface="Trebuchet MS" charset="0"/>
                        <a:cs typeface="Trebuchet MS"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r h="566928">
                <a:tc>
                  <a:txBody>
                    <a:bodyPr/>
                    <a:lstStyle/>
                    <a:p>
                      <a:pPr marL="0" indent="0" algn="l">
                        <a:buNone/>
                      </a:pPr>
                      <a:r>
                        <a:rPr lang="en-US" sz="950" b="1" dirty="0">
                          <a:solidFill>
                            <a:srgbClr val="1B2A4A"/>
                          </a:solidFill>
                          <a:latin typeface="Calibri" pitchFamily="34" charset="0"/>
                          <a:ea typeface="Calibri" pitchFamily="34" charset="-122"/>
                          <a:cs typeface="Calibri" pitchFamily="34" charset="-120"/>
                        </a:rPr>
                        <a:t>Peer / YouTube beat brand messaging</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Both buyers’ top sources: friends/family + YouTube</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Skeptic converts on raw data, not reviews</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2E9E4F"/>
                          </a:solidFill>
                          <a:latin typeface="Trebuchet MS" pitchFamily="34" charset="0"/>
                          <a:ea typeface="Trebuchet MS" pitchFamily="34" charset="-122"/>
                          <a:cs typeface="Trebuchet MS" pitchFamily="34" charset="-120"/>
                        </a:rPr>
                        <a:t>High</a:t>
                      </a:r>
                      <a:endParaRPr lang="en-US" sz="1000" dirty="0">
                        <a:latin typeface="Trebuchet MS" charset="0"/>
                        <a:ea typeface="Trebuchet MS" charset="0"/>
                        <a:cs typeface="Trebuchet MS"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950" b="1" dirty="0">
                          <a:solidFill>
                            <a:srgbClr val="1B2A4A"/>
                          </a:solidFill>
                          <a:latin typeface="Calibri" pitchFamily="34" charset="0"/>
                          <a:ea typeface="Calibri" pitchFamily="34" charset="-122"/>
                          <a:cs typeface="Calibri" pitchFamily="34" charset="-120"/>
                        </a:rPr>
                        <a:t>Seller safety &amp; dignity</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Seller lives alone; unsafe home visits</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Adds dignity / “care” dimension to supply</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tc>
                  <a:txBody>
                    <a:bodyPr/>
                    <a:lstStyle/>
                    <a:p>
                      <a:pPr marL="0" indent="0" algn="ctr">
                        <a:buNone/>
                      </a:pPr>
                      <a:r>
                        <a:rPr lang="en-US" sz="1000" b="1" dirty="0">
                          <a:solidFill>
                            <a:srgbClr val="B07D0A"/>
                          </a:solidFill>
                          <a:latin typeface="Trebuchet MS" pitchFamily="34" charset="0"/>
                          <a:ea typeface="Trebuchet MS" pitchFamily="34" charset="-122"/>
                          <a:cs typeface="Trebuchet MS" pitchFamily="34" charset="-120"/>
                        </a:rPr>
                        <a:t>Med–High</a:t>
                      </a:r>
                      <a:endParaRPr lang="en-US" sz="1000" dirty="0">
                        <a:latin typeface="Trebuchet MS" charset="0"/>
                        <a:ea typeface="Trebuchet MS" charset="0"/>
                        <a:cs typeface="Trebuchet MS"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extLst>
                  <a:ext uri="{0D108BD9-81ED-4DB2-BD59-A6C34878D82A}">
                    <a16:rowId xmlns:a16="http://schemas.microsoft.com/office/drawing/2014/main" val="10006"/>
                  </a:ext>
                </a:extLst>
              </a:tr>
              <a:tr h="566928">
                <a:tc>
                  <a:txBody>
                    <a:bodyPr/>
                    <a:lstStyle/>
                    <a:p>
                      <a:pPr marL="0" indent="0" algn="l">
                        <a:buNone/>
                      </a:pPr>
                      <a:r>
                        <a:rPr lang="en-US" sz="950" b="1" dirty="0">
                          <a:solidFill>
                            <a:srgbClr val="1B2A4A"/>
                          </a:solidFill>
                          <a:latin typeface="Calibri" pitchFamily="34" charset="0"/>
                          <a:ea typeface="Calibri" pitchFamily="34" charset="-122"/>
                          <a:cs typeface="Calibri" pitchFamily="34" charset="-120"/>
                        </a:rPr>
                        <a:t>Speed can eclipse trust (power users)</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 not present in the real sample —</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lgn="l">
                        <a:buNone/>
                      </a:pPr>
                      <a:r>
                        <a:rPr lang="en-US" sz="950" dirty="0">
                          <a:solidFill>
                            <a:srgbClr val="55617A"/>
                          </a:solidFill>
                          <a:latin typeface="Calibri" pitchFamily="34" charset="0"/>
                          <a:ea typeface="Calibri" pitchFamily="34" charset="-122"/>
                          <a:cs typeface="Calibri" pitchFamily="34" charset="-120"/>
                        </a:rPr>
                        <a:t>Vikram: trust is table stakes, speed differentiates</a:t>
                      </a:r>
                      <a:endParaRPr lang="en-US" sz="950" dirty="0">
                        <a:latin typeface="Calibri" charset="0"/>
                        <a:ea typeface="Calibri" charset="0"/>
                        <a:cs typeface="Calibri"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C0392B"/>
                          </a:solidFill>
                          <a:latin typeface="Trebuchet MS" pitchFamily="34" charset="0"/>
                          <a:ea typeface="Trebuchet MS" pitchFamily="34" charset="-122"/>
                          <a:cs typeface="Trebuchet MS" pitchFamily="34" charset="-120"/>
                        </a:rPr>
                        <a:t>Exploratory</a:t>
                      </a:r>
                      <a:endParaRPr lang="en-US" sz="1000" dirty="0">
                        <a:latin typeface="Trebuchet MS" charset="0"/>
                        <a:ea typeface="Trebuchet MS" charset="0"/>
                        <a:cs typeface="Trebuchet MS" charset="0"/>
                      </a:endParaRPr>
                    </a:p>
                  </a:txBody>
                  <a:tcPr marL="76200" marR="762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6"/>
          <p:cNvSpPr/>
          <p:nvPr/>
        </p:nvSpPr>
        <p:spPr>
          <a:xfrm>
            <a:off x="566928" y="5897880"/>
            <a:ext cx="11057839" cy="411480"/>
          </a:xfrm>
          <a:prstGeom prst="rect">
            <a:avLst/>
          </a:prstGeom>
          <a:noFill/>
          <a:ln/>
        </p:spPr>
        <p:txBody>
          <a:bodyPr wrap="square" lIns="0" tIns="0" rIns="0" bIns="0" rtlCol="0" anchor="t"/>
          <a:lstStyle/>
          <a:p>
            <a:pPr marL="0" indent="0">
              <a:lnSpc>
                <a:spcPct val="105000"/>
              </a:lnSpc>
              <a:buNone/>
            </a:pPr>
            <a:r>
              <a:rPr lang="en-US" sz="1000" i="1" dirty="0">
                <a:solidFill>
                  <a:srgbClr val="8A97AD"/>
                </a:solidFill>
                <a:latin typeface="Calibri" pitchFamily="34" charset="0"/>
                <a:ea typeface="Calibri" pitchFamily="34" charset="-122"/>
                <a:cs typeface="Calibri" pitchFamily="34" charset="-120"/>
              </a:rPr>
              <a:t>Real evidence is the authoritative anchor; where a row is corroborated by both, synthetic evidence is shown as supporting extension. Exploratory rows are a validation backlog, not a roadmap commitment.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buNone/>
            </a:pPr>
            <a:r>
              <a:rPr lang="en-US" sz="1150" b="1" kern="0" spc="200" dirty="0">
                <a:solidFill>
                  <a:srgbClr val="0E7C7B"/>
                </a:solidFill>
                <a:latin typeface="Trebuchet MS" pitchFamily="34" charset="0"/>
                <a:ea typeface="Trebuchet MS" pitchFamily="34" charset="-122"/>
                <a:cs typeface="Trebuchet MS" pitchFamily="34" charset="-120"/>
              </a:rPr>
              <a:t>EVIDENCE · VOICES</a:t>
            </a:r>
            <a:endParaRPr lang="en-US" sz="1150" dirty="0"/>
          </a:p>
        </p:txBody>
      </p:sp>
      <p:sp>
        <p:nvSpPr>
          <p:cNvPr id="3" name="Text 1"/>
          <p:cNvSpPr/>
          <p:nvPr/>
        </p:nvSpPr>
        <p:spPr>
          <a:xfrm>
            <a:off x="566928" y="658368"/>
            <a:ext cx="11057839" cy="603504"/>
          </a:xfrm>
          <a:prstGeom prst="rect">
            <a:avLst/>
          </a:prstGeom>
          <a:noFill/>
          <a:ln/>
        </p:spPr>
        <p:txBody>
          <a:bodyPr wrap="square" lIns="0" tIns="0" rIns="0" bIns="0" rtlCol="0" anchor="ctr"/>
          <a:lstStyle/>
          <a:p>
            <a:pPr marL="0" indent="0">
              <a:buNone/>
            </a:pPr>
            <a:r>
              <a:rPr lang="en-US" sz="2700" b="1" dirty="0">
                <a:solidFill>
                  <a:srgbClr val="1B2A4A"/>
                </a:solidFill>
                <a:latin typeface="Georgia" pitchFamily="34" charset="0"/>
                <a:ea typeface="Georgia" pitchFamily="34" charset="-122"/>
                <a:cs typeface="Georgia" pitchFamily="34" charset="-120"/>
              </a:rPr>
              <a:t>In Their Own Words — Real vs. AI-Synthesized</a:t>
            </a:r>
            <a:endParaRPr lang="en-US" sz="2700" dirty="0"/>
          </a:p>
        </p:txBody>
      </p:sp>
      <p:sp>
        <p:nvSpPr>
          <p:cNvPr id="4" name="Shape 2"/>
          <p:cNvSpPr/>
          <p:nvPr/>
        </p:nvSpPr>
        <p:spPr>
          <a:xfrm>
            <a:off x="566928" y="6437376"/>
            <a:ext cx="11057839" cy="0"/>
          </a:xfrm>
          <a:prstGeom prst="line">
            <a:avLst/>
          </a:prstGeom>
          <a:noFill/>
          <a:ln w="12700">
            <a:solidFill>
              <a:srgbClr val="E3E8F0"/>
            </a:solidFill>
            <a:prstDash val="solid"/>
          </a:ln>
        </p:spPr>
        <p:txBody>
          <a:bodyPr/>
          <a:lstStyle/>
          <a:p>
            <a:endParaRPr lang="en-IN"/>
          </a:p>
        </p:txBody>
      </p:sp>
      <p:sp>
        <p:nvSpPr>
          <p:cNvPr id="5" name="Text 3"/>
          <p:cNvSpPr/>
          <p:nvPr/>
        </p:nvSpPr>
        <p:spPr>
          <a:xfrm>
            <a:off x="566928" y="6473952"/>
            <a:ext cx="6400800" cy="274320"/>
          </a:xfrm>
          <a:prstGeom prst="rect">
            <a:avLst/>
          </a:prstGeom>
          <a:noFill/>
          <a:ln/>
        </p:spPr>
        <p:txBody>
          <a:bodyPr wrap="square" lIns="0" tIns="0" rIns="0" bIns="0" rtlCol="0" anchor="ctr"/>
          <a:lstStyle/>
          <a:p>
            <a:pPr marL="0" indent="0">
              <a:buNone/>
            </a:pPr>
            <a:r>
              <a:rPr lang="en-US" sz="850" kern="0" spc="100" dirty="0">
                <a:solidFill>
                  <a:srgbClr val="8A97AD"/>
                </a:solidFill>
                <a:latin typeface="Trebuchet MS" pitchFamily="34" charset="0"/>
                <a:ea typeface="Trebuchet MS" pitchFamily="34" charset="-122"/>
                <a:cs typeface="Trebuchet MS" pitchFamily="34" charset="-120"/>
              </a:rPr>
              <a:t>CertiBuy  ·  Assignment 1</a:t>
            </a:r>
            <a:endParaRPr lang="en-US" sz="850" dirty="0"/>
          </a:p>
        </p:txBody>
      </p:sp>
      <p:sp>
        <p:nvSpPr>
          <p:cNvPr id="6" name="Text 4"/>
          <p:cNvSpPr/>
          <p:nvPr/>
        </p:nvSpPr>
        <p:spPr>
          <a:xfrm>
            <a:off x="4675327" y="6473952"/>
            <a:ext cx="6583680" cy="274320"/>
          </a:xfrm>
          <a:prstGeom prst="rect">
            <a:avLst/>
          </a:prstGeom>
          <a:noFill/>
          <a:ln/>
        </p:spPr>
        <p:txBody>
          <a:bodyPr wrap="square" lIns="0" tIns="0" rIns="0" bIns="0" rtlCol="0" anchor="ctr"/>
          <a:lstStyle/>
          <a:p>
            <a:pPr marL="0" indent="0" algn="r">
              <a:buNone/>
            </a:pPr>
            <a:r>
              <a:rPr lang="en-US" sz="850" dirty="0">
                <a:solidFill>
                  <a:srgbClr val="8A97AD"/>
                </a:solidFill>
                <a:latin typeface="Trebuchet MS" pitchFamily="34" charset="0"/>
                <a:ea typeface="Trebuchet MS" pitchFamily="34" charset="-122"/>
                <a:cs typeface="Trebuchet MS" pitchFamily="34" charset="-120"/>
              </a:rPr>
              <a:t>IITM Pravartak  ·  AI-Powered Product Design &amp; Management  ·  Batch 2 · Group 16</a:t>
            </a:r>
            <a:endParaRPr lang="en-US" sz="850" dirty="0"/>
          </a:p>
        </p:txBody>
      </p:sp>
      <p:sp>
        <p:nvSpPr>
          <p:cNvPr id="7" name="Text 5"/>
          <p:cNvSpPr/>
          <p:nvPr/>
        </p:nvSpPr>
        <p:spPr>
          <a:xfrm>
            <a:off x="11259007" y="6473952"/>
            <a:ext cx="365760" cy="274320"/>
          </a:xfrm>
          <a:prstGeom prst="rect">
            <a:avLst/>
          </a:prstGeom>
          <a:noFill/>
          <a:ln/>
        </p:spPr>
        <p:txBody>
          <a:bodyPr wrap="square" lIns="0" tIns="0" rIns="0" bIns="0" rtlCol="0" anchor="ctr"/>
          <a:lstStyle/>
          <a:p>
            <a:pPr marL="0" indent="0" algn="r">
              <a:buNone/>
            </a:pPr>
            <a:r>
              <a:rPr lang="en-US" sz="850" b="1" dirty="0">
                <a:solidFill>
                  <a:srgbClr val="8A97AD"/>
                </a:solidFill>
                <a:latin typeface="Trebuchet MS" pitchFamily="34" charset="0"/>
                <a:ea typeface="Trebuchet MS" pitchFamily="34" charset="-122"/>
                <a:cs typeface="Trebuchet MS" pitchFamily="34" charset="-120"/>
              </a:rPr>
              <a:t>08</a:t>
            </a:r>
            <a:endParaRPr lang="en-US" sz="850" dirty="0"/>
          </a:p>
        </p:txBody>
      </p:sp>
      <p:pic>
        <p:nvPicPr>
          <p:cNvPr id="8" name="Image 0" descr="preencoded.png"/>
          <p:cNvPicPr>
            <a:picLocks noChangeAspect="1"/>
          </p:cNvPicPr>
          <p:nvPr/>
        </p:nvPicPr>
        <p:blipFill>
          <a:blip r:embed="rId3"/>
          <a:stretch>
            <a:fillRect/>
          </a:stretch>
        </p:blipFill>
        <p:spPr>
          <a:xfrm>
            <a:off x="566928" y="1389888"/>
            <a:ext cx="274320" cy="274320"/>
          </a:xfrm>
          <a:prstGeom prst="rect">
            <a:avLst/>
          </a:prstGeom>
        </p:spPr>
      </p:pic>
      <p:sp>
        <p:nvSpPr>
          <p:cNvPr id="9" name="Text 6"/>
          <p:cNvSpPr/>
          <p:nvPr/>
        </p:nvSpPr>
        <p:spPr>
          <a:xfrm>
            <a:off x="932688" y="1371600"/>
            <a:ext cx="5029200" cy="274320"/>
          </a:xfrm>
          <a:prstGeom prst="rect">
            <a:avLst/>
          </a:prstGeom>
          <a:noFill/>
          <a:ln/>
        </p:spPr>
        <p:txBody>
          <a:bodyPr wrap="square" lIns="0" tIns="0" rIns="0" bIns="0" rtlCol="0" anchor="ctr"/>
          <a:lstStyle/>
          <a:p>
            <a:pPr marL="0" indent="0">
              <a:buNone/>
            </a:pPr>
            <a:r>
              <a:rPr lang="en-US" sz="1200" b="1" kern="0" spc="100" dirty="0">
                <a:solidFill>
                  <a:srgbClr val="2563EB"/>
                </a:solidFill>
                <a:latin typeface="Trebuchet MS" pitchFamily="34" charset="0"/>
                <a:ea typeface="Trebuchet MS" pitchFamily="34" charset="-122"/>
                <a:cs typeface="Trebuchet MS" pitchFamily="34" charset="-120"/>
              </a:rPr>
              <a:t>FROM REAL INTERVIEWS  [REAL]</a:t>
            </a:r>
            <a:endParaRPr lang="en-US" sz="1200" dirty="0"/>
          </a:p>
        </p:txBody>
      </p:sp>
      <p:sp>
        <p:nvSpPr>
          <p:cNvPr id="10" name="Shape 7"/>
          <p:cNvSpPr/>
          <p:nvPr/>
        </p:nvSpPr>
        <p:spPr>
          <a:xfrm>
            <a:off x="566928" y="1755648"/>
            <a:ext cx="5248656" cy="914400"/>
          </a:xfrm>
          <a:prstGeom prst="roundRect">
            <a:avLst>
              <a:gd name="adj" fmla="val 5000"/>
            </a:avLst>
          </a:prstGeom>
          <a:solidFill>
            <a:srgbClr val="EAF1FB"/>
          </a:solidFill>
          <a:ln/>
        </p:spPr>
        <p:txBody>
          <a:bodyPr/>
          <a:lstStyle/>
          <a:p>
            <a:endParaRPr lang="en-IN"/>
          </a:p>
        </p:txBody>
      </p:sp>
      <p:sp>
        <p:nvSpPr>
          <p:cNvPr id="11" name="Shape 8"/>
          <p:cNvSpPr/>
          <p:nvPr/>
        </p:nvSpPr>
        <p:spPr>
          <a:xfrm>
            <a:off x="566928" y="1755648"/>
            <a:ext cx="73152" cy="914400"/>
          </a:xfrm>
          <a:prstGeom prst="rect">
            <a:avLst/>
          </a:prstGeom>
          <a:solidFill>
            <a:srgbClr val="2563EB"/>
          </a:solidFill>
          <a:ln/>
        </p:spPr>
        <p:txBody>
          <a:bodyPr/>
          <a:lstStyle/>
          <a:p>
            <a:endParaRPr lang="en-IN"/>
          </a:p>
        </p:txBody>
      </p:sp>
      <p:sp>
        <p:nvSpPr>
          <p:cNvPr id="12" name="Text 9"/>
          <p:cNvSpPr/>
          <p:nvPr/>
        </p:nvSpPr>
        <p:spPr>
          <a:xfrm>
            <a:off x="822960" y="1865376"/>
            <a:ext cx="4791456" cy="512064"/>
          </a:xfrm>
          <a:prstGeom prst="rect">
            <a:avLst/>
          </a:prstGeom>
          <a:noFill/>
          <a:ln/>
        </p:spPr>
        <p:txBody>
          <a:bodyPr wrap="square" lIns="0" tIns="0" rIns="0" bIns="0" rtlCol="0" anchor="t"/>
          <a:lstStyle/>
          <a:p>
            <a:pPr marL="0" indent="0">
              <a:lnSpc>
                <a:spcPct val="105000"/>
              </a:lnSpc>
              <a:buNone/>
            </a:pPr>
            <a:r>
              <a:rPr lang="en-US" sz="1150" i="1" dirty="0">
                <a:solidFill>
                  <a:srgbClr val="1B2A4A"/>
                </a:solidFill>
                <a:latin typeface="Calibri" pitchFamily="34" charset="0"/>
                <a:ea typeface="Calibri" pitchFamily="34" charset="-122"/>
                <a:cs typeface="Calibri" pitchFamily="34" charset="-120"/>
              </a:rPr>
              <a:t>“Prefers offline purchases for greater trust and personal interaction.”</a:t>
            </a:r>
            <a:endParaRPr lang="en-US" sz="1150" dirty="0"/>
          </a:p>
        </p:txBody>
      </p:sp>
      <p:sp>
        <p:nvSpPr>
          <p:cNvPr id="13" name="Text 10"/>
          <p:cNvSpPr/>
          <p:nvPr/>
        </p:nvSpPr>
        <p:spPr>
          <a:xfrm>
            <a:off x="822960" y="2395728"/>
            <a:ext cx="4791456" cy="219456"/>
          </a:xfrm>
          <a:prstGeom prst="rect">
            <a:avLst/>
          </a:prstGeom>
          <a:noFill/>
          <a:ln/>
        </p:spPr>
        <p:txBody>
          <a:bodyPr wrap="square" lIns="0" tIns="0" rIns="0" bIns="0" rtlCol="0" anchor="ctr"/>
          <a:lstStyle/>
          <a:p>
            <a:pPr marL="0" indent="0">
              <a:buNone/>
            </a:pPr>
            <a:r>
              <a:rPr lang="en-US" sz="950" b="1" dirty="0">
                <a:solidFill>
                  <a:srgbClr val="2563EB"/>
                </a:solidFill>
                <a:latin typeface="Trebuchet MS" pitchFamily="34" charset="0"/>
                <a:ea typeface="Trebuchet MS" pitchFamily="34" charset="-122"/>
                <a:cs typeface="Trebuchet MS" pitchFamily="34" charset="-120"/>
              </a:rPr>
              <a:t>— Rishabh, Buyer · Gurgaon</a:t>
            </a:r>
            <a:endParaRPr lang="en-US" sz="950" dirty="0"/>
          </a:p>
        </p:txBody>
      </p:sp>
      <p:sp>
        <p:nvSpPr>
          <p:cNvPr id="14" name="Shape 11"/>
          <p:cNvSpPr/>
          <p:nvPr/>
        </p:nvSpPr>
        <p:spPr>
          <a:xfrm>
            <a:off x="566928" y="2779776"/>
            <a:ext cx="5248656" cy="914400"/>
          </a:xfrm>
          <a:prstGeom prst="roundRect">
            <a:avLst>
              <a:gd name="adj" fmla="val 5000"/>
            </a:avLst>
          </a:prstGeom>
          <a:solidFill>
            <a:srgbClr val="EAF1FB"/>
          </a:solidFill>
          <a:ln/>
        </p:spPr>
        <p:txBody>
          <a:bodyPr/>
          <a:lstStyle/>
          <a:p>
            <a:endParaRPr lang="en-IN"/>
          </a:p>
        </p:txBody>
      </p:sp>
      <p:sp>
        <p:nvSpPr>
          <p:cNvPr id="15" name="Shape 12"/>
          <p:cNvSpPr/>
          <p:nvPr/>
        </p:nvSpPr>
        <p:spPr>
          <a:xfrm>
            <a:off x="566928" y="2779776"/>
            <a:ext cx="73152" cy="914400"/>
          </a:xfrm>
          <a:prstGeom prst="rect">
            <a:avLst/>
          </a:prstGeom>
          <a:solidFill>
            <a:srgbClr val="2563EB"/>
          </a:solidFill>
          <a:ln/>
        </p:spPr>
        <p:txBody>
          <a:bodyPr/>
          <a:lstStyle/>
          <a:p>
            <a:endParaRPr lang="en-IN"/>
          </a:p>
        </p:txBody>
      </p:sp>
      <p:sp>
        <p:nvSpPr>
          <p:cNvPr id="16" name="Text 13"/>
          <p:cNvSpPr/>
          <p:nvPr/>
        </p:nvSpPr>
        <p:spPr>
          <a:xfrm>
            <a:off x="822960" y="2889504"/>
            <a:ext cx="4791456" cy="512064"/>
          </a:xfrm>
          <a:prstGeom prst="rect">
            <a:avLst/>
          </a:prstGeom>
          <a:noFill/>
          <a:ln/>
        </p:spPr>
        <p:txBody>
          <a:bodyPr wrap="square" lIns="0" tIns="0" rIns="0" bIns="0" rtlCol="0" anchor="t"/>
          <a:lstStyle/>
          <a:p>
            <a:pPr marL="0" indent="0">
              <a:lnSpc>
                <a:spcPct val="105000"/>
              </a:lnSpc>
              <a:buNone/>
            </a:pPr>
            <a:r>
              <a:rPr lang="en-US" sz="1150" i="1" dirty="0">
                <a:solidFill>
                  <a:srgbClr val="1B2A4A"/>
                </a:solidFill>
                <a:latin typeface="Calibri" pitchFamily="34" charset="0"/>
                <a:ea typeface="Calibri" pitchFamily="34" charset="-122"/>
                <a:cs typeface="Calibri" pitchFamily="34" charset="-120"/>
              </a:rPr>
              <a:t>“Video verification or live inspection would significantly increase trust.”</a:t>
            </a:r>
            <a:endParaRPr lang="en-US" sz="1150" dirty="0"/>
          </a:p>
        </p:txBody>
      </p:sp>
      <p:sp>
        <p:nvSpPr>
          <p:cNvPr id="17" name="Text 14"/>
          <p:cNvSpPr/>
          <p:nvPr/>
        </p:nvSpPr>
        <p:spPr>
          <a:xfrm>
            <a:off x="822960" y="3419856"/>
            <a:ext cx="4791456" cy="219456"/>
          </a:xfrm>
          <a:prstGeom prst="rect">
            <a:avLst/>
          </a:prstGeom>
          <a:noFill/>
          <a:ln/>
        </p:spPr>
        <p:txBody>
          <a:bodyPr wrap="square" lIns="0" tIns="0" rIns="0" bIns="0" rtlCol="0" anchor="ctr"/>
          <a:lstStyle/>
          <a:p>
            <a:pPr marL="0" indent="0">
              <a:buNone/>
            </a:pPr>
            <a:r>
              <a:rPr lang="en-US" sz="950" b="1" dirty="0">
                <a:solidFill>
                  <a:srgbClr val="2563EB"/>
                </a:solidFill>
                <a:latin typeface="Trebuchet MS" pitchFamily="34" charset="0"/>
                <a:ea typeface="Trebuchet MS" pitchFamily="34" charset="-122"/>
                <a:cs typeface="Trebuchet MS" pitchFamily="34" charset="-120"/>
              </a:rPr>
              <a:t>— Gia, Buyer · Hyderabad</a:t>
            </a:r>
            <a:endParaRPr lang="en-US" sz="950" dirty="0"/>
          </a:p>
        </p:txBody>
      </p:sp>
      <p:sp>
        <p:nvSpPr>
          <p:cNvPr id="18" name="Shape 15"/>
          <p:cNvSpPr/>
          <p:nvPr/>
        </p:nvSpPr>
        <p:spPr>
          <a:xfrm>
            <a:off x="566928" y="3803904"/>
            <a:ext cx="5248656" cy="914400"/>
          </a:xfrm>
          <a:prstGeom prst="roundRect">
            <a:avLst>
              <a:gd name="adj" fmla="val 5000"/>
            </a:avLst>
          </a:prstGeom>
          <a:solidFill>
            <a:srgbClr val="EAF1FB"/>
          </a:solidFill>
          <a:ln/>
        </p:spPr>
        <p:txBody>
          <a:bodyPr/>
          <a:lstStyle/>
          <a:p>
            <a:endParaRPr lang="en-IN"/>
          </a:p>
        </p:txBody>
      </p:sp>
      <p:sp>
        <p:nvSpPr>
          <p:cNvPr id="19" name="Shape 16"/>
          <p:cNvSpPr/>
          <p:nvPr/>
        </p:nvSpPr>
        <p:spPr>
          <a:xfrm>
            <a:off x="566928" y="3803904"/>
            <a:ext cx="73152" cy="914400"/>
          </a:xfrm>
          <a:prstGeom prst="rect">
            <a:avLst/>
          </a:prstGeom>
          <a:solidFill>
            <a:srgbClr val="2563EB"/>
          </a:solidFill>
          <a:ln/>
        </p:spPr>
        <p:txBody>
          <a:bodyPr/>
          <a:lstStyle/>
          <a:p>
            <a:endParaRPr lang="en-IN"/>
          </a:p>
        </p:txBody>
      </p:sp>
      <p:sp>
        <p:nvSpPr>
          <p:cNvPr id="20" name="Text 17"/>
          <p:cNvSpPr/>
          <p:nvPr/>
        </p:nvSpPr>
        <p:spPr>
          <a:xfrm>
            <a:off x="822960" y="3913632"/>
            <a:ext cx="4791456" cy="512064"/>
          </a:xfrm>
          <a:prstGeom prst="rect">
            <a:avLst/>
          </a:prstGeom>
          <a:noFill/>
          <a:ln/>
        </p:spPr>
        <p:txBody>
          <a:bodyPr wrap="square" lIns="0" tIns="0" rIns="0" bIns="0" rtlCol="0" anchor="t"/>
          <a:lstStyle/>
          <a:p>
            <a:pPr marL="0" indent="0">
              <a:lnSpc>
                <a:spcPct val="105000"/>
              </a:lnSpc>
              <a:buNone/>
            </a:pPr>
            <a:r>
              <a:rPr lang="en-US" sz="1150" i="1" dirty="0">
                <a:solidFill>
                  <a:srgbClr val="1B2A4A"/>
                </a:solidFill>
                <a:latin typeface="Calibri" pitchFamily="34" charset="0"/>
                <a:ea typeface="Calibri" pitchFamily="34" charset="-122"/>
                <a:cs typeface="Calibri" pitchFamily="34" charset="-120"/>
              </a:rPr>
              <a:t>“Buyers should visit the platform’s location, not the seller’s residence.”</a:t>
            </a:r>
            <a:endParaRPr lang="en-US" sz="1150" dirty="0"/>
          </a:p>
        </p:txBody>
      </p:sp>
      <p:sp>
        <p:nvSpPr>
          <p:cNvPr id="21" name="Text 18"/>
          <p:cNvSpPr/>
          <p:nvPr/>
        </p:nvSpPr>
        <p:spPr>
          <a:xfrm>
            <a:off x="822960" y="4443984"/>
            <a:ext cx="4791456" cy="219456"/>
          </a:xfrm>
          <a:prstGeom prst="rect">
            <a:avLst/>
          </a:prstGeom>
          <a:noFill/>
          <a:ln/>
        </p:spPr>
        <p:txBody>
          <a:bodyPr wrap="square" lIns="0" tIns="0" rIns="0" bIns="0" rtlCol="0" anchor="ctr"/>
          <a:lstStyle/>
          <a:p>
            <a:pPr marL="0" indent="0">
              <a:buNone/>
            </a:pPr>
            <a:r>
              <a:rPr lang="en-US" sz="950" b="1" dirty="0">
                <a:solidFill>
                  <a:srgbClr val="2563EB"/>
                </a:solidFill>
                <a:latin typeface="Trebuchet MS" pitchFamily="34" charset="0"/>
                <a:ea typeface="Trebuchet MS" pitchFamily="34" charset="-122"/>
                <a:cs typeface="Trebuchet MS" pitchFamily="34" charset="-120"/>
              </a:rPr>
              <a:t>— Seller · lives alone</a:t>
            </a:r>
            <a:endParaRPr lang="en-US" sz="950" dirty="0"/>
          </a:p>
        </p:txBody>
      </p:sp>
      <p:sp>
        <p:nvSpPr>
          <p:cNvPr id="22" name="Shape 19"/>
          <p:cNvSpPr/>
          <p:nvPr/>
        </p:nvSpPr>
        <p:spPr>
          <a:xfrm>
            <a:off x="566928" y="4828032"/>
            <a:ext cx="5248656" cy="914400"/>
          </a:xfrm>
          <a:prstGeom prst="roundRect">
            <a:avLst>
              <a:gd name="adj" fmla="val 5000"/>
            </a:avLst>
          </a:prstGeom>
          <a:solidFill>
            <a:srgbClr val="EAF1FB"/>
          </a:solidFill>
          <a:ln/>
        </p:spPr>
        <p:txBody>
          <a:bodyPr/>
          <a:lstStyle/>
          <a:p>
            <a:endParaRPr lang="en-IN"/>
          </a:p>
        </p:txBody>
      </p:sp>
      <p:sp>
        <p:nvSpPr>
          <p:cNvPr id="23" name="Shape 20"/>
          <p:cNvSpPr/>
          <p:nvPr/>
        </p:nvSpPr>
        <p:spPr>
          <a:xfrm>
            <a:off x="566928" y="4828032"/>
            <a:ext cx="73152" cy="914400"/>
          </a:xfrm>
          <a:prstGeom prst="rect">
            <a:avLst/>
          </a:prstGeom>
          <a:solidFill>
            <a:srgbClr val="2563EB"/>
          </a:solidFill>
          <a:ln/>
        </p:spPr>
        <p:txBody>
          <a:bodyPr/>
          <a:lstStyle/>
          <a:p>
            <a:endParaRPr lang="en-IN"/>
          </a:p>
        </p:txBody>
      </p:sp>
      <p:sp>
        <p:nvSpPr>
          <p:cNvPr id="24" name="Text 21"/>
          <p:cNvSpPr/>
          <p:nvPr/>
        </p:nvSpPr>
        <p:spPr>
          <a:xfrm>
            <a:off x="822960" y="4937760"/>
            <a:ext cx="4791456" cy="512064"/>
          </a:xfrm>
          <a:prstGeom prst="rect">
            <a:avLst/>
          </a:prstGeom>
          <a:noFill/>
          <a:ln/>
        </p:spPr>
        <p:txBody>
          <a:bodyPr wrap="square" lIns="0" tIns="0" rIns="0" bIns="0" rtlCol="0" anchor="t"/>
          <a:lstStyle/>
          <a:p>
            <a:pPr marL="0" indent="0">
              <a:lnSpc>
                <a:spcPct val="105000"/>
              </a:lnSpc>
              <a:buNone/>
            </a:pPr>
            <a:r>
              <a:rPr lang="en-US" sz="1150" i="1" dirty="0">
                <a:solidFill>
                  <a:srgbClr val="1B2A4A"/>
                </a:solidFill>
                <a:latin typeface="Calibri" pitchFamily="34" charset="0"/>
                <a:ea typeface="Calibri" pitchFamily="34" charset="-122"/>
                <a:cs typeface="Calibri" pitchFamily="34" charset="-120"/>
              </a:rPr>
              <a:t>“The inspection report should mention condition, use, defects and future risks.”</a:t>
            </a:r>
            <a:endParaRPr lang="en-US" sz="1150" dirty="0"/>
          </a:p>
        </p:txBody>
      </p:sp>
      <p:sp>
        <p:nvSpPr>
          <p:cNvPr id="25" name="Text 22"/>
          <p:cNvSpPr/>
          <p:nvPr/>
        </p:nvSpPr>
        <p:spPr>
          <a:xfrm>
            <a:off x="822960" y="5468112"/>
            <a:ext cx="4791456" cy="219456"/>
          </a:xfrm>
          <a:prstGeom prst="rect">
            <a:avLst/>
          </a:prstGeom>
          <a:noFill/>
          <a:ln/>
        </p:spPr>
        <p:txBody>
          <a:bodyPr wrap="square" lIns="0" tIns="0" rIns="0" bIns="0" rtlCol="0" anchor="ctr"/>
          <a:lstStyle/>
          <a:p>
            <a:pPr marL="0" indent="0">
              <a:buNone/>
            </a:pPr>
            <a:r>
              <a:rPr lang="en-US" sz="950" b="1" dirty="0">
                <a:solidFill>
                  <a:srgbClr val="2563EB"/>
                </a:solidFill>
                <a:latin typeface="Trebuchet MS" pitchFamily="34" charset="0"/>
                <a:ea typeface="Trebuchet MS" pitchFamily="34" charset="-122"/>
                <a:cs typeface="Trebuchet MS" pitchFamily="34" charset="-120"/>
              </a:rPr>
              <a:t>— Seller</a:t>
            </a:r>
            <a:endParaRPr lang="en-US" sz="950" dirty="0"/>
          </a:p>
        </p:txBody>
      </p:sp>
      <p:pic>
        <p:nvPicPr>
          <p:cNvPr id="26" name="Image 1" descr="preencoded.png"/>
          <p:cNvPicPr>
            <a:picLocks noChangeAspect="1"/>
          </p:cNvPicPr>
          <p:nvPr/>
        </p:nvPicPr>
        <p:blipFill>
          <a:blip r:embed="rId4"/>
          <a:stretch>
            <a:fillRect/>
          </a:stretch>
        </p:blipFill>
        <p:spPr>
          <a:xfrm>
            <a:off x="6355080" y="1389888"/>
            <a:ext cx="274320" cy="274320"/>
          </a:xfrm>
          <a:prstGeom prst="rect">
            <a:avLst/>
          </a:prstGeom>
        </p:spPr>
      </p:pic>
      <p:sp>
        <p:nvSpPr>
          <p:cNvPr id="27" name="Text 23"/>
          <p:cNvSpPr/>
          <p:nvPr/>
        </p:nvSpPr>
        <p:spPr>
          <a:xfrm>
            <a:off x="6720840" y="1371600"/>
            <a:ext cx="5120640" cy="274320"/>
          </a:xfrm>
          <a:prstGeom prst="rect">
            <a:avLst/>
          </a:prstGeom>
          <a:noFill/>
          <a:ln/>
        </p:spPr>
        <p:txBody>
          <a:bodyPr wrap="square" lIns="0" tIns="0" rIns="0" bIns="0" rtlCol="0" anchor="ctr"/>
          <a:lstStyle/>
          <a:p>
            <a:pPr marL="0" indent="0">
              <a:buNone/>
            </a:pPr>
            <a:r>
              <a:rPr lang="en-US" sz="1200" b="1" kern="0" spc="100" dirty="0">
                <a:solidFill>
                  <a:srgbClr val="0E7C7B"/>
                </a:solidFill>
                <a:latin typeface="Trebuchet MS" pitchFamily="34" charset="0"/>
                <a:ea typeface="Trebuchet MS" pitchFamily="34" charset="-122"/>
                <a:cs typeface="Trebuchet MS" pitchFamily="34" charset="-120"/>
              </a:rPr>
              <a:t>FROM AI-SYNTHESIZED RESPONDENTS  [AI]</a:t>
            </a:r>
            <a:endParaRPr lang="en-US" sz="1200" dirty="0"/>
          </a:p>
        </p:txBody>
      </p:sp>
      <p:sp>
        <p:nvSpPr>
          <p:cNvPr id="28" name="Shape 24"/>
          <p:cNvSpPr/>
          <p:nvPr/>
        </p:nvSpPr>
        <p:spPr>
          <a:xfrm>
            <a:off x="6355080" y="1755648"/>
            <a:ext cx="5285232" cy="914400"/>
          </a:xfrm>
          <a:prstGeom prst="roundRect">
            <a:avLst>
              <a:gd name="adj" fmla="val 5000"/>
            </a:avLst>
          </a:prstGeom>
          <a:solidFill>
            <a:srgbClr val="E2F2EF"/>
          </a:solidFill>
          <a:ln/>
        </p:spPr>
        <p:txBody>
          <a:bodyPr/>
          <a:lstStyle/>
          <a:p>
            <a:endParaRPr lang="en-IN"/>
          </a:p>
        </p:txBody>
      </p:sp>
      <p:sp>
        <p:nvSpPr>
          <p:cNvPr id="29" name="Shape 25"/>
          <p:cNvSpPr/>
          <p:nvPr/>
        </p:nvSpPr>
        <p:spPr>
          <a:xfrm>
            <a:off x="6355080" y="1755648"/>
            <a:ext cx="73152" cy="914400"/>
          </a:xfrm>
          <a:prstGeom prst="rect">
            <a:avLst/>
          </a:prstGeom>
          <a:solidFill>
            <a:srgbClr val="0E7C7B"/>
          </a:solidFill>
          <a:ln/>
        </p:spPr>
        <p:txBody>
          <a:bodyPr/>
          <a:lstStyle/>
          <a:p>
            <a:endParaRPr lang="en-IN"/>
          </a:p>
        </p:txBody>
      </p:sp>
      <p:sp>
        <p:nvSpPr>
          <p:cNvPr id="30" name="Text 26"/>
          <p:cNvSpPr/>
          <p:nvPr/>
        </p:nvSpPr>
        <p:spPr>
          <a:xfrm>
            <a:off x="6611112" y="1865376"/>
            <a:ext cx="4828032" cy="512064"/>
          </a:xfrm>
          <a:prstGeom prst="rect">
            <a:avLst/>
          </a:prstGeom>
          <a:noFill/>
          <a:ln/>
        </p:spPr>
        <p:txBody>
          <a:bodyPr wrap="square" lIns="0" tIns="0" rIns="0" bIns="0" rtlCol="0" anchor="t"/>
          <a:lstStyle/>
          <a:p>
            <a:pPr marL="0" indent="0">
              <a:lnSpc>
                <a:spcPct val="105000"/>
              </a:lnSpc>
              <a:buNone/>
            </a:pPr>
            <a:r>
              <a:rPr lang="en-US" sz="1150" i="1" dirty="0">
                <a:solidFill>
                  <a:srgbClr val="1B2A4A"/>
                </a:solidFill>
                <a:latin typeface="Calibri" pitchFamily="34" charset="0"/>
                <a:ea typeface="Calibri" pitchFamily="34" charset="-122"/>
                <a:cs typeface="Calibri" pitchFamily="34" charset="-120"/>
              </a:rPr>
              <a:t>“Trust is table stakes — speed is the differentiator.”</a:t>
            </a:r>
            <a:endParaRPr lang="en-US" sz="1150" dirty="0"/>
          </a:p>
        </p:txBody>
      </p:sp>
      <p:sp>
        <p:nvSpPr>
          <p:cNvPr id="31" name="Text 27"/>
          <p:cNvSpPr/>
          <p:nvPr/>
        </p:nvSpPr>
        <p:spPr>
          <a:xfrm>
            <a:off x="6611112" y="2395728"/>
            <a:ext cx="4828032" cy="219456"/>
          </a:xfrm>
          <a:prstGeom prst="rect">
            <a:avLst/>
          </a:prstGeom>
          <a:noFill/>
          <a:ln/>
        </p:spPr>
        <p:txBody>
          <a:bodyPr wrap="square" lIns="0" tIns="0" rIns="0" bIns="0" rtlCol="0" anchor="ctr"/>
          <a:lstStyle/>
          <a:p>
            <a:pPr marL="0" indent="0">
              <a:buNone/>
            </a:pPr>
            <a:r>
              <a:rPr lang="en-US" sz="950" b="1" dirty="0">
                <a:solidFill>
                  <a:srgbClr val="0E7C7B"/>
                </a:solidFill>
                <a:latin typeface="Trebuchet MS" pitchFamily="34" charset="0"/>
                <a:ea typeface="Trebuchet MS" pitchFamily="34" charset="-122"/>
                <a:cs typeface="Trebuchet MS" pitchFamily="34" charset="-120"/>
              </a:rPr>
              <a:t>— Vikram, 34 · Power User</a:t>
            </a:r>
            <a:endParaRPr lang="en-US" sz="950" dirty="0"/>
          </a:p>
        </p:txBody>
      </p:sp>
      <p:sp>
        <p:nvSpPr>
          <p:cNvPr id="32" name="Shape 28"/>
          <p:cNvSpPr/>
          <p:nvPr/>
        </p:nvSpPr>
        <p:spPr>
          <a:xfrm>
            <a:off x="6355080" y="2779776"/>
            <a:ext cx="5285232" cy="914400"/>
          </a:xfrm>
          <a:prstGeom prst="roundRect">
            <a:avLst>
              <a:gd name="adj" fmla="val 5000"/>
            </a:avLst>
          </a:prstGeom>
          <a:solidFill>
            <a:srgbClr val="E2F2EF"/>
          </a:solidFill>
          <a:ln/>
        </p:spPr>
        <p:txBody>
          <a:bodyPr/>
          <a:lstStyle/>
          <a:p>
            <a:endParaRPr lang="en-IN"/>
          </a:p>
        </p:txBody>
      </p:sp>
      <p:sp>
        <p:nvSpPr>
          <p:cNvPr id="33" name="Shape 29"/>
          <p:cNvSpPr/>
          <p:nvPr/>
        </p:nvSpPr>
        <p:spPr>
          <a:xfrm>
            <a:off x="6355080" y="2779776"/>
            <a:ext cx="73152" cy="914400"/>
          </a:xfrm>
          <a:prstGeom prst="rect">
            <a:avLst/>
          </a:prstGeom>
          <a:solidFill>
            <a:srgbClr val="0E7C7B"/>
          </a:solidFill>
          <a:ln/>
        </p:spPr>
        <p:txBody>
          <a:bodyPr/>
          <a:lstStyle/>
          <a:p>
            <a:endParaRPr lang="en-IN"/>
          </a:p>
        </p:txBody>
      </p:sp>
      <p:sp>
        <p:nvSpPr>
          <p:cNvPr id="34" name="Text 30"/>
          <p:cNvSpPr/>
          <p:nvPr/>
        </p:nvSpPr>
        <p:spPr>
          <a:xfrm>
            <a:off x="6611112" y="2889504"/>
            <a:ext cx="4828032" cy="512064"/>
          </a:xfrm>
          <a:prstGeom prst="rect">
            <a:avLst/>
          </a:prstGeom>
          <a:noFill/>
          <a:ln/>
        </p:spPr>
        <p:txBody>
          <a:bodyPr wrap="square" lIns="0" tIns="0" rIns="0" bIns="0" rtlCol="0" anchor="t"/>
          <a:lstStyle/>
          <a:p>
            <a:pPr marL="0" indent="0">
              <a:lnSpc>
                <a:spcPct val="105000"/>
              </a:lnSpc>
              <a:buNone/>
            </a:pPr>
            <a:r>
              <a:rPr lang="en-US" sz="1150" i="1" dirty="0">
                <a:solidFill>
                  <a:srgbClr val="1B2A4A"/>
                </a:solidFill>
                <a:latin typeface="Calibri" pitchFamily="34" charset="0"/>
                <a:ea typeface="Calibri" pitchFamily="34" charset="-122"/>
                <a:cs typeface="Calibri" pitchFamily="34" charset="-120"/>
              </a:rPr>
              <a:t>“Something that makes it feel legitimate — not like someone’s WhatsApp.”</a:t>
            </a:r>
            <a:endParaRPr lang="en-US" sz="1150" dirty="0"/>
          </a:p>
        </p:txBody>
      </p:sp>
      <p:sp>
        <p:nvSpPr>
          <p:cNvPr id="35" name="Text 31"/>
          <p:cNvSpPr/>
          <p:nvPr/>
        </p:nvSpPr>
        <p:spPr>
          <a:xfrm>
            <a:off x="6611112" y="3419856"/>
            <a:ext cx="4828032" cy="219456"/>
          </a:xfrm>
          <a:prstGeom prst="rect">
            <a:avLst/>
          </a:prstGeom>
          <a:noFill/>
          <a:ln/>
        </p:spPr>
        <p:txBody>
          <a:bodyPr wrap="square" lIns="0" tIns="0" rIns="0" bIns="0" rtlCol="0" anchor="ctr"/>
          <a:lstStyle/>
          <a:p>
            <a:pPr marL="0" indent="0">
              <a:buNone/>
            </a:pPr>
            <a:r>
              <a:rPr lang="en-US" sz="950" b="1" dirty="0">
                <a:solidFill>
                  <a:srgbClr val="0E7C7B"/>
                </a:solidFill>
                <a:latin typeface="Trebuchet MS" pitchFamily="34" charset="0"/>
                <a:ea typeface="Trebuchet MS" pitchFamily="34" charset="-122"/>
                <a:cs typeface="Trebuchet MS" pitchFamily="34" charset="-120"/>
              </a:rPr>
              <a:t>— Priya, 28 · New Adopter</a:t>
            </a:r>
            <a:endParaRPr lang="en-US" sz="950" dirty="0"/>
          </a:p>
        </p:txBody>
      </p:sp>
      <p:sp>
        <p:nvSpPr>
          <p:cNvPr id="36" name="Shape 32"/>
          <p:cNvSpPr/>
          <p:nvPr/>
        </p:nvSpPr>
        <p:spPr>
          <a:xfrm>
            <a:off x="6355080" y="3803904"/>
            <a:ext cx="5285232" cy="914400"/>
          </a:xfrm>
          <a:prstGeom prst="roundRect">
            <a:avLst>
              <a:gd name="adj" fmla="val 5000"/>
            </a:avLst>
          </a:prstGeom>
          <a:solidFill>
            <a:srgbClr val="E2F2EF"/>
          </a:solidFill>
          <a:ln/>
        </p:spPr>
        <p:txBody>
          <a:bodyPr/>
          <a:lstStyle/>
          <a:p>
            <a:endParaRPr lang="en-IN"/>
          </a:p>
        </p:txBody>
      </p:sp>
      <p:sp>
        <p:nvSpPr>
          <p:cNvPr id="37" name="Shape 33"/>
          <p:cNvSpPr/>
          <p:nvPr/>
        </p:nvSpPr>
        <p:spPr>
          <a:xfrm>
            <a:off x="6355080" y="3803904"/>
            <a:ext cx="73152" cy="914400"/>
          </a:xfrm>
          <a:prstGeom prst="rect">
            <a:avLst/>
          </a:prstGeom>
          <a:solidFill>
            <a:srgbClr val="0E7C7B"/>
          </a:solidFill>
          <a:ln/>
        </p:spPr>
        <p:txBody>
          <a:bodyPr/>
          <a:lstStyle/>
          <a:p>
            <a:endParaRPr lang="en-IN"/>
          </a:p>
        </p:txBody>
      </p:sp>
      <p:sp>
        <p:nvSpPr>
          <p:cNvPr id="38" name="Text 34"/>
          <p:cNvSpPr/>
          <p:nvPr/>
        </p:nvSpPr>
        <p:spPr>
          <a:xfrm>
            <a:off x="6611112" y="3913632"/>
            <a:ext cx="4828032" cy="512064"/>
          </a:xfrm>
          <a:prstGeom prst="rect">
            <a:avLst/>
          </a:prstGeom>
          <a:noFill/>
          <a:ln/>
        </p:spPr>
        <p:txBody>
          <a:bodyPr wrap="square" lIns="0" tIns="0" rIns="0" bIns="0" rtlCol="0" anchor="t"/>
          <a:lstStyle/>
          <a:p>
            <a:pPr marL="0" indent="0">
              <a:lnSpc>
                <a:spcPct val="105000"/>
              </a:lnSpc>
              <a:buNone/>
            </a:pPr>
            <a:r>
              <a:rPr lang="en-US" sz="1150" i="1" dirty="0">
                <a:solidFill>
                  <a:srgbClr val="1B2A4A"/>
                </a:solidFill>
                <a:latin typeface="Calibri" pitchFamily="34" charset="0"/>
                <a:ea typeface="Calibri" pitchFamily="34" charset="-122"/>
                <a:cs typeface="Calibri" pitchFamily="34" charset="-120"/>
              </a:rPr>
              <a:t>“Every product has 4.5 stars… show me the raw numbers.”</a:t>
            </a:r>
            <a:endParaRPr lang="en-US" sz="1150" dirty="0"/>
          </a:p>
        </p:txBody>
      </p:sp>
      <p:sp>
        <p:nvSpPr>
          <p:cNvPr id="39" name="Text 35"/>
          <p:cNvSpPr/>
          <p:nvPr/>
        </p:nvSpPr>
        <p:spPr>
          <a:xfrm>
            <a:off x="6611112" y="4443984"/>
            <a:ext cx="4828032" cy="219456"/>
          </a:xfrm>
          <a:prstGeom prst="rect">
            <a:avLst/>
          </a:prstGeom>
          <a:noFill/>
          <a:ln/>
        </p:spPr>
        <p:txBody>
          <a:bodyPr wrap="square" lIns="0" tIns="0" rIns="0" bIns="0" rtlCol="0" anchor="ctr"/>
          <a:lstStyle/>
          <a:p>
            <a:pPr marL="0" indent="0">
              <a:buNone/>
            </a:pPr>
            <a:r>
              <a:rPr lang="en-US" sz="950" b="1" dirty="0">
                <a:solidFill>
                  <a:srgbClr val="0E7C7B"/>
                </a:solidFill>
                <a:latin typeface="Trebuchet MS" pitchFamily="34" charset="0"/>
                <a:ea typeface="Trebuchet MS" pitchFamily="34" charset="-122"/>
                <a:cs typeface="Trebuchet MS" pitchFamily="34" charset="-120"/>
              </a:rPr>
              <a:t>— Rahul, 31 · Skeptic</a:t>
            </a:r>
            <a:endParaRPr lang="en-US" sz="950" dirty="0"/>
          </a:p>
        </p:txBody>
      </p:sp>
      <p:sp>
        <p:nvSpPr>
          <p:cNvPr id="40" name="Shape 36"/>
          <p:cNvSpPr/>
          <p:nvPr/>
        </p:nvSpPr>
        <p:spPr>
          <a:xfrm>
            <a:off x="6355080" y="4828032"/>
            <a:ext cx="5285232" cy="914400"/>
          </a:xfrm>
          <a:prstGeom prst="roundRect">
            <a:avLst>
              <a:gd name="adj" fmla="val 5000"/>
            </a:avLst>
          </a:prstGeom>
          <a:solidFill>
            <a:srgbClr val="E2F2EF"/>
          </a:solidFill>
          <a:ln/>
        </p:spPr>
        <p:txBody>
          <a:bodyPr/>
          <a:lstStyle/>
          <a:p>
            <a:endParaRPr lang="en-IN"/>
          </a:p>
        </p:txBody>
      </p:sp>
      <p:sp>
        <p:nvSpPr>
          <p:cNvPr id="41" name="Shape 37"/>
          <p:cNvSpPr/>
          <p:nvPr/>
        </p:nvSpPr>
        <p:spPr>
          <a:xfrm>
            <a:off x="6355080" y="4828032"/>
            <a:ext cx="73152" cy="914400"/>
          </a:xfrm>
          <a:prstGeom prst="rect">
            <a:avLst/>
          </a:prstGeom>
          <a:solidFill>
            <a:srgbClr val="0E7C7B"/>
          </a:solidFill>
          <a:ln/>
        </p:spPr>
        <p:txBody>
          <a:bodyPr/>
          <a:lstStyle/>
          <a:p>
            <a:endParaRPr lang="en-IN"/>
          </a:p>
        </p:txBody>
      </p:sp>
      <p:sp>
        <p:nvSpPr>
          <p:cNvPr id="42" name="Text 38"/>
          <p:cNvSpPr/>
          <p:nvPr/>
        </p:nvSpPr>
        <p:spPr>
          <a:xfrm>
            <a:off x="6611112" y="4937760"/>
            <a:ext cx="4828032" cy="512064"/>
          </a:xfrm>
          <a:prstGeom prst="rect">
            <a:avLst/>
          </a:prstGeom>
          <a:noFill/>
          <a:ln/>
        </p:spPr>
        <p:txBody>
          <a:bodyPr wrap="square" lIns="0" tIns="0" rIns="0" bIns="0" rtlCol="0" anchor="t"/>
          <a:lstStyle/>
          <a:p>
            <a:pPr marL="0" indent="0">
              <a:lnSpc>
                <a:spcPct val="105000"/>
              </a:lnSpc>
              <a:buNone/>
            </a:pPr>
            <a:r>
              <a:rPr lang="en-US" sz="1150" i="1" dirty="0">
                <a:solidFill>
                  <a:srgbClr val="1B2A4A"/>
                </a:solidFill>
                <a:latin typeface="Calibri" pitchFamily="34" charset="0"/>
                <a:ea typeface="Calibri" pitchFamily="34" charset="-122"/>
                <a:cs typeface="Calibri" pitchFamily="34" charset="-120"/>
              </a:rPr>
              <a:t>“Three photos, an instant quote, pick-up Thursday. Done.”</a:t>
            </a:r>
            <a:endParaRPr lang="en-US" sz="1150" dirty="0"/>
          </a:p>
        </p:txBody>
      </p:sp>
      <p:sp>
        <p:nvSpPr>
          <p:cNvPr id="43" name="Text 39"/>
          <p:cNvSpPr/>
          <p:nvPr/>
        </p:nvSpPr>
        <p:spPr>
          <a:xfrm>
            <a:off x="6611112" y="5468112"/>
            <a:ext cx="4828032" cy="219456"/>
          </a:xfrm>
          <a:prstGeom prst="rect">
            <a:avLst/>
          </a:prstGeom>
          <a:noFill/>
          <a:ln/>
        </p:spPr>
        <p:txBody>
          <a:bodyPr wrap="square" lIns="0" tIns="0" rIns="0" bIns="0" rtlCol="0" anchor="ctr"/>
          <a:lstStyle/>
          <a:p>
            <a:pPr marL="0" indent="0">
              <a:buNone/>
            </a:pPr>
            <a:r>
              <a:rPr lang="en-US" sz="950" b="1" dirty="0">
                <a:solidFill>
                  <a:srgbClr val="0E7C7B"/>
                </a:solidFill>
                <a:latin typeface="Trebuchet MS" pitchFamily="34" charset="0"/>
                <a:ea typeface="Trebuchet MS" pitchFamily="34" charset="-122"/>
                <a:cs typeface="Trebuchet MS" pitchFamily="34" charset="-120"/>
              </a:rPr>
              <a:t>— Sunita, 44 · Dormant Seller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520440" cy="6858000"/>
          </a:xfrm>
          <a:prstGeom prst="rect">
            <a:avLst/>
          </a:prstGeom>
          <a:solidFill>
            <a:srgbClr val="1B2A4A"/>
          </a:solidFill>
          <a:ln/>
        </p:spPr>
        <p:txBody>
          <a:bodyPr/>
          <a:lstStyle/>
          <a:p>
            <a:endParaRPr lang="en-IN"/>
          </a:p>
        </p:txBody>
      </p:sp>
      <p:sp>
        <p:nvSpPr>
          <p:cNvPr id="3" name="Shape 1"/>
          <p:cNvSpPr/>
          <p:nvPr/>
        </p:nvSpPr>
        <p:spPr>
          <a:xfrm>
            <a:off x="845820" y="384048"/>
            <a:ext cx="1828800" cy="1828800"/>
          </a:xfrm>
          <a:prstGeom prst="ellipse">
            <a:avLst/>
          </a:prstGeom>
          <a:solidFill>
            <a:srgbClr val="FFFFFF"/>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891540" y="429768"/>
            <a:ext cx="1737360" cy="1737360"/>
          </a:xfrm>
          <a:prstGeom prst="rect">
            <a:avLst/>
          </a:prstGeom>
        </p:spPr>
      </p:pic>
      <p:sp>
        <p:nvSpPr>
          <p:cNvPr id="5" name="Text 2"/>
          <p:cNvSpPr/>
          <p:nvPr/>
        </p:nvSpPr>
        <p:spPr>
          <a:xfrm>
            <a:off x="0" y="2286000"/>
            <a:ext cx="3520440" cy="45720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KIRAN</a:t>
            </a:r>
            <a:endParaRPr lang="en-US" sz="2800" dirty="0"/>
          </a:p>
        </p:txBody>
      </p:sp>
      <p:sp>
        <p:nvSpPr>
          <p:cNvPr id="6" name="Text 3"/>
          <p:cNvSpPr/>
          <p:nvPr/>
        </p:nvSpPr>
        <p:spPr>
          <a:xfrm>
            <a:off x="182880" y="2743200"/>
            <a:ext cx="3154680" cy="274320"/>
          </a:xfrm>
          <a:prstGeom prst="rect">
            <a:avLst/>
          </a:prstGeom>
          <a:noFill/>
          <a:ln/>
        </p:spPr>
        <p:txBody>
          <a:bodyPr wrap="square" lIns="0" tIns="0" rIns="0" bIns="0" rtlCol="0" anchor="ctr"/>
          <a:lstStyle/>
          <a:p>
            <a:pPr marL="0" indent="0" algn="ctr">
              <a:buNone/>
            </a:pPr>
            <a:r>
              <a:rPr lang="en-US" sz="1300" i="1" dirty="0">
                <a:solidFill>
                  <a:srgbClr val="CBD8EC"/>
                </a:solidFill>
                <a:latin typeface="Calibri" pitchFamily="34" charset="0"/>
                <a:ea typeface="Calibri" pitchFamily="34" charset="-122"/>
                <a:cs typeface="Calibri" pitchFamily="34" charset="-120"/>
              </a:rPr>
              <a:t>“The Trust-Gated Upgrader”</a:t>
            </a:r>
            <a:endParaRPr lang="en-US" sz="1300" dirty="0"/>
          </a:p>
        </p:txBody>
      </p:sp>
      <p:sp>
        <p:nvSpPr>
          <p:cNvPr id="7" name="Text 4"/>
          <p:cNvSpPr/>
          <p:nvPr/>
        </p:nvSpPr>
        <p:spPr>
          <a:xfrm>
            <a:off x="411480" y="3154680"/>
            <a:ext cx="2697480" cy="777240"/>
          </a:xfrm>
          <a:prstGeom prst="rect">
            <a:avLst/>
          </a:prstGeom>
          <a:noFill/>
          <a:ln/>
        </p:spPr>
        <p:txBody>
          <a:bodyPr wrap="square" lIns="0" tIns="0" rIns="0" bIns="0" rtlCol="0" anchor="t"/>
          <a:lstStyle/>
          <a:p>
            <a:pPr marL="0" indent="0" algn="ctr">
              <a:lnSpc>
                <a:spcPct val="108000"/>
              </a:lnSpc>
              <a:buNone/>
            </a:pPr>
            <a:r>
              <a:rPr lang="en-US" sz="1150" i="1" dirty="0">
                <a:solidFill>
                  <a:srgbClr val="AEC6E0"/>
                </a:solidFill>
                <a:latin typeface="Calibri" pitchFamily="34" charset="0"/>
                <a:ea typeface="Calibri" pitchFamily="34" charset="-122"/>
                <a:cs typeface="Calibri" pitchFamily="34" charset="-120"/>
              </a:rPr>
              <a:t>“Don’t surprise me. Show me it’s real, and I’ll happily pay for the certainty.”</a:t>
            </a:r>
            <a:endParaRPr lang="en-US" sz="1150" dirty="0"/>
          </a:p>
        </p:txBody>
      </p:sp>
      <p:sp>
        <p:nvSpPr>
          <p:cNvPr id="8" name="Text 5"/>
          <p:cNvSpPr/>
          <p:nvPr/>
        </p:nvSpPr>
        <p:spPr>
          <a:xfrm>
            <a:off x="411480" y="4078224"/>
            <a:ext cx="2697480" cy="201168"/>
          </a:xfrm>
          <a:prstGeom prst="rect">
            <a:avLst/>
          </a:prstGeom>
          <a:noFill/>
          <a:ln/>
        </p:spPr>
        <p:txBody>
          <a:bodyPr wrap="square" lIns="0" tIns="0" rIns="0" bIns="0" rtlCol="0" anchor="ctr"/>
          <a:lstStyle/>
          <a:p>
            <a:pPr marL="0" indent="0" algn="ctr">
              <a:buNone/>
            </a:pPr>
            <a:r>
              <a:rPr lang="en-US" sz="900" b="1" kern="0" spc="150" dirty="0">
                <a:solidFill>
                  <a:srgbClr val="7FA8C9"/>
                </a:solidFill>
                <a:latin typeface="Trebuchet MS" pitchFamily="34" charset="0"/>
                <a:ea typeface="Trebuchet MS" pitchFamily="34" charset="-122"/>
                <a:cs typeface="Trebuchet MS" pitchFamily="34" charset="-120"/>
              </a:rPr>
              <a:t>AGE</a:t>
            </a:r>
            <a:endParaRPr lang="en-US" sz="900" dirty="0"/>
          </a:p>
        </p:txBody>
      </p:sp>
      <p:sp>
        <p:nvSpPr>
          <p:cNvPr id="9" name="Text 6"/>
          <p:cNvSpPr/>
          <p:nvPr/>
        </p:nvSpPr>
        <p:spPr>
          <a:xfrm>
            <a:off x="274320" y="4270248"/>
            <a:ext cx="2971800" cy="310896"/>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26–44 (core early-30s)</a:t>
            </a:r>
            <a:endParaRPr lang="en-US" sz="1150" dirty="0"/>
          </a:p>
        </p:txBody>
      </p:sp>
      <p:sp>
        <p:nvSpPr>
          <p:cNvPr id="10" name="Text 7"/>
          <p:cNvSpPr/>
          <p:nvPr/>
        </p:nvSpPr>
        <p:spPr>
          <a:xfrm>
            <a:off x="411480" y="4681728"/>
            <a:ext cx="2697480" cy="201168"/>
          </a:xfrm>
          <a:prstGeom prst="rect">
            <a:avLst/>
          </a:prstGeom>
          <a:noFill/>
          <a:ln/>
        </p:spPr>
        <p:txBody>
          <a:bodyPr wrap="square" lIns="0" tIns="0" rIns="0" bIns="0" rtlCol="0" anchor="ctr"/>
          <a:lstStyle/>
          <a:p>
            <a:pPr marL="0" indent="0" algn="ctr">
              <a:buNone/>
            </a:pPr>
            <a:r>
              <a:rPr lang="en-US" sz="900" b="1" kern="0" spc="150" dirty="0">
                <a:solidFill>
                  <a:srgbClr val="7FA8C9"/>
                </a:solidFill>
                <a:latin typeface="Trebuchet MS" pitchFamily="34" charset="0"/>
                <a:ea typeface="Trebuchet MS" pitchFamily="34" charset="-122"/>
                <a:cs typeface="Trebuchet MS" pitchFamily="34" charset="-120"/>
              </a:rPr>
              <a:t>OCCUPATION</a:t>
            </a:r>
            <a:endParaRPr lang="en-US" sz="900" dirty="0"/>
          </a:p>
        </p:txBody>
      </p:sp>
      <p:sp>
        <p:nvSpPr>
          <p:cNvPr id="11" name="Text 8"/>
          <p:cNvSpPr/>
          <p:nvPr/>
        </p:nvSpPr>
        <p:spPr>
          <a:xfrm>
            <a:off x="274320" y="4873752"/>
            <a:ext cx="2971800" cy="310896"/>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Metro knowledge-worker prosumer · Buyer + Seller</a:t>
            </a:r>
            <a:endParaRPr lang="en-US" sz="1150" dirty="0"/>
          </a:p>
        </p:txBody>
      </p:sp>
      <p:sp>
        <p:nvSpPr>
          <p:cNvPr id="12" name="Text 9"/>
          <p:cNvSpPr/>
          <p:nvPr/>
        </p:nvSpPr>
        <p:spPr>
          <a:xfrm>
            <a:off x="411480" y="5285232"/>
            <a:ext cx="2697480" cy="201168"/>
          </a:xfrm>
          <a:prstGeom prst="rect">
            <a:avLst/>
          </a:prstGeom>
          <a:noFill/>
          <a:ln/>
        </p:spPr>
        <p:txBody>
          <a:bodyPr wrap="square" lIns="0" tIns="0" rIns="0" bIns="0" rtlCol="0" anchor="ctr"/>
          <a:lstStyle/>
          <a:p>
            <a:pPr marL="0" indent="0" algn="ctr">
              <a:buNone/>
            </a:pPr>
            <a:r>
              <a:rPr lang="en-US" sz="900" b="1" kern="0" spc="150" dirty="0">
                <a:solidFill>
                  <a:srgbClr val="7FA8C9"/>
                </a:solidFill>
                <a:latin typeface="Trebuchet MS" pitchFamily="34" charset="0"/>
                <a:ea typeface="Trebuchet MS" pitchFamily="34" charset="-122"/>
                <a:cs typeface="Trebuchet MS" pitchFamily="34" charset="-120"/>
              </a:rPr>
              <a:t>DIGITAL MATURITY</a:t>
            </a:r>
            <a:endParaRPr lang="en-US" sz="900" dirty="0"/>
          </a:p>
        </p:txBody>
      </p:sp>
      <p:sp>
        <p:nvSpPr>
          <p:cNvPr id="13" name="Text 10"/>
          <p:cNvSpPr/>
          <p:nvPr/>
        </p:nvSpPr>
        <p:spPr>
          <a:xfrm>
            <a:off x="274320" y="5477256"/>
            <a:ext cx="2971800" cy="310896"/>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Medium–High</a:t>
            </a:r>
            <a:endParaRPr lang="en-US" sz="1150" dirty="0"/>
          </a:p>
        </p:txBody>
      </p:sp>
      <p:sp>
        <p:nvSpPr>
          <p:cNvPr id="14" name="Text 11"/>
          <p:cNvSpPr/>
          <p:nvPr/>
        </p:nvSpPr>
        <p:spPr>
          <a:xfrm>
            <a:off x="411480" y="5888736"/>
            <a:ext cx="2697480" cy="201168"/>
          </a:xfrm>
          <a:prstGeom prst="rect">
            <a:avLst/>
          </a:prstGeom>
          <a:noFill/>
          <a:ln/>
        </p:spPr>
        <p:txBody>
          <a:bodyPr wrap="square" lIns="0" tIns="0" rIns="0" bIns="0" rtlCol="0" anchor="ctr"/>
          <a:lstStyle/>
          <a:p>
            <a:pPr marL="0" indent="0" algn="ctr">
              <a:buNone/>
            </a:pPr>
            <a:r>
              <a:rPr lang="en-US" sz="900" b="1" kern="0" spc="150" dirty="0">
                <a:solidFill>
                  <a:srgbClr val="7FA8C9"/>
                </a:solidFill>
                <a:latin typeface="Trebuchet MS" pitchFamily="34" charset="0"/>
                <a:ea typeface="Trebuchet MS" pitchFamily="34" charset="-122"/>
                <a:cs typeface="Trebuchet MS" pitchFamily="34" charset="-120"/>
              </a:rPr>
              <a:t>PRICE POSTURE</a:t>
            </a:r>
            <a:endParaRPr lang="en-US" sz="900" dirty="0"/>
          </a:p>
        </p:txBody>
      </p:sp>
      <p:sp>
        <p:nvSpPr>
          <p:cNvPr id="15" name="Text 12"/>
          <p:cNvSpPr/>
          <p:nvPr/>
        </p:nvSpPr>
        <p:spPr>
          <a:xfrm>
            <a:off x="274320" y="6080760"/>
            <a:ext cx="2971800" cy="310896"/>
          </a:xfrm>
          <a:prstGeom prst="rect">
            <a:avLst/>
          </a:prstGeom>
          <a:noFill/>
          <a:ln/>
        </p:spPr>
        <p:txBody>
          <a:bodyPr wrap="square" lIns="0" tIns="0" rIns="0" bIns="0" rtlCol="0" anchor="ctr"/>
          <a:lstStyle/>
          <a:p>
            <a:pPr marL="0" indent="0" algn="ctr">
              <a:lnSpc>
                <a:spcPct val="95000"/>
              </a:lnSpc>
              <a:buNone/>
            </a:pPr>
            <a:r>
              <a:rPr lang="en-US" sz="1150" b="1" dirty="0">
                <a:solidFill>
                  <a:srgbClr val="FFFFFF"/>
                </a:solidFill>
                <a:latin typeface="Calibri" pitchFamily="34" charset="0"/>
                <a:ea typeface="Calibri" pitchFamily="34" charset="-122"/>
                <a:cs typeface="Calibri" pitchFamily="34" charset="-120"/>
              </a:rPr>
              <a:t>Premium for trust</a:t>
            </a:r>
            <a:endParaRPr lang="en-US" sz="1150" dirty="0"/>
          </a:p>
        </p:txBody>
      </p:sp>
      <p:sp>
        <p:nvSpPr>
          <p:cNvPr id="16" name="Text 13"/>
          <p:cNvSpPr/>
          <p:nvPr/>
        </p:nvSpPr>
        <p:spPr>
          <a:xfrm>
            <a:off x="3840480" y="384048"/>
            <a:ext cx="7315200" cy="274320"/>
          </a:xfrm>
          <a:prstGeom prst="rect">
            <a:avLst/>
          </a:prstGeom>
          <a:noFill/>
          <a:ln/>
        </p:spPr>
        <p:txBody>
          <a:bodyPr wrap="square" lIns="0" tIns="0" rIns="0" bIns="0" rtlCol="0" anchor="ctr"/>
          <a:lstStyle/>
          <a:p>
            <a:pPr marL="0" indent="0">
              <a:buNone/>
            </a:pPr>
            <a:r>
              <a:rPr lang="en-US" sz="1150" b="1" kern="0" spc="200" dirty="0">
                <a:solidFill>
                  <a:srgbClr val="0E7C7B"/>
                </a:solidFill>
                <a:latin typeface="Trebuchet MS" pitchFamily="34" charset="0"/>
                <a:ea typeface="Trebuchet MS" pitchFamily="34" charset="-122"/>
                <a:cs typeface="Trebuchet MS" pitchFamily="34" charset="-120"/>
              </a:rPr>
              <a:t>FINAL PERSONA</a:t>
            </a:r>
            <a:endParaRPr lang="en-US" sz="1150" dirty="0"/>
          </a:p>
        </p:txBody>
      </p:sp>
      <p:sp>
        <p:nvSpPr>
          <p:cNvPr id="17" name="Text 14"/>
          <p:cNvSpPr/>
          <p:nvPr/>
        </p:nvSpPr>
        <p:spPr>
          <a:xfrm>
            <a:off x="3840480" y="658368"/>
            <a:ext cx="7315200" cy="548640"/>
          </a:xfrm>
          <a:prstGeom prst="rect">
            <a:avLst/>
          </a:prstGeom>
          <a:noFill/>
          <a:ln/>
        </p:spPr>
        <p:txBody>
          <a:bodyPr wrap="square" lIns="0" tIns="0" rIns="0" bIns="0" rtlCol="0" anchor="ctr"/>
          <a:lstStyle/>
          <a:p>
            <a:pPr marL="0" indent="0">
              <a:buNone/>
            </a:pPr>
            <a:r>
              <a:rPr lang="en-US" sz="2600" b="1" dirty="0">
                <a:solidFill>
                  <a:srgbClr val="1B2A4A"/>
                </a:solidFill>
                <a:latin typeface="Georgia" pitchFamily="34" charset="0"/>
                <a:ea typeface="Georgia" pitchFamily="34" charset="-122"/>
                <a:cs typeface="Georgia" pitchFamily="34" charset="-120"/>
              </a:rPr>
              <a:t>Profile at a Glance</a:t>
            </a:r>
            <a:endParaRPr lang="en-US" sz="2600" dirty="0"/>
          </a:p>
        </p:txBody>
      </p:sp>
      <p:sp>
        <p:nvSpPr>
          <p:cNvPr id="18" name="Shape 15"/>
          <p:cNvSpPr/>
          <p:nvPr/>
        </p:nvSpPr>
        <p:spPr>
          <a:xfrm>
            <a:off x="3840480" y="1280160"/>
            <a:ext cx="3754984" cy="1371600"/>
          </a:xfrm>
          <a:prstGeom prst="roundRect">
            <a:avLst>
              <a:gd name="adj" fmla="val 3333"/>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19" name="Shape 16"/>
          <p:cNvSpPr/>
          <p:nvPr/>
        </p:nvSpPr>
        <p:spPr>
          <a:xfrm>
            <a:off x="4023360" y="1444752"/>
            <a:ext cx="402336" cy="402336"/>
          </a:xfrm>
          <a:prstGeom prst="ellipse">
            <a:avLst/>
          </a:prstGeom>
          <a:solidFill>
            <a:srgbClr val="E9EEF6"/>
          </a:solidFill>
          <a:ln/>
        </p:spPr>
        <p:txBody>
          <a:bodyPr/>
          <a:lstStyle/>
          <a:p>
            <a:endParaRPr lang="en-IN"/>
          </a:p>
        </p:txBody>
      </p:sp>
      <p:pic>
        <p:nvPicPr>
          <p:cNvPr id="20" name="Image 1" descr="preencoded.png"/>
          <p:cNvPicPr>
            <a:picLocks noChangeAspect="1"/>
          </p:cNvPicPr>
          <p:nvPr/>
        </p:nvPicPr>
        <p:blipFill>
          <a:blip r:embed="rId4"/>
          <a:stretch>
            <a:fillRect/>
          </a:stretch>
        </p:blipFill>
        <p:spPr>
          <a:xfrm>
            <a:off x="4119921" y="1541313"/>
            <a:ext cx="209215" cy="209215"/>
          </a:xfrm>
          <a:prstGeom prst="rect">
            <a:avLst/>
          </a:prstGeom>
        </p:spPr>
      </p:pic>
      <p:sp>
        <p:nvSpPr>
          <p:cNvPr id="21" name="Text 17"/>
          <p:cNvSpPr/>
          <p:nvPr/>
        </p:nvSpPr>
        <p:spPr>
          <a:xfrm>
            <a:off x="4517136" y="1444752"/>
            <a:ext cx="2932024" cy="402336"/>
          </a:xfrm>
          <a:prstGeom prst="rect">
            <a:avLst/>
          </a:prstGeom>
          <a:noFill/>
          <a:ln/>
        </p:spPr>
        <p:txBody>
          <a:bodyPr wrap="square" lIns="0" tIns="0" rIns="0" bIns="0" rtlCol="0" anchor="ctr"/>
          <a:lstStyle/>
          <a:p>
            <a:pPr marL="0" indent="0">
              <a:buNone/>
            </a:pPr>
            <a:r>
              <a:rPr lang="en-US" sz="1150" b="1" kern="0" spc="100" dirty="0">
                <a:solidFill>
                  <a:srgbClr val="0E7C7B"/>
                </a:solidFill>
                <a:latin typeface="Trebuchet MS" pitchFamily="34" charset="0"/>
                <a:ea typeface="Trebuchet MS" pitchFamily="34" charset="-122"/>
                <a:cs typeface="Trebuchet MS" pitchFamily="34" charset="-120"/>
              </a:rPr>
              <a:t>GOALS</a:t>
            </a:r>
            <a:endParaRPr lang="en-US" sz="1150" dirty="0"/>
          </a:p>
        </p:txBody>
      </p:sp>
      <p:sp>
        <p:nvSpPr>
          <p:cNvPr id="22" name="Text 18"/>
          <p:cNvSpPr/>
          <p:nvPr/>
        </p:nvSpPr>
        <p:spPr>
          <a:xfrm>
            <a:off x="4059936" y="1883664"/>
            <a:ext cx="3334360" cy="694944"/>
          </a:xfrm>
          <a:prstGeom prst="rect">
            <a:avLst/>
          </a:prstGeom>
          <a:noFill/>
          <a:ln/>
        </p:spPr>
        <p:txBody>
          <a:bodyPr wrap="square" lIns="0" tIns="0" rIns="0" bIns="0" rtlCol="0" anchor="t"/>
          <a:lstStyle/>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Transact without being deceived</a:t>
            </a:r>
            <a:endParaRPr lang="en-US" sz="980" dirty="0"/>
          </a:p>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Recover value to fund the next upgrade</a:t>
            </a:r>
            <a:endParaRPr lang="en-US" sz="980" dirty="0"/>
          </a:p>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Feel smart — a self-owned, evidence-backed call</a:t>
            </a:r>
            <a:endParaRPr lang="en-US" sz="980" dirty="0"/>
          </a:p>
        </p:txBody>
      </p:sp>
      <p:sp>
        <p:nvSpPr>
          <p:cNvPr id="23" name="Shape 19"/>
          <p:cNvSpPr/>
          <p:nvPr/>
        </p:nvSpPr>
        <p:spPr>
          <a:xfrm>
            <a:off x="7869784" y="1280160"/>
            <a:ext cx="3754984" cy="1371600"/>
          </a:xfrm>
          <a:prstGeom prst="roundRect">
            <a:avLst>
              <a:gd name="adj" fmla="val 3333"/>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24" name="Shape 20"/>
          <p:cNvSpPr/>
          <p:nvPr/>
        </p:nvSpPr>
        <p:spPr>
          <a:xfrm>
            <a:off x="8052664" y="1444752"/>
            <a:ext cx="402336" cy="402336"/>
          </a:xfrm>
          <a:prstGeom prst="ellipse">
            <a:avLst/>
          </a:prstGeom>
          <a:solidFill>
            <a:srgbClr val="E9EEF6"/>
          </a:solidFill>
          <a:ln/>
        </p:spPr>
        <p:txBody>
          <a:bodyPr/>
          <a:lstStyle/>
          <a:p>
            <a:endParaRPr lang="en-IN"/>
          </a:p>
        </p:txBody>
      </p:sp>
      <p:pic>
        <p:nvPicPr>
          <p:cNvPr id="25" name="Image 2" descr="preencoded.png"/>
          <p:cNvPicPr>
            <a:picLocks noChangeAspect="1"/>
          </p:cNvPicPr>
          <p:nvPr/>
        </p:nvPicPr>
        <p:blipFill>
          <a:blip r:embed="rId5"/>
          <a:stretch>
            <a:fillRect/>
          </a:stretch>
        </p:blipFill>
        <p:spPr>
          <a:xfrm>
            <a:off x="8149224" y="1541313"/>
            <a:ext cx="209215" cy="209215"/>
          </a:xfrm>
          <a:prstGeom prst="rect">
            <a:avLst/>
          </a:prstGeom>
        </p:spPr>
      </p:pic>
      <p:sp>
        <p:nvSpPr>
          <p:cNvPr id="26" name="Text 21"/>
          <p:cNvSpPr/>
          <p:nvPr/>
        </p:nvSpPr>
        <p:spPr>
          <a:xfrm>
            <a:off x="8546440" y="1444752"/>
            <a:ext cx="2932024" cy="402336"/>
          </a:xfrm>
          <a:prstGeom prst="rect">
            <a:avLst/>
          </a:prstGeom>
          <a:noFill/>
          <a:ln/>
        </p:spPr>
        <p:txBody>
          <a:bodyPr wrap="square" lIns="0" tIns="0" rIns="0" bIns="0" rtlCol="0" anchor="ctr"/>
          <a:lstStyle/>
          <a:p>
            <a:pPr marL="0" indent="0">
              <a:buNone/>
            </a:pPr>
            <a:r>
              <a:rPr lang="en-US" sz="1150" b="1" kern="0" spc="100" dirty="0">
                <a:solidFill>
                  <a:srgbClr val="0E7C7B"/>
                </a:solidFill>
                <a:latin typeface="Trebuchet MS" pitchFamily="34" charset="0"/>
                <a:ea typeface="Trebuchet MS" pitchFamily="34" charset="-122"/>
                <a:cs typeface="Trebuchet MS" pitchFamily="34" charset="-120"/>
              </a:rPr>
              <a:t>MOTIVATIONS</a:t>
            </a:r>
            <a:endParaRPr lang="en-US" sz="1150" dirty="0"/>
          </a:p>
        </p:txBody>
      </p:sp>
      <p:sp>
        <p:nvSpPr>
          <p:cNvPr id="27" name="Text 22"/>
          <p:cNvSpPr/>
          <p:nvPr/>
        </p:nvSpPr>
        <p:spPr>
          <a:xfrm>
            <a:off x="8089240" y="1883664"/>
            <a:ext cx="3334360" cy="694944"/>
          </a:xfrm>
          <a:prstGeom prst="rect">
            <a:avLst/>
          </a:prstGeom>
          <a:noFill/>
          <a:ln/>
        </p:spPr>
        <p:txBody>
          <a:bodyPr wrap="square" lIns="0" tIns="0" rIns="0" bIns="0" rtlCol="0" anchor="t"/>
          <a:lstStyle/>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Risk elimination over bargain-hunting</a:t>
            </a:r>
            <a:endParaRPr lang="en-US" sz="980" dirty="0"/>
          </a:p>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Value recovery as upgrade economics</a:t>
            </a:r>
            <a:endParaRPr lang="en-US" sz="980" dirty="0"/>
          </a:p>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Identity, dignity &amp; guilt-free upgrading</a:t>
            </a:r>
            <a:endParaRPr lang="en-US" sz="980" dirty="0"/>
          </a:p>
        </p:txBody>
      </p:sp>
      <p:sp>
        <p:nvSpPr>
          <p:cNvPr id="28" name="Shape 23"/>
          <p:cNvSpPr/>
          <p:nvPr/>
        </p:nvSpPr>
        <p:spPr>
          <a:xfrm>
            <a:off x="3840480" y="2852928"/>
            <a:ext cx="3754984" cy="1371600"/>
          </a:xfrm>
          <a:prstGeom prst="roundRect">
            <a:avLst>
              <a:gd name="adj" fmla="val 3333"/>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29" name="Shape 24"/>
          <p:cNvSpPr/>
          <p:nvPr/>
        </p:nvSpPr>
        <p:spPr>
          <a:xfrm>
            <a:off x="4023360" y="3017520"/>
            <a:ext cx="402336" cy="402336"/>
          </a:xfrm>
          <a:prstGeom prst="ellipse">
            <a:avLst/>
          </a:prstGeom>
          <a:solidFill>
            <a:srgbClr val="E9EEF6"/>
          </a:solidFill>
          <a:ln/>
        </p:spPr>
        <p:txBody>
          <a:bodyPr/>
          <a:lstStyle/>
          <a:p>
            <a:endParaRPr lang="en-IN"/>
          </a:p>
        </p:txBody>
      </p:sp>
      <p:pic>
        <p:nvPicPr>
          <p:cNvPr id="30" name="Image 3" descr="preencoded.png"/>
          <p:cNvPicPr>
            <a:picLocks noChangeAspect="1"/>
          </p:cNvPicPr>
          <p:nvPr/>
        </p:nvPicPr>
        <p:blipFill>
          <a:blip r:embed="rId6"/>
          <a:stretch>
            <a:fillRect/>
          </a:stretch>
        </p:blipFill>
        <p:spPr>
          <a:xfrm>
            <a:off x="4119921" y="3114081"/>
            <a:ext cx="209215" cy="209215"/>
          </a:xfrm>
          <a:prstGeom prst="rect">
            <a:avLst/>
          </a:prstGeom>
        </p:spPr>
      </p:pic>
      <p:sp>
        <p:nvSpPr>
          <p:cNvPr id="31" name="Text 25"/>
          <p:cNvSpPr/>
          <p:nvPr/>
        </p:nvSpPr>
        <p:spPr>
          <a:xfrm>
            <a:off x="4517136" y="3017520"/>
            <a:ext cx="2932024" cy="402336"/>
          </a:xfrm>
          <a:prstGeom prst="rect">
            <a:avLst/>
          </a:prstGeom>
          <a:noFill/>
          <a:ln/>
        </p:spPr>
        <p:txBody>
          <a:bodyPr wrap="square" lIns="0" tIns="0" rIns="0" bIns="0" rtlCol="0" anchor="ctr"/>
          <a:lstStyle/>
          <a:p>
            <a:pPr marL="0" indent="0">
              <a:buNone/>
            </a:pPr>
            <a:r>
              <a:rPr lang="en-US" sz="1150" b="1" kern="0" spc="100" dirty="0">
                <a:solidFill>
                  <a:srgbClr val="C0392B"/>
                </a:solidFill>
                <a:latin typeface="Trebuchet MS" pitchFamily="34" charset="0"/>
                <a:ea typeface="Trebuchet MS" pitchFamily="34" charset="-122"/>
                <a:cs typeface="Trebuchet MS" pitchFamily="34" charset="-120"/>
              </a:rPr>
              <a:t>CHALLENGES</a:t>
            </a:r>
            <a:endParaRPr lang="en-US" sz="1150" dirty="0"/>
          </a:p>
        </p:txBody>
      </p:sp>
      <p:sp>
        <p:nvSpPr>
          <p:cNvPr id="32" name="Text 26"/>
          <p:cNvSpPr/>
          <p:nvPr/>
        </p:nvSpPr>
        <p:spPr>
          <a:xfrm>
            <a:off x="4059936" y="3456432"/>
            <a:ext cx="3334360" cy="694944"/>
          </a:xfrm>
          <a:prstGeom prst="rect">
            <a:avLst/>
          </a:prstGeom>
          <a:noFill/>
          <a:ln/>
        </p:spPr>
        <p:txBody>
          <a:bodyPr wrap="square" lIns="0" tIns="0" rIns="0" bIns="0" rtlCol="0" anchor="t"/>
          <a:lstStyle/>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Fraud, misrepresentation, payment insecurity</a:t>
            </a:r>
            <a:endParaRPr lang="en-US" sz="980" dirty="0"/>
          </a:p>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Vague warranty + slow, scripted support</a:t>
            </a:r>
            <a:endParaRPr lang="en-US" sz="980" dirty="0"/>
          </a:p>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Comparison paralysis &amp; opaque grading</a:t>
            </a:r>
            <a:endParaRPr lang="en-US" sz="980" dirty="0"/>
          </a:p>
        </p:txBody>
      </p:sp>
      <p:sp>
        <p:nvSpPr>
          <p:cNvPr id="33" name="Shape 27"/>
          <p:cNvSpPr/>
          <p:nvPr/>
        </p:nvSpPr>
        <p:spPr>
          <a:xfrm>
            <a:off x="7869784" y="2852928"/>
            <a:ext cx="3754984" cy="1371600"/>
          </a:xfrm>
          <a:prstGeom prst="roundRect">
            <a:avLst>
              <a:gd name="adj" fmla="val 3333"/>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34" name="Shape 28"/>
          <p:cNvSpPr/>
          <p:nvPr/>
        </p:nvSpPr>
        <p:spPr>
          <a:xfrm>
            <a:off x="8052664" y="3017520"/>
            <a:ext cx="402336" cy="402336"/>
          </a:xfrm>
          <a:prstGeom prst="ellipse">
            <a:avLst/>
          </a:prstGeom>
          <a:solidFill>
            <a:srgbClr val="E9EEF6"/>
          </a:solidFill>
          <a:ln/>
        </p:spPr>
        <p:txBody>
          <a:bodyPr/>
          <a:lstStyle/>
          <a:p>
            <a:endParaRPr lang="en-IN"/>
          </a:p>
        </p:txBody>
      </p:sp>
      <p:pic>
        <p:nvPicPr>
          <p:cNvPr id="35" name="Image 4" descr="preencoded.png"/>
          <p:cNvPicPr>
            <a:picLocks noChangeAspect="1"/>
          </p:cNvPicPr>
          <p:nvPr/>
        </p:nvPicPr>
        <p:blipFill>
          <a:blip r:embed="rId7"/>
          <a:stretch>
            <a:fillRect/>
          </a:stretch>
        </p:blipFill>
        <p:spPr>
          <a:xfrm>
            <a:off x="8149224" y="3114081"/>
            <a:ext cx="209215" cy="209215"/>
          </a:xfrm>
          <a:prstGeom prst="rect">
            <a:avLst/>
          </a:prstGeom>
        </p:spPr>
      </p:pic>
      <p:sp>
        <p:nvSpPr>
          <p:cNvPr id="36" name="Text 29"/>
          <p:cNvSpPr/>
          <p:nvPr/>
        </p:nvSpPr>
        <p:spPr>
          <a:xfrm>
            <a:off x="8546440" y="3017520"/>
            <a:ext cx="2932024" cy="402336"/>
          </a:xfrm>
          <a:prstGeom prst="rect">
            <a:avLst/>
          </a:prstGeom>
          <a:noFill/>
          <a:ln/>
        </p:spPr>
        <p:txBody>
          <a:bodyPr wrap="square" lIns="0" tIns="0" rIns="0" bIns="0" rtlCol="0" anchor="ctr"/>
          <a:lstStyle/>
          <a:p>
            <a:pPr marL="0" indent="0">
              <a:buNone/>
            </a:pPr>
            <a:r>
              <a:rPr lang="en-US" sz="1150" b="1" kern="0" spc="100" dirty="0">
                <a:solidFill>
                  <a:srgbClr val="2563EB"/>
                </a:solidFill>
                <a:latin typeface="Trebuchet MS" pitchFamily="34" charset="0"/>
                <a:ea typeface="Trebuchet MS" pitchFamily="34" charset="-122"/>
                <a:cs typeface="Trebuchet MS" pitchFamily="34" charset="-120"/>
              </a:rPr>
              <a:t>BEHAVIORS</a:t>
            </a:r>
            <a:endParaRPr lang="en-US" sz="1150" dirty="0"/>
          </a:p>
        </p:txBody>
      </p:sp>
      <p:sp>
        <p:nvSpPr>
          <p:cNvPr id="37" name="Text 30"/>
          <p:cNvSpPr/>
          <p:nvPr/>
        </p:nvSpPr>
        <p:spPr>
          <a:xfrm>
            <a:off x="8089240" y="3456432"/>
            <a:ext cx="3334360" cy="694944"/>
          </a:xfrm>
          <a:prstGeom prst="rect">
            <a:avLst/>
          </a:prstGeom>
          <a:noFill/>
          <a:ln/>
        </p:spPr>
        <p:txBody>
          <a:bodyPr wrap="square" lIns="0" tIns="0" rIns="0" bIns="0" rtlCol="0" anchor="t"/>
          <a:lstStyle/>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1–2 wk protective research; decides early, confirms</a:t>
            </a:r>
            <a:endParaRPr lang="en-US" sz="980" dirty="0"/>
          </a:p>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Validates via peers &amp; YouTube, not brands</a:t>
            </a:r>
            <a:endParaRPr lang="en-US" sz="980" dirty="0"/>
          </a:p>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Stalls at comparison, converts at verification</a:t>
            </a:r>
            <a:endParaRPr lang="en-US" sz="980" dirty="0"/>
          </a:p>
        </p:txBody>
      </p:sp>
      <p:sp>
        <p:nvSpPr>
          <p:cNvPr id="38" name="Shape 31"/>
          <p:cNvSpPr/>
          <p:nvPr/>
        </p:nvSpPr>
        <p:spPr>
          <a:xfrm>
            <a:off x="3840480" y="4425696"/>
            <a:ext cx="3754984" cy="1371600"/>
          </a:xfrm>
          <a:prstGeom prst="roundRect">
            <a:avLst>
              <a:gd name="adj" fmla="val 3333"/>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39" name="Shape 32"/>
          <p:cNvSpPr/>
          <p:nvPr/>
        </p:nvSpPr>
        <p:spPr>
          <a:xfrm>
            <a:off x="4023360" y="4590288"/>
            <a:ext cx="402336" cy="402336"/>
          </a:xfrm>
          <a:prstGeom prst="ellipse">
            <a:avLst/>
          </a:prstGeom>
          <a:solidFill>
            <a:srgbClr val="E9EEF6"/>
          </a:solidFill>
          <a:ln/>
        </p:spPr>
        <p:txBody>
          <a:bodyPr/>
          <a:lstStyle/>
          <a:p>
            <a:endParaRPr lang="en-IN"/>
          </a:p>
        </p:txBody>
      </p:sp>
      <p:pic>
        <p:nvPicPr>
          <p:cNvPr id="40" name="Image 5" descr="preencoded.png"/>
          <p:cNvPicPr>
            <a:picLocks noChangeAspect="1"/>
          </p:cNvPicPr>
          <p:nvPr/>
        </p:nvPicPr>
        <p:blipFill>
          <a:blip r:embed="rId8"/>
          <a:stretch>
            <a:fillRect/>
          </a:stretch>
        </p:blipFill>
        <p:spPr>
          <a:xfrm>
            <a:off x="4119921" y="4686849"/>
            <a:ext cx="209215" cy="209215"/>
          </a:xfrm>
          <a:prstGeom prst="rect">
            <a:avLst/>
          </a:prstGeom>
        </p:spPr>
      </p:pic>
      <p:sp>
        <p:nvSpPr>
          <p:cNvPr id="41" name="Text 33"/>
          <p:cNvSpPr/>
          <p:nvPr/>
        </p:nvSpPr>
        <p:spPr>
          <a:xfrm>
            <a:off x="4517136" y="4590288"/>
            <a:ext cx="2932024" cy="402336"/>
          </a:xfrm>
          <a:prstGeom prst="rect">
            <a:avLst/>
          </a:prstGeom>
          <a:noFill/>
          <a:ln/>
        </p:spPr>
        <p:txBody>
          <a:bodyPr wrap="square" lIns="0" tIns="0" rIns="0" bIns="0" rtlCol="0" anchor="ctr"/>
          <a:lstStyle/>
          <a:p>
            <a:pPr marL="0" indent="0">
              <a:buNone/>
            </a:pPr>
            <a:r>
              <a:rPr lang="en-US" sz="1150" b="1" kern="0" spc="100" dirty="0">
                <a:solidFill>
                  <a:srgbClr val="2E9E4F"/>
                </a:solidFill>
                <a:latin typeface="Trebuchet MS" pitchFamily="34" charset="0"/>
                <a:ea typeface="Trebuchet MS" pitchFamily="34" charset="-122"/>
                <a:cs typeface="Trebuchet MS" pitchFamily="34" charset="-120"/>
              </a:rPr>
              <a:t>PREFERRED CHANNELS</a:t>
            </a:r>
            <a:endParaRPr lang="en-US" sz="1150" dirty="0"/>
          </a:p>
        </p:txBody>
      </p:sp>
      <p:sp>
        <p:nvSpPr>
          <p:cNvPr id="42" name="Text 34"/>
          <p:cNvSpPr/>
          <p:nvPr/>
        </p:nvSpPr>
        <p:spPr>
          <a:xfrm>
            <a:off x="4059936" y="5029200"/>
            <a:ext cx="3334360" cy="694944"/>
          </a:xfrm>
          <a:prstGeom prst="rect">
            <a:avLst/>
          </a:prstGeom>
          <a:noFill/>
          <a:ln/>
        </p:spPr>
        <p:txBody>
          <a:bodyPr wrap="square" lIns="0" tIns="0" rIns="0" bIns="0" rtlCol="0" anchor="t"/>
          <a:lstStyle/>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YouTube reviews; friends, family &amp; WhatsApp</a:t>
            </a:r>
            <a:endParaRPr lang="en-US" sz="980" dirty="0"/>
          </a:p>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Brand &amp; marketplace apps to compare/verify</a:t>
            </a:r>
            <a:endParaRPr lang="en-US" sz="980" dirty="0"/>
          </a:p>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Offline store as a reversible trust fallback</a:t>
            </a:r>
            <a:endParaRPr lang="en-US" sz="980" dirty="0"/>
          </a:p>
        </p:txBody>
      </p:sp>
      <p:sp>
        <p:nvSpPr>
          <p:cNvPr id="43" name="Shape 35"/>
          <p:cNvSpPr/>
          <p:nvPr/>
        </p:nvSpPr>
        <p:spPr>
          <a:xfrm>
            <a:off x="7869784" y="4425696"/>
            <a:ext cx="3754984" cy="1371600"/>
          </a:xfrm>
          <a:prstGeom prst="roundRect">
            <a:avLst>
              <a:gd name="adj" fmla="val 3333"/>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44" name="Shape 36"/>
          <p:cNvSpPr/>
          <p:nvPr/>
        </p:nvSpPr>
        <p:spPr>
          <a:xfrm>
            <a:off x="8052664" y="4590288"/>
            <a:ext cx="402336" cy="402336"/>
          </a:xfrm>
          <a:prstGeom prst="ellipse">
            <a:avLst/>
          </a:prstGeom>
          <a:solidFill>
            <a:srgbClr val="E9EEF6"/>
          </a:solidFill>
          <a:ln/>
        </p:spPr>
        <p:txBody>
          <a:bodyPr/>
          <a:lstStyle/>
          <a:p>
            <a:endParaRPr lang="en-IN"/>
          </a:p>
        </p:txBody>
      </p:sp>
      <p:pic>
        <p:nvPicPr>
          <p:cNvPr id="45" name="Image 6" descr="preencoded.png"/>
          <p:cNvPicPr>
            <a:picLocks noChangeAspect="1"/>
          </p:cNvPicPr>
          <p:nvPr/>
        </p:nvPicPr>
        <p:blipFill>
          <a:blip r:embed="rId9"/>
          <a:stretch>
            <a:fillRect/>
          </a:stretch>
        </p:blipFill>
        <p:spPr>
          <a:xfrm>
            <a:off x="8149224" y="4686849"/>
            <a:ext cx="209215" cy="209215"/>
          </a:xfrm>
          <a:prstGeom prst="rect">
            <a:avLst/>
          </a:prstGeom>
        </p:spPr>
      </p:pic>
      <p:sp>
        <p:nvSpPr>
          <p:cNvPr id="46" name="Text 37"/>
          <p:cNvSpPr/>
          <p:nvPr/>
        </p:nvSpPr>
        <p:spPr>
          <a:xfrm>
            <a:off x="8546440" y="4590288"/>
            <a:ext cx="2932024" cy="402336"/>
          </a:xfrm>
          <a:prstGeom prst="rect">
            <a:avLst/>
          </a:prstGeom>
          <a:noFill/>
          <a:ln/>
        </p:spPr>
        <p:txBody>
          <a:bodyPr wrap="square" lIns="0" tIns="0" rIns="0" bIns="0" rtlCol="0" anchor="ctr"/>
          <a:lstStyle/>
          <a:p>
            <a:pPr marL="0" indent="0">
              <a:buNone/>
            </a:pPr>
            <a:r>
              <a:rPr lang="en-US" sz="1150" b="1" kern="0" spc="100" dirty="0">
                <a:solidFill>
                  <a:srgbClr val="B07D0A"/>
                </a:solidFill>
                <a:latin typeface="Trebuchet MS" pitchFamily="34" charset="0"/>
                <a:ea typeface="Trebuchet MS" pitchFamily="34" charset="-122"/>
                <a:cs typeface="Trebuchet MS" pitchFamily="34" charset="-120"/>
              </a:rPr>
              <a:t>BUYING TRIGGERS</a:t>
            </a:r>
            <a:endParaRPr lang="en-US" sz="1150" dirty="0"/>
          </a:p>
        </p:txBody>
      </p:sp>
      <p:sp>
        <p:nvSpPr>
          <p:cNvPr id="47" name="Text 38"/>
          <p:cNvSpPr/>
          <p:nvPr/>
        </p:nvSpPr>
        <p:spPr>
          <a:xfrm>
            <a:off x="8089240" y="5029200"/>
            <a:ext cx="3334360" cy="694944"/>
          </a:xfrm>
          <a:prstGeom prst="rect">
            <a:avLst/>
          </a:prstGeom>
          <a:noFill/>
          <a:ln/>
        </p:spPr>
        <p:txBody>
          <a:bodyPr wrap="square" lIns="0" tIns="0" rIns="0" bIns="0" rtlCol="0" anchor="t"/>
          <a:lstStyle/>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Independent certification + “what you see = what you get”</a:t>
            </a:r>
            <a:endParaRPr lang="en-US" sz="980" dirty="0"/>
          </a:p>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Video/live inspection &amp; easy returns</a:t>
            </a:r>
            <a:endParaRPr lang="en-US" sz="980" dirty="0"/>
          </a:p>
          <a:p>
            <a:pPr marL="165100" indent="-165100">
              <a:spcAft>
                <a:spcPts val="500"/>
              </a:spcAft>
              <a:buSzPct val="100000"/>
              <a:buChar char="•"/>
            </a:pPr>
            <a:r>
              <a:rPr lang="en-US" sz="980" dirty="0">
                <a:solidFill>
                  <a:srgbClr val="55617A"/>
                </a:solidFill>
                <a:latin typeface="Calibri" pitchFamily="34" charset="0"/>
                <a:ea typeface="Calibri" pitchFamily="34" charset="-122"/>
                <a:cs typeface="Calibri" pitchFamily="34" charset="-120"/>
              </a:rPr>
              <a:t>Clear warranty at the decision moment</a:t>
            </a:r>
            <a:endParaRPr lang="en-US" sz="9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buNone/>
            </a:pPr>
            <a:r>
              <a:rPr lang="en-US" sz="1150" b="1" kern="0" spc="200" dirty="0">
                <a:solidFill>
                  <a:srgbClr val="0E7C7B"/>
                </a:solidFill>
                <a:latin typeface="Trebuchet MS" pitchFamily="34" charset="0"/>
                <a:ea typeface="Trebuchet MS" pitchFamily="34" charset="-122"/>
                <a:cs typeface="Trebuchet MS" pitchFamily="34" charset="-120"/>
              </a:rPr>
              <a:t>JOURNEY MAP · BASED ON THE CERTIBUY FLOW</a:t>
            </a:r>
            <a:endParaRPr lang="en-US" sz="1150" dirty="0"/>
          </a:p>
        </p:txBody>
      </p:sp>
      <p:sp>
        <p:nvSpPr>
          <p:cNvPr id="3" name="Text 1"/>
          <p:cNvSpPr/>
          <p:nvPr/>
        </p:nvSpPr>
        <p:spPr>
          <a:xfrm>
            <a:off x="566928" y="658368"/>
            <a:ext cx="11057839" cy="603504"/>
          </a:xfrm>
          <a:prstGeom prst="rect">
            <a:avLst/>
          </a:prstGeom>
          <a:noFill/>
          <a:ln/>
        </p:spPr>
        <p:txBody>
          <a:bodyPr wrap="square" lIns="0" tIns="0" rIns="0" bIns="0" rtlCol="0" anchor="ctr"/>
          <a:lstStyle/>
          <a:p>
            <a:pPr marL="0" indent="0">
              <a:buNone/>
            </a:pPr>
            <a:r>
              <a:rPr lang="en-US" sz="2700" b="1" dirty="0">
                <a:solidFill>
                  <a:srgbClr val="1B2A4A"/>
                </a:solidFill>
                <a:latin typeface="Georgia" pitchFamily="34" charset="0"/>
                <a:ea typeface="Georgia" pitchFamily="34" charset="-122"/>
                <a:cs typeface="Georgia" pitchFamily="34" charset="-120"/>
              </a:rPr>
              <a:t>Two Sides, One Trust-Gated Journey</a:t>
            </a:r>
            <a:endParaRPr lang="en-US" sz="2700" dirty="0"/>
          </a:p>
        </p:txBody>
      </p:sp>
      <p:sp>
        <p:nvSpPr>
          <p:cNvPr id="4" name="Shape 2"/>
          <p:cNvSpPr/>
          <p:nvPr/>
        </p:nvSpPr>
        <p:spPr>
          <a:xfrm>
            <a:off x="566928" y="6437376"/>
            <a:ext cx="11057839" cy="0"/>
          </a:xfrm>
          <a:prstGeom prst="line">
            <a:avLst/>
          </a:prstGeom>
          <a:noFill/>
          <a:ln w="12700">
            <a:solidFill>
              <a:srgbClr val="E3E8F0"/>
            </a:solidFill>
            <a:prstDash val="solid"/>
          </a:ln>
        </p:spPr>
        <p:txBody>
          <a:bodyPr/>
          <a:lstStyle/>
          <a:p>
            <a:endParaRPr lang="en-IN"/>
          </a:p>
        </p:txBody>
      </p:sp>
      <p:sp>
        <p:nvSpPr>
          <p:cNvPr id="5" name="Text 3"/>
          <p:cNvSpPr/>
          <p:nvPr/>
        </p:nvSpPr>
        <p:spPr>
          <a:xfrm>
            <a:off x="566928" y="6473952"/>
            <a:ext cx="6400800" cy="274320"/>
          </a:xfrm>
          <a:prstGeom prst="rect">
            <a:avLst/>
          </a:prstGeom>
          <a:noFill/>
          <a:ln/>
        </p:spPr>
        <p:txBody>
          <a:bodyPr wrap="square" lIns="0" tIns="0" rIns="0" bIns="0" rtlCol="0" anchor="ctr"/>
          <a:lstStyle/>
          <a:p>
            <a:pPr marL="0" indent="0">
              <a:buNone/>
            </a:pPr>
            <a:r>
              <a:rPr lang="en-US" sz="850" kern="0" spc="100" dirty="0">
                <a:solidFill>
                  <a:srgbClr val="8A97AD"/>
                </a:solidFill>
                <a:latin typeface="Trebuchet MS" pitchFamily="34" charset="0"/>
                <a:ea typeface="Trebuchet MS" pitchFamily="34" charset="-122"/>
                <a:cs typeface="Trebuchet MS" pitchFamily="34" charset="-120"/>
              </a:rPr>
              <a:t>CertiBuy  ·  Assignment 1</a:t>
            </a:r>
            <a:endParaRPr lang="en-US" sz="850" dirty="0"/>
          </a:p>
        </p:txBody>
      </p:sp>
      <p:sp>
        <p:nvSpPr>
          <p:cNvPr id="6" name="Text 4"/>
          <p:cNvSpPr/>
          <p:nvPr/>
        </p:nvSpPr>
        <p:spPr>
          <a:xfrm>
            <a:off x="4675327" y="6473952"/>
            <a:ext cx="6583680" cy="274320"/>
          </a:xfrm>
          <a:prstGeom prst="rect">
            <a:avLst/>
          </a:prstGeom>
          <a:noFill/>
          <a:ln/>
        </p:spPr>
        <p:txBody>
          <a:bodyPr wrap="square" lIns="0" tIns="0" rIns="0" bIns="0" rtlCol="0" anchor="ctr"/>
          <a:lstStyle/>
          <a:p>
            <a:pPr marL="0" indent="0" algn="r">
              <a:buNone/>
            </a:pPr>
            <a:r>
              <a:rPr lang="en-US" sz="850" dirty="0">
                <a:solidFill>
                  <a:srgbClr val="8A97AD"/>
                </a:solidFill>
                <a:latin typeface="Trebuchet MS" pitchFamily="34" charset="0"/>
                <a:ea typeface="Trebuchet MS" pitchFamily="34" charset="-122"/>
                <a:cs typeface="Trebuchet MS" pitchFamily="34" charset="-120"/>
              </a:rPr>
              <a:t>IITM Pravartak  ·  AI-Powered Product Design &amp; Management  ·  Batch 2 · Group 16</a:t>
            </a:r>
            <a:endParaRPr lang="en-US" sz="850" dirty="0"/>
          </a:p>
        </p:txBody>
      </p:sp>
      <p:sp>
        <p:nvSpPr>
          <p:cNvPr id="7" name="Text 5"/>
          <p:cNvSpPr/>
          <p:nvPr/>
        </p:nvSpPr>
        <p:spPr>
          <a:xfrm>
            <a:off x="11259007" y="6473952"/>
            <a:ext cx="365760" cy="274320"/>
          </a:xfrm>
          <a:prstGeom prst="rect">
            <a:avLst/>
          </a:prstGeom>
          <a:noFill/>
          <a:ln/>
        </p:spPr>
        <p:txBody>
          <a:bodyPr wrap="square" lIns="0" tIns="0" rIns="0" bIns="0" rtlCol="0" anchor="ctr"/>
          <a:lstStyle/>
          <a:p>
            <a:pPr marL="0" indent="0" algn="r">
              <a:buNone/>
            </a:pPr>
            <a:r>
              <a:rPr lang="en-US" sz="850" b="1" dirty="0">
                <a:solidFill>
                  <a:srgbClr val="8A97AD"/>
                </a:solidFill>
                <a:latin typeface="Trebuchet MS" pitchFamily="34" charset="0"/>
                <a:ea typeface="Trebuchet MS" pitchFamily="34" charset="-122"/>
                <a:cs typeface="Trebuchet MS" pitchFamily="34" charset="-120"/>
              </a:rPr>
              <a:t>10</a:t>
            </a:r>
            <a:endParaRPr lang="en-US" sz="850" dirty="0"/>
          </a:p>
        </p:txBody>
      </p:sp>
      <p:sp>
        <p:nvSpPr>
          <p:cNvPr id="8" name="Shape 6"/>
          <p:cNvSpPr/>
          <p:nvPr/>
        </p:nvSpPr>
        <p:spPr>
          <a:xfrm>
            <a:off x="566928" y="1280160"/>
            <a:ext cx="1751533" cy="475488"/>
          </a:xfrm>
          <a:prstGeom prst="roundRect">
            <a:avLst>
              <a:gd name="adj" fmla="val 9615"/>
            </a:avLst>
          </a:prstGeom>
          <a:solidFill>
            <a:srgbClr val="1B2A4A"/>
          </a:solidFill>
          <a:ln/>
        </p:spPr>
        <p:txBody>
          <a:bodyPr/>
          <a:lstStyle/>
          <a:p>
            <a:endParaRPr lang="en-IN"/>
          </a:p>
        </p:txBody>
      </p:sp>
      <p:sp>
        <p:nvSpPr>
          <p:cNvPr id="9" name="Shape 7"/>
          <p:cNvSpPr/>
          <p:nvPr/>
        </p:nvSpPr>
        <p:spPr>
          <a:xfrm>
            <a:off x="658368" y="1380744"/>
            <a:ext cx="274320" cy="274320"/>
          </a:xfrm>
          <a:prstGeom prst="ellipse">
            <a:avLst/>
          </a:prstGeom>
          <a:solidFill>
            <a:srgbClr val="0E7C7B"/>
          </a:solidFill>
          <a:ln/>
        </p:spPr>
        <p:txBody>
          <a:bodyPr/>
          <a:lstStyle/>
          <a:p>
            <a:endParaRPr lang="en-IN"/>
          </a:p>
        </p:txBody>
      </p:sp>
      <p:sp>
        <p:nvSpPr>
          <p:cNvPr id="10" name="Text 8"/>
          <p:cNvSpPr/>
          <p:nvPr/>
        </p:nvSpPr>
        <p:spPr>
          <a:xfrm>
            <a:off x="658368" y="138074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1</a:t>
            </a:r>
            <a:endParaRPr lang="en-US" sz="1100" dirty="0"/>
          </a:p>
        </p:txBody>
      </p:sp>
      <p:sp>
        <p:nvSpPr>
          <p:cNvPr id="11" name="Text 9"/>
          <p:cNvSpPr/>
          <p:nvPr/>
        </p:nvSpPr>
        <p:spPr>
          <a:xfrm>
            <a:off x="978408" y="1280160"/>
            <a:ext cx="1294333" cy="475488"/>
          </a:xfrm>
          <a:prstGeom prst="rect">
            <a:avLst/>
          </a:prstGeom>
          <a:noFill/>
          <a:ln/>
        </p:spPr>
        <p:txBody>
          <a:bodyPr wrap="square" lIns="0" tIns="0" rIns="0" bIns="0" rtlCol="0" anchor="ctr"/>
          <a:lstStyle/>
          <a:p>
            <a:pPr marL="0" indent="0">
              <a:lnSpc>
                <a:spcPct val="90000"/>
              </a:lnSpc>
              <a:buNone/>
            </a:pPr>
            <a:r>
              <a:rPr lang="en-US" sz="950" b="1" dirty="0">
                <a:solidFill>
                  <a:srgbClr val="FFFFFF"/>
                </a:solidFill>
                <a:latin typeface="Trebuchet MS" pitchFamily="34" charset="0"/>
                <a:ea typeface="Trebuchet MS" pitchFamily="34" charset="-122"/>
                <a:cs typeface="Trebuchet MS" pitchFamily="34" charset="-120"/>
              </a:rPr>
              <a:t>Need &amp; Intent</a:t>
            </a:r>
            <a:endParaRPr lang="en-US" sz="950" dirty="0"/>
          </a:p>
        </p:txBody>
      </p:sp>
      <p:sp>
        <p:nvSpPr>
          <p:cNvPr id="12" name="Shape 10"/>
          <p:cNvSpPr/>
          <p:nvPr/>
        </p:nvSpPr>
        <p:spPr>
          <a:xfrm>
            <a:off x="2428189" y="1280160"/>
            <a:ext cx="1751533" cy="475488"/>
          </a:xfrm>
          <a:prstGeom prst="roundRect">
            <a:avLst>
              <a:gd name="adj" fmla="val 9615"/>
            </a:avLst>
          </a:prstGeom>
          <a:solidFill>
            <a:srgbClr val="1B2A4A"/>
          </a:solidFill>
          <a:ln/>
        </p:spPr>
        <p:txBody>
          <a:bodyPr/>
          <a:lstStyle/>
          <a:p>
            <a:endParaRPr lang="en-IN"/>
          </a:p>
        </p:txBody>
      </p:sp>
      <p:sp>
        <p:nvSpPr>
          <p:cNvPr id="13" name="Shape 11"/>
          <p:cNvSpPr/>
          <p:nvPr/>
        </p:nvSpPr>
        <p:spPr>
          <a:xfrm>
            <a:off x="2519629" y="1380744"/>
            <a:ext cx="274320" cy="274320"/>
          </a:xfrm>
          <a:prstGeom prst="ellipse">
            <a:avLst/>
          </a:prstGeom>
          <a:solidFill>
            <a:srgbClr val="0E7C7B"/>
          </a:solidFill>
          <a:ln/>
        </p:spPr>
        <p:txBody>
          <a:bodyPr/>
          <a:lstStyle/>
          <a:p>
            <a:endParaRPr lang="en-IN"/>
          </a:p>
        </p:txBody>
      </p:sp>
      <p:sp>
        <p:nvSpPr>
          <p:cNvPr id="14" name="Text 12"/>
          <p:cNvSpPr/>
          <p:nvPr/>
        </p:nvSpPr>
        <p:spPr>
          <a:xfrm>
            <a:off x="2519629" y="138074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2</a:t>
            </a:r>
            <a:endParaRPr lang="en-US" sz="1100" dirty="0"/>
          </a:p>
        </p:txBody>
      </p:sp>
      <p:sp>
        <p:nvSpPr>
          <p:cNvPr id="15" name="Text 13"/>
          <p:cNvSpPr/>
          <p:nvPr/>
        </p:nvSpPr>
        <p:spPr>
          <a:xfrm>
            <a:off x="2839669" y="1280160"/>
            <a:ext cx="1294333" cy="475488"/>
          </a:xfrm>
          <a:prstGeom prst="rect">
            <a:avLst/>
          </a:prstGeom>
          <a:noFill/>
          <a:ln/>
        </p:spPr>
        <p:txBody>
          <a:bodyPr wrap="square" lIns="0" tIns="0" rIns="0" bIns="0" rtlCol="0" anchor="ctr"/>
          <a:lstStyle/>
          <a:p>
            <a:pPr marL="0" indent="0">
              <a:lnSpc>
                <a:spcPct val="90000"/>
              </a:lnSpc>
              <a:buNone/>
            </a:pPr>
            <a:r>
              <a:rPr lang="en-US" sz="950" b="1" dirty="0">
                <a:solidFill>
                  <a:srgbClr val="FFFFFF"/>
                </a:solidFill>
                <a:latin typeface="Trebuchet MS" pitchFamily="34" charset="0"/>
                <a:ea typeface="Trebuchet MS" pitchFamily="34" charset="-122"/>
                <a:cs typeface="Trebuchet MS" pitchFamily="34" charset="-120"/>
              </a:rPr>
              <a:t>Discover &amp; List</a:t>
            </a:r>
            <a:endParaRPr lang="en-US" sz="950" dirty="0"/>
          </a:p>
        </p:txBody>
      </p:sp>
      <p:sp>
        <p:nvSpPr>
          <p:cNvPr id="16" name="Shape 14"/>
          <p:cNvSpPr/>
          <p:nvPr/>
        </p:nvSpPr>
        <p:spPr>
          <a:xfrm>
            <a:off x="4289450" y="1280160"/>
            <a:ext cx="1751533" cy="475488"/>
          </a:xfrm>
          <a:prstGeom prst="roundRect">
            <a:avLst>
              <a:gd name="adj" fmla="val 9615"/>
            </a:avLst>
          </a:prstGeom>
          <a:solidFill>
            <a:srgbClr val="1B2A4A"/>
          </a:solidFill>
          <a:ln/>
        </p:spPr>
        <p:txBody>
          <a:bodyPr/>
          <a:lstStyle/>
          <a:p>
            <a:endParaRPr lang="en-IN"/>
          </a:p>
        </p:txBody>
      </p:sp>
      <p:sp>
        <p:nvSpPr>
          <p:cNvPr id="17" name="Shape 15"/>
          <p:cNvSpPr/>
          <p:nvPr/>
        </p:nvSpPr>
        <p:spPr>
          <a:xfrm>
            <a:off x="4380890" y="1380744"/>
            <a:ext cx="274320" cy="274320"/>
          </a:xfrm>
          <a:prstGeom prst="ellipse">
            <a:avLst/>
          </a:prstGeom>
          <a:solidFill>
            <a:srgbClr val="0E7C7B"/>
          </a:solidFill>
          <a:ln/>
        </p:spPr>
        <p:txBody>
          <a:bodyPr/>
          <a:lstStyle/>
          <a:p>
            <a:endParaRPr lang="en-IN"/>
          </a:p>
        </p:txBody>
      </p:sp>
      <p:sp>
        <p:nvSpPr>
          <p:cNvPr id="18" name="Text 16"/>
          <p:cNvSpPr/>
          <p:nvPr/>
        </p:nvSpPr>
        <p:spPr>
          <a:xfrm>
            <a:off x="4380890" y="138074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3</a:t>
            </a:r>
            <a:endParaRPr lang="en-US" sz="1100" dirty="0"/>
          </a:p>
        </p:txBody>
      </p:sp>
      <p:sp>
        <p:nvSpPr>
          <p:cNvPr id="19" name="Text 17"/>
          <p:cNvSpPr/>
          <p:nvPr/>
        </p:nvSpPr>
        <p:spPr>
          <a:xfrm>
            <a:off x="4700930" y="1280160"/>
            <a:ext cx="1294333" cy="475488"/>
          </a:xfrm>
          <a:prstGeom prst="rect">
            <a:avLst/>
          </a:prstGeom>
          <a:noFill/>
          <a:ln/>
        </p:spPr>
        <p:txBody>
          <a:bodyPr wrap="square" lIns="0" tIns="0" rIns="0" bIns="0" rtlCol="0" anchor="ctr"/>
          <a:lstStyle/>
          <a:p>
            <a:pPr marL="0" indent="0">
              <a:lnSpc>
                <a:spcPct val="90000"/>
              </a:lnSpc>
              <a:buNone/>
            </a:pPr>
            <a:r>
              <a:rPr lang="en-US" sz="950" b="1" dirty="0">
                <a:solidFill>
                  <a:srgbClr val="FFFFFF"/>
                </a:solidFill>
                <a:latin typeface="Trebuchet MS" pitchFamily="34" charset="0"/>
                <a:ea typeface="Trebuchet MS" pitchFamily="34" charset="-122"/>
                <a:cs typeface="Trebuchet MS" pitchFamily="34" charset="-120"/>
              </a:rPr>
              <a:t>Compare &amp; Verify</a:t>
            </a:r>
            <a:endParaRPr lang="en-US" sz="950" dirty="0"/>
          </a:p>
        </p:txBody>
      </p:sp>
      <p:sp>
        <p:nvSpPr>
          <p:cNvPr id="20" name="Shape 18"/>
          <p:cNvSpPr/>
          <p:nvPr/>
        </p:nvSpPr>
        <p:spPr>
          <a:xfrm>
            <a:off x="6150712" y="1280160"/>
            <a:ext cx="1751533" cy="475488"/>
          </a:xfrm>
          <a:prstGeom prst="roundRect">
            <a:avLst>
              <a:gd name="adj" fmla="val 9615"/>
            </a:avLst>
          </a:prstGeom>
          <a:solidFill>
            <a:srgbClr val="1B2A4A"/>
          </a:solidFill>
          <a:ln/>
        </p:spPr>
        <p:txBody>
          <a:bodyPr/>
          <a:lstStyle/>
          <a:p>
            <a:endParaRPr lang="en-IN"/>
          </a:p>
        </p:txBody>
      </p:sp>
      <p:sp>
        <p:nvSpPr>
          <p:cNvPr id="21" name="Shape 19"/>
          <p:cNvSpPr/>
          <p:nvPr/>
        </p:nvSpPr>
        <p:spPr>
          <a:xfrm>
            <a:off x="6242152" y="1380744"/>
            <a:ext cx="274320" cy="274320"/>
          </a:xfrm>
          <a:prstGeom prst="ellipse">
            <a:avLst/>
          </a:prstGeom>
          <a:solidFill>
            <a:srgbClr val="0E7C7B"/>
          </a:solidFill>
          <a:ln/>
        </p:spPr>
        <p:txBody>
          <a:bodyPr/>
          <a:lstStyle/>
          <a:p>
            <a:endParaRPr lang="en-IN"/>
          </a:p>
        </p:txBody>
      </p:sp>
      <p:sp>
        <p:nvSpPr>
          <p:cNvPr id="22" name="Text 20"/>
          <p:cNvSpPr/>
          <p:nvPr/>
        </p:nvSpPr>
        <p:spPr>
          <a:xfrm>
            <a:off x="6242152" y="138074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4</a:t>
            </a:r>
            <a:endParaRPr lang="en-US" sz="1100" dirty="0"/>
          </a:p>
        </p:txBody>
      </p:sp>
      <p:sp>
        <p:nvSpPr>
          <p:cNvPr id="23" name="Text 21"/>
          <p:cNvSpPr/>
          <p:nvPr/>
        </p:nvSpPr>
        <p:spPr>
          <a:xfrm>
            <a:off x="6562192" y="1280160"/>
            <a:ext cx="1294333" cy="475488"/>
          </a:xfrm>
          <a:prstGeom prst="rect">
            <a:avLst/>
          </a:prstGeom>
          <a:noFill/>
          <a:ln/>
        </p:spPr>
        <p:txBody>
          <a:bodyPr wrap="square" lIns="0" tIns="0" rIns="0" bIns="0" rtlCol="0" anchor="ctr"/>
          <a:lstStyle/>
          <a:p>
            <a:pPr marL="0" indent="0">
              <a:lnSpc>
                <a:spcPct val="90000"/>
              </a:lnSpc>
              <a:buNone/>
            </a:pPr>
            <a:r>
              <a:rPr lang="en-US" sz="950" b="1" dirty="0">
                <a:solidFill>
                  <a:srgbClr val="FFFFFF"/>
                </a:solidFill>
                <a:latin typeface="Trebuchet MS" pitchFamily="34" charset="0"/>
                <a:ea typeface="Trebuchet MS" pitchFamily="34" charset="-122"/>
                <a:cs typeface="Trebuchet MS" pitchFamily="34" charset="-120"/>
              </a:rPr>
              <a:t>Certify &amp; Publish</a:t>
            </a:r>
            <a:endParaRPr lang="en-US" sz="950" dirty="0"/>
          </a:p>
        </p:txBody>
      </p:sp>
      <p:sp>
        <p:nvSpPr>
          <p:cNvPr id="24" name="Shape 22"/>
          <p:cNvSpPr/>
          <p:nvPr/>
        </p:nvSpPr>
        <p:spPr>
          <a:xfrm>
            <a:off x="8011973" y="1280160"/>
            <a:ext cx="1751533" cy="475488"/>
          </a:xfrm>
          <a:prstGeom prst="roundRect">
            <a:avLst>
              <a:gd name="adj" fmla="val 9615"/>
            </a:avLst>
          </a:prstGeom>
          <a:solidFill>
            <a:srgbClr val="1B2A4A"/>
          </a:solidFill>
          <a:ln/>
        </p:spPr>
        <p:txBody>
          <a:bodyPr/>
          <a:lstStyle/>
          <a:p>
            <a:endParaRPr lang="en-IN"/>
          </a:p>
        </p:txBody>
      </p:sp>
      <p:sp>
        <p:nvSpPr>
          <p:cNvPr id="25" name="Shape 23"/>
          <p:cNvSpPr/>
          <p:nvPr/>
        </p:nvSpPr>
        <p:spPr>
          <a:xfrm>
            <a:off x="8103413" y="1380744"/>
            <a:ext cx="274320" cy="274320"/>
          </a:xfrm>
          <a:prstGeom prst="ellipse">
            <a:avLst/>
          </a:prstGeom>
          <a:solidFill>
            <a:srgbClr val="0E7C7B"/>
          </a:solidFill>
          <a:ln/>
        </p:spPr>
        <p:txBody>
          <a:bodyPr/>
          <a:lstStyle/>
          <a:p>
            <a:endParaRPr lang="en-IN"/>
          </a:p>
        </p:txBody>
      </p:sp>
      <p:sp>
        <p:nvSpPr>
          <p:cNvPr id="26" name="Text 24"/>
          <p:cNvSpPr/>
          <p:nvPr/>
        </p:nvSpPr>
        <p:spPr>
          <a:xfrm>
            <a:off x="8103413" y="138074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5</a:t>
            </a:r>
            <a:endParaRPr lang="en-US" sz="1100" dirty="0"/>
          </a:p>
        </p:txBody>
      </p:sp>
      <p:sp>
        <p:nvSpPr>
          <p:cNvPr id="27" name="Text 25"/>
          <p:cNvSpPr/>
          <p:nvPr/>
        </p:nvSpPr>
        <p:spPr>
          <a:xfrm>
            <a:off x="8423453" y="1280160"/>
            <a:ext cx="1294333" cy="475488"/>
          </a:xfrm>
          <a:prstGeom prst="rect">
            <a:avLst/>
          </a:prstGeom>
          <a:noFill/>
          <a:ln/>
        </p:spPr>
        <p:txBody>
          <a:bodyPr wrap="square" lIns="0" tIns="0" rIns="0" bIns="0" rtlCol="0" anchor="ctr"/>
          <a:lstStyle/>
          <a:p>
            <a:pPr marL="0" indent="0">
              <a:lnSpc>
                <a:spcPct val="90000"/>
              </a:lnSpc>
              <a:buNone/>
            </a:pPr>
            <a:r>
              <a:rPr lang="en-US" sz="950" b="1" dirty="0">
                <a:solidFill>
                  <a:srgbClr val="FFFFFF"/>
                </a:solidFill>
                <a:latin typeface="Trebuchet MS" pitchFamily="34" charset="0"/>
                <a:ea typeface="Trebuchet MS" pitchFamily="34" charset="-122"/>
                <a:cs typeface="Trebuchet MS" pitchFamily="34" charset="-120"/>
              </a:rPr>
              <a:t>Transact &amp; Pay</a:t>
            </a:r>
            <a:endParaRPr lang="en-US" sz="950" dirty="0"/>
          </a:p>
        </p:txBody>
      </p:sp>
      <p:sp>
        <p:nvSpPr>
          <p:cNvPr id="28" name="Shape 26"/>
          <p:cNvSpPr/>
          <p:nvPr/>
        </p:nvSpPr>
        <p:spPr>
          <a:xfrm>
            <a:off x="9873234" y="1280160"/>
            <a:ext cx="1751533" cy="475488"/>
          </a:xfrm>
          <a:prstGeom prst="roundRect">
            <a:avLst>
              <a:gd name="adj" fmla="val 9615"/>
            </a:avLst>
          </a:prstGeom>
          <a:solidFill>
            <a:srgbClr val="1B2A4A"/>
          </a:solidFill>
          <a:ln/>
        </p:spPr>
        <p:txBody>
          <a:bodyPr/>
          <a:lstStyle/>
          <a:p>
            <a:endParaRPr lang="en-IN"/>
          </a:p>
        </p:txBody>
      </p:sp>
      <p:sp>
        <p:nvSpPr>
          <p:cNvPr id="29" name="Shape 27"/>
          <p:cNvSpPr/>
          <p:nvPr/>
        </p:nvSpPr>
        <p:spPr>
          <a:xfrm>
            <a:off x="9964674" y="1380744"/>
            <a:ext cx="274320" cy="274320"/>
          </a:xfrm>
          <a:prstGeom prst="ellipse">
            <a:avLst/>
          </a:prstGeom>
          <a:solidFill>
            <a:srgbClr val="0E7C7B"/>
          </a:solidFill>
          <a:ln/>
        </p:spPr>
        <p:txBody>
          <a:bodyPr/>
          <a:lstStyle/>
          <a:p>
            <a:endParaRPr lang="en-IN"/>
          </a:p>
        </p:txBody>
      </p:sp>
      <p:sp>
        <p:nvSpPr>
          <p:cNvPr id="30" name="Text 28"/>
          <p:cNvSpPr/>
          <p:nvPr/>
        </p:nvSpPr>
        <p:spPr>
          <a:xfrm>
            <a:off x="9964674" y="138074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6</a:t>
            </a:r>
            <a:endParaRPr lang="en-US" sz="1100" dirty="0"/>
          </a:p>
        </p:txBody>
      </p:sp>
      <p:sp>
        <p:nvSpPr>
          <p:cNvPr id="31" name="Text 29"/>
          <p:cNvSpPr/>
          <p:nvPr/>
        </p:nvSpPr>
        <p:spPr>
          <a:xfrm>
            <a:off x="10284714" y="1280160"/>
            <a:ext cx="1294333" cy="475488"/>
          </a:xfrm>
          <a:prstGeom prst="rect">
            <a:avLst/>
          </a:prstGeom>
          <a:noFill/>
          <a:ln/>
        </p:spPr>
        <p:txBody>
          <a:bodyPr wrap="square" lIns="0" tIns="0" rIns="0" bIns="0" rtlCol="0" anchor="ctr"/>
          <a:lstStyle/>
          <a:p>
            <a:pPr marL="0" indent="0">
              <a:lnSpc>
                <a:spcPct val="90000"/>
              </a:lnSpc>
              <a:buNone/>
            </a:pPr>
            <a:r>
              <a:rPr lang="en-US" sz="950" b="1" dirty="0">
                <a:solidFill>
                  <a:srgbClr val="FFFFFF"/>
                </a:solidFill>
                <a:latin typeface="Trebuchet MS" pitchFamily="34" charset="0"/>
                <a:ea typeface="Trebuchet MS" pitchFamily="34" charset="-122"/>
                <a:cs typeface="Trebuchet MS" pitchFamily="34" charset="-120"/>
              </a:rPr>
              <a:t>Deliver &amp; Settle</a:t>
            </a:r>
            <a:endParaRPr lang="en-US" sz="950" dirty="0"/>
          </a:p>
        </p:txBody>
      </p:sp>
      <p:sp>
        <p:nvSpPr>
          <p:cNvPr id="32" name="Text 30"/>
          <p:cNvSpPr/>
          <p:nvPr/>
        </p:nvSpPr>
        <p:spPr>
          <a:xfrm>
            <a:off x="566928" y="1810512"/>
            <a:ext cx="5486400" cy="201168"/>
          </a:xfrm>
          <a:prstGeom prst="rect">
            <a:avLst/>
          </a:prstGeom>
          <a:noFill/>
          <a:ln/>
        </p:spPr>
        <p:txBody>
          <a:bodyPr wrap="square" lIns="0" tIns="0" rIns="0" bIns="0" rtlCol="0" anchor="ctr"/>
          <a:lstStyle/>
          <a:p>
            <a:pPr marL="0" indent="0">
              <a:buNone/>
            </a:pPr>
            <a:r>
              <a:rPr lang="en-US" sz="950" b="1" kern="0" spc="150" dirty="0">
                <a:solidFill>
                  <a:srgbClr val="2563EB"/>
                </a:solidFill>
                <a:latin typeface="Trebuchet MS" pitchFamily="34" charset="0"/>
                <a:ea typeface="Trebuchet MS" pitchFamily="34" charset="-122"/>
                <a:cs typeface="Trebuchet MS" pitchFamily="34" charset="-120"/>
              </a:rPr>
              <a:t>BUYER JOURNEY</a:t>
            </a:r>
            <a:endParaRPr lang="en-US" sz="950" dirty="0"/>
          </a:p>
        </p:txBody>
      </p:sp>
      <p:sp>
        <p:nvSpPr>
          <p:cNvPr id="33" name="Shape 31"/>
          <p:cNvSpPr/>
          <p:nvPr/>
        </p:nvSpPr>
        <p:spPr>
          <a:xfrm>
            <a:off x="566928" y="2029968"/>
            <a:ext cx="1751533" cy="822960"/>
          </a:xfrm>
          <a:prstGeom prst="roundRect">
            <a:avLst>
              <a:gd name="adj" fmla="val 5556"/>
            </a:avLst>
          </a:prstGeom>
          <a:solidFill>
            <a:srgbClr val="EAF1FB"/>
          </a:solidFill>
          <a:ln/>
        </p:spPr>
        <p:txBody>
          <a:bodyPr/>
          <a:lstStyle/>
          <a:p>
            <a:endParaRPr lang="en-IN"/>
          </a:p>
        </p:txBody>
      </p:sp>
      <p:sp>
        <p:nvSpPr>
          <p:cNvPr id="34" name="Text 32"/>
          <p:cNvSpPr/>
          <p:nvPr/>
        </p:nvSpPr>
        <p:spPr>
          <a:xfrm>
            <a:off x="676656" y="2093976"/>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Upgrade urge; plans to fund it via resale</a:t>
            </a:r>
            <a:endParaRPr lang="en-US" sz="850" dirty="0"/>
          </a:p>
        </p:txBody>
      </p:sp>
      <p:sp>
        <p:nvSpPr>
          <p:cNvPr id="35" name="Shape 33"/>
          <p:cNvSpPr/>
          <p:nvPr/>
        </p:nvSpPr>
        <p:spPr>
          <a:xfrm>
            <a:off x="2428189" y="2029968"/>
            <a:ext cx="1751533" cy="822960"/>
          </a:xfrm>
          <a:prstGeom prst="roundRect">
            <a:avLst>
              <a:gd name="adj" fmla="val 5556"/>
            </a:avLst>
          </a:prstGeom>
          <a:solidFill>
            <a:srgbClr val="EAF1FB"/>
          </a:solidFill>
          <a:ln/>
        </p:spPr>
        <p:txBody>
          <a:bodyPr/>
          <a:lstStyle/>
          <a:p>
            <a:endParaRPr lang="en-IN"/>
          </a:p>
        </p:txBody>
      </p:sp>
      <p:sp>
        <p:nvSpPr>
          <p:cNvPr id="36" name="Text 34"/>
          <p:cNvSpPr/>
          <p:nvPr/>
        </p:nvSpPr>
        <p:spPr>
          <a:xfrm>
            <a:off x="2537917" y="2093976"/>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Researches — YouTube + peers</a:t>
            </a:r>
            <a:endParaRPr lang="en-US" sz="850" dirty="0"/>
          </a:p>
        </p:txBody>
      </p:sp>
      <p:sp>
        <p:nvSpPr>
          <p:cNvPr id="37" name="Shape 35"/>
          <p:cNvSpPr/>
          <p:nvPr/>
        </p:nvSpPr>
        <p:spPr>
          <a:xfrm>
            <a:off x="4289450" y="2029968"/>
            <a:ext cx="1751533" cy="822960"/>
          </a:xfrm>
          <a:prstGeom prst="roundRect">
            <a:avLst>
              <a:gd name="adj" fmla="val 5556"/>
            </a:avLst>
          </a:prstGeom>
          <a:solidFill>
            <a:srgbClr val="EAF1FB"/>
          </a:solidFill>
          <a:ln/>
        </p:spPr>
        <p:txBody>
          <a:bodyPr/>
          <a:lstStyle/>
          <a:p>
            <a:endParaRPr lang="en-IN"/>
          </a:p>
        </p:txBody>
      </p:sp>
      <p:sp>
        <p:nvSpPr>
          <p:cNvPr id="38" name="Text 36"/>
          <p:cNvSpPr/>
          <p:nvPr/>
        </p:nvSpPr>
        <p:spPr>
          <a:xfrm>
            <a:off x="4399178" y="2093976"/>
            <a:ext cx="1532077" cy="512064"/>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Compares options — paralysis sets in</a:t>
            </a:r>
            <a:endParaRPr lang="en-US" sz="850" dirty="0"/>
          </a:p>
        </p:txBody>
      </p:sp>
      <p:sp>
        <p:nvSpPr>
          <p:cNvPr id="39" name="Shape 37"/>
          <p:cNvSpPr/>
          <p:nvPr/>
        </p:nvSpPr>
        <p:spPr>
          <a:xfrm>
            <a:off x="4399178" y="2587752"/>
            <a:ext cx="676656" cy="219456"/>
          </a:xfrm>
          <a:prstGeom prst="roundRect">
            <a:avLst>
              <a:gd name="adj" fmla="val 16667"/>
            </a:avLst>
          </a:prstGeom>
          <a:solidFill>
            <a:srgbClr val="E5EDFC"/>
          </a:solidFill>
          <a:ln/>
        </p:spPr>
        <p:txBody>
          <a:bodyPr/>
          <a:lstStyle/>
          <a:p>
            <a:endParaRPr lang="en-IN"/>
          </a:p>
        </p:txBody>
      </p:sp>
      <p:sp>
        <p:nvSpPr>
          <p:cNvPr id="40" name="Text 38"/>
          <p:cNvSpPr/>
          <p:nvPr/>
        </p:nvSpPr>
        <p:spPr>
          <a:xfrm>
            <a:off x="4399178" y="2587752"/>
            <a:ext cx="676656" cy="219456"/>
          </a:xfrm>
          <a:prstGeom prst="rect">
            <a:avLst/>
          </a:prstGeom>
          <a:noFill/>
          <a:ln/>
        </p:spPr>
        <p:txBody>
          <a:bodyPr wrap="square" lIns="0" tIns="0" rIns="0" bIns="0" rtlCol="0" anchor="ctr"/>
          <a:lstStyle/>
          <a:p>
            <a:pPr marL="0" indent="0" algn="ctr">
              <a:buNone/>
            </a:pPr>
            <a:r>
              <a:rPr lang="en-US" sz="800" b="1" dirty="0">
                <a:solidFill>
                  <a:srgbClr val="2563EB"/>
                </a:solidFill>
                <a:latin typeface="Trebuchet MS" pitchFamily="34" charset="0"/>
                <a:ea typeface="Trebuchet MS" pitchFamily="34" charset="-122"/>
                <a:cs typeface="Trebuchet MS" pitchFamily="34" charset="-120"/>
              </a:rPr>
              <a:t>REAL</a:t>
            </a:r>
            <a:endParaRPr lang="en-US" sz="800" dirty="0"/>
          </a:p>
        </p:txBody>
      </p:sp>
      <p:sp>
        <p:nvSpPr>
          <p:cNvPr id="41" name="Shape 39"/>
          <p:cNvSpPr/>
          <p:nvPr/>
        </p:nvSpPr>
        <p:spPr>
          <a:xfrm>
            <a:off x="6150712" y="2029968"/>
            <a:ext cx="1751533" cy="822960"/>
          </a:xfrm>
          <a:prstGeom prst="roundRect">
            <a:avLst>
              <a:gd name="adj" fmla="val 5556"/>
            </a:avLst>
          </a:prstGeom>
          <a:solidFill>
            <a:srgbClr val="EAF1FB"/>
          </a:solidFill>
          <a:ln/>
        </p:spPr>
        <p:txBody>
          <a:bodyPr/>
          <a:lstStyle/>
          <a:p>
            <a:endParaRPr lang="en-IN"/>
          </a:p>
        </p:txBody>
      </p:sp>
      <p:sp>
        <p:nvSpPr>
          <p:cNvPr id="42" name="Text 40"/>
          <p:cNvSpPr/>
          <p:nvPr/>
        </p:nvSpPr>
        <p:spPr>
          <a:xfrm>
            <a:off x="6260440" y="2093976"/>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Checks certification &amp; inspection report</a:t>
            </a:r>
            <a:endParaRPr lang="en-US" sz="850" dirty="0"/>
          </a:p>
        </p:txBody>
      </p:sp>
      <p:sp>
        <p:nvSpPr>
          <p:cNvPr id="43" name="Shape 41"/>
          <p:cNvSpPr/>
          <p:nvPr/>
        </p:nvSpPr>
        <p:spPr>
          <a:xfrm>
            <a:off x="8011973" y="2029968"/>
            <a:ext cx="1751533" cy="822960"/>
          </a:xfrm>
          <a:prstGeom prst="roundRect">
            <a:avLst>
              <a:gd name="adj" fmla="val 5556"/>
            </a:avLst>
          </a:prstGeom>
          <a:solidFill>
            <a:srgbClr val="EAF1FB"/>
          </a:solidFill>
          <a:ln/>
        </p:spPr>
        <p:txBody>
          <a:bodyPr/>
          <a:lstStyle/>
          <a:p>
            <a:endParaRPr lang="en-IN"/>
          </a:p>
        </p:txBody>
      </p:sp>
      <p:sp>
        <p:nvSpPr>
          <p:cNvPr id="44" name="Text 42"/>
          <p:cNvSpPr/>
          <p:nvPr/>
        </p:nvSpPr>
        <p:spPr>
          <a:xfrm>
            <a:off x="8121701" y="2093976"/>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Confirms purchase, pays into escrow</a:t>
            </a:r>
            <a:endParaRPr lang="en-US" sz="850" dirty="0"/>
          </a:p>
        </p:txBody>
      </p:sp>
      <p:sp>
        <p:nvSpPr>
          <p:cNvPr id="45" name="Shape 43"/>
          <p:cNvSpPr/>
          <p:nvPr/>
        </p:nvSpPr>
        <p:spPr>
          <a:xfrm>
            <a:off x="9873234" y="2029968"/>
            <a:ext cx="1751533" cy="822960"/>
          </a:xfrm>
          <a:prstGeom prst="roundRect">
            <a:avLst>
              <a:gd name="adj" fmla="val 5556"/>
            </a:avLst>
          </a:prstGeom>
          <a:solidFill>
            <a:srgbClr val="EAF1FB"/>
          </a:solidFill>
          <a:ln/>
        </p:spPr>
        <p:txBody>
          <a:bodyPr/>
          <a:lstStyle/>
          <a:p>
            <a:endParaRPr lang="en-IN"/>
          </a:p>
        </p:txBody>
      </p:sp>
      <p:sp>
        <p:nvSpPr>
          <p:cNvPr id="46" name="Text 44"/>
          <p:cNvSpPr/>
          <p:nvPr/>
        </p:nvSpPr>
        <p:spPr>
          <a:xfrm>
            <a:off x="9982962" y="2093976"/>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Receives, re-checks, rates — loyalty vs churn</a:t>
            </a:r>
            <a:endParaRPr lang="en-US" sz="850" dirty="0"/>
          </a:p>
        </p:txBody>
      </p:sp>
      <p:sp>
        <p:nvSpPr>
          <p:cNvPr id="47" name="Text 45"/>
          <p:cNvSpPr/>
          <p:nvPr/>
        </p:nvSpPr>
        <p:spPr>
          <a:xfrm>
            <a:off x="566928" y="2944368"/>
            <a:ext cx="3657600" cy="182880"/>
          </a:xfrm>
          <a:prstGeom prst="rect">
            <a:avLst/>
          </a:prstGeom>
          <a:noFill/>
          <a:ln/>
        </p:spPr>
        <p:txBody>
          <a:bodyPr wrap="square" lIns="0" tIns="0" rIns="0" bIns="0" rtlCol="0" anchor="ctr"/>
          <a:lstStyle/>
          <a:p>
            <a:pPr marL="0" indent="0">
              <a:buNone/>
            </a:pPr>
            <a:r>
              <a:rPr lang="en-US" sz="900" b="1" kern="0" spc="100" dirty="0">
                <a:solidFill>
                  <a:srgbClr val="0E7C7B"/>
                </a:solidFill>
                <a:latin typeface="Trebuchet MS" pitchFamily="34" charset="0"/>
                <a:ea typeface="Trebuchet MS" pitchFamily="34" charset="-122"/>
                <a:cs typeface="Trebuchet MS" pitchFamily="34" charset="-120"/>
              </a:rPr>
              <a:t>BUYER CONFIDENCE</a:t>
            </a:r>
            <a:endParaRPr lang="en-US" sz="900" dirty="0"/>
          </a:p>
        </p:txBody>
      </p:sp>
      <p:graphicFrame>
        <p:nvGraphicFramePr>
          <p:cNvPr id="48" name="Chart 0"/>
          <p:cNvGraphicFramePr/>
          <p:nvPr/>
        </p:nvGraphicFramePr>
        <p:xfrm>
          <a:off x="475488" y="3108960"/>
          <a:ext cx="11240719" cy="713232"/>
        </p:xfrm>
        <a:graphic>
          <a:graphicData uri="http://schemas.openxmlformats.org/drawingml/2006/chart">
            <c:chart xmlns:c="http://schemas.openxmlformats.org/drawingml/2006/chart" xmlns:r="http://schemas.openxmlformats.org/officeDocument/2006/relationships" r:id="rId3"/>
          </a:graphicData>
        </a:graphic>
      </p:graphicFrame>
      <p:sp>
        <p:nvSpPr>
          <p:cNvPr id="49" name="Text 46"/>
          <p:cNvSpPr/>
          <p:nvPr/>
        </p:nvSpPr>
        <p:spPr>
          <a:xfrm>
            <a:off x="566928" y="3895344"/>
            <a:ext cx="5486400" cy="201168"/>
          </a:xfrm>
          <a:prstGeom prst="rect">
            <a:avLst/>
          </a:prstGeom>
          <a:noFill/>
          <a:ln/>
        </p:spPr>
        <p:txBody>
          <a:bodyPr wrap="square" lIns="0" tIns="0" rIns="0" bIns="0" rtlCol="0" anchor="ctr"/>
          <a:lstStyle/>
          <a:p>
            <a:pPr marL="0" indent="0">
              <a:buNone/>
            </a:pPr>
            <a:r>
              <a:rPr lang="en-US" sz="950" b="1" kern="0" spc="150" dirty="0">
                <a:solidFill>
                  <a:srgbClr val="B07D0A"/>
                </a:solidFill>
                <a:latin typeface="Trebuchet MS" pitchFamily="34" charset="0"/>
                <a:ea typeface="Trebuchet MS" pitchFamily="34" charset="-122"/>
                <a:cs typeface="Trebuchet MS" pitchFamily="34" charset="-120"/>
              </a:rPr>
              <a:t>SELLER JOURNEY</a:t>
            </a:r>
            <a:endParaRPr lang="en-US" sz="950" dirty="0"/>
          </a:p>
        </p:txBody>
      </p:sp>
      <p:sp>
        <p:nvSpPr>
          <p:cNvPr id="50" name="Shape 47"/>
          <p:cNvSpPr/>
          <p:nvPr/>
        </p:nvSpPr>
        <p:spPr>
          <a:xfrm>
            <a:off x="566928" y="4114800"/>
            <a:ext cx="1751533" cy="822960"/>
          </a:xfrm>
          <a:prstGeom prst="roundRect">
            <a:avLst>
              <a:gd name="adj" fmla="val 5556"/>
            </a:avLst>
          </a:prstGeom>
          <a:solidFill>
            <a:srgbClr val="FBF1DF"/>
          </a:solidFill>
          <a:ln/>
        </p:spPr>
        <p:txBody>
          <a:bodyPr/>
          <a:lstStyle/>
          <a:p>
            <a:endParaRPr lang="en-IN"/>
          </a:p>
        </p:txBody>
      </p:sp>
      <p:sp>
        <p:nvSpPr>
          <p:cNvPr id="51" name="Text 48"/>
          <p:cNvSpPr/>
          <p:nvPr/>
        </p:nvSpPr>
        <p:spPr>
          <a:xfrm>
            <a:off x="676656" y="4178808"/>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Declutters; recovers value for next upgrade</a:t>
            </a:r>
            <a:endParaRPr lang="en-US" sz="850" dirty="0"/>
          </a:p>
        </p:txBody>
      </p:sp>
      <p:sp>
        <p:nvSpPr>
          <p:cNvPr id="52" name="Shape 49"/>
          <p:cNvSpPr/>
          <p:nvPr/>
        </p:nvSpPr>
        <p:spPr>
          <a:xfrm>
            <a:off x="2428189" y="4114800"/>
            <a:ext cx="1751533" cy="822960"/>
          </a:xfrm>
          <a:prstGeom prst="roundRect">
            <a:avLst>
              <a:gd name="adj" fmla="val 5556"/>
            </a:avLst>
          </a:prstGeom>
          <a:solidFill>
            <a:srgbClr val="FBF1DF"/>
          </a:solidFill>
          <a:ln/>
        </p:spPr>
        <p:txBody>
          <a:bodyPr/>
          <a:lstStyle/>
          <a:p>
            <a:endParaRPr lang="en-IN"/>
          </a:p>
        </p:txBody>
      </p:sp>
      <p:sp>
        <p:nvSpPr>
          <p:cNvPr id="53" name="Text 50"/>
          <p:cNvSpPr/>
          <p:nvPr/>
        </p:nvSpPr>
        <p:spPr>
          <a:xfrm>
            <a:off x="2537917" y="4178808"/>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Lists: photos + AI price estimate</a:t>
            </a:r>
            <a:endParaRPr lang="en-US" sz="850" dirty="0"/>
          </a:p>
        </p:txBody>
      </p:sp>
      <p:sp>
        <p:nvSpPr>
          <p:cNvPr id="54" name="Shape 51"/>
          <p:cNvSpPr/>
          <p:nvPr/>
        </p:nvSpPr>
        <p:spPr>
          <a:xfrm>
            <a:off x="4289450" y="4114800"/>
            <a:ext cx="1751533" cy="822960"/>
          </a:xfrm>
          <a:prstGeom prst="roundRect">
            <a:avLst>
              <a:gd name="adj" fmla="val 5556"/>
            </a:avLst>
          </a:prstGeom>
          <a:solidFill>
            <a:srgbClr val="FBF1DF"/>
          </a:solidFill>
          <a:ln/>
        </p:spPr>
        <p:txBody>
          <a:bodyPr/>
          <a:lstStyle/>
          <a:p>
            <a:endParaRPr lang="en-IN"/>
          </a:p>
        </p:txBody>
      </p:sp>
      <p:sp>
        <p:nvSpPr>
          <p:cNvPr id="55" name="Text 52"/>
          <p:cNvSpPr/>
          <p:nvPr/>
        </p:nvSpPr>
        <p:spPr>
          <a:xfrm>
            <a:off x="4399178" y="4178808"/>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Inspection &amp; verification (center/doorstep)</a:t>
            </a:r>
            <a:endParaRPr lang="en-US" sz="850" dirty="0"/>
          </a:p>
        </p:txBody>
      </p:sp>
      <p:sp>
        <p:nvSpPr>
          <p:cNvPr id="56" name="Shape 53"/>
          <p:cNvSpPr/>
          <p:nvPr/>
        </p:nvSpPr>
        <p:spPr>
          <a:xfrm>
            <a:off x="6150712" y="4114800"/>
            <a:ext cx="1751533" cy="822960"/>
          </a:xfrm>
          <a:prstGeom prst="roundRect">
            <a:avLst>
              <a:gd name="adj" fmla="val 5556"/>
            </a:avLst>
          </a:prstGeom>
          <a:solidFill>
            <a:srgbClr val="FBF1DF"/>
          </a:solidFill>
          <a:ln/>
        </p:spPr>
        <p:txBody>
          <a:bodyPr/>
          <a:lstStyle/>
          <a:p>
            <a:endParaRPr lang="en-IN"/>
          </a:p>
        </p:txBody>
      </p:sp>
      <p:sp>
        <p:nvSpPr>
          <p:cNvPr id="57" name="Text 54"/>
          <p:cNvSpPr/>
          <p:nvPr/>
        </p:nvSpPr>
        <p:spPr>
          <a:xfrm>
            <a:off x="6260440" y="4178808"/>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Grade A/B/C; certified listing goes live</a:t>
            </a:r>
            <a:endParaRPr lang="en-US" sz="850" dirty="0"/>
          </a:p>
        </p:txBody>
      </p:sp>
      <p:sp>
        <p:nvSpPr>
          <p:cNvPr id="58" name="Shape 55"/>
          <p:cNvSpPr/>
          <p:nvPr/>
        </p:nvSpPr>
        <p:spPr>
          <a:xfrm>
            <a:off x="8011973" y="4114800"/>
            <a:ext cx="1751533" cy="822960"/>
          </a:xfrm>
          <a:prstGeom prst="roundRect">
            <a:avLst>
              <a:gd name="adj" fmla="val 5556"/>
            </a:avLst>
          </a:prstGeom>
          <a:solidFill>
            <a:srgbClr val="FBF1DF"/>
          </a:solidFill>
          <a:ln/>
        </p:spPr>
        <p:txBody>
          <a:bodyPr/>
          <a:lstStyle/>
          <a:p>
            <a:endParaRPr lang="en-IN"/>
          </a:p>
        </p:txBody>
      </p:sp>
      <p:sp>
        <p:nvSpPr>
          <p:cNvPr id="59" name="Text 56"/>
          <p:cNvSpPr/>
          <p:nvPr/>
        </p:nvSpPr>
        <p:spPr>
          <a:xfrm>
            <a:off x="8121701" y="4178808"/>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Buyer confirms &amp; pays; funds in escrow</a:t>
            </a:r>
            <a:endParaRPr lang="en-US" sz="850" dirty="0"/>
          </a:p>
        </p:txBody>
      </p:sp>
      <p:sp>
        <p:nvSpPr>
          <p:cNvPr id="60" name="Shape 57"/>
          <p:cNvSpPr/>
          <p:nvPr/>
        </p:nvSpPr>
        <p:spPr>
          <a:xfrm>
            <a:off x="9873234" y="4114800"/>
            <a:ext cx="1751533" cy="822960"/>
          </a:xfrm>
          <a:prstGeom prst="roundRect">
            <a:avLst>
              <a:gd name="adj" fmla="val 5556"/>
            </a:avLst>
          </a:prstGeom>
          <a:solidFill>
            <a:srgbClr val="FBF1DF"/>
          </a:solidFill>
          <a:ln/>
        </p:spPr>
        <p:txBody>
          <a:bodyPr/>
          <a:lstStyle/>
          <a:p>
            <a:endParaRPr lang="en-IN"/>
          </a:p>
        </p:txBody>
      </p:sp>
      <p:sp>
        <p:nvSpPr>
          <p:cNvPr id="61" name="Text 58"/>
          <p:cNvSpPr/>
          <p:nvPr/>
        </p:nvSpPr>
        <p:spPr>
          <a:xfrm>
            <a:off x="9982962" y="4178808"/>
            <a:ext cx="1532077" cy="512064"/>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App-scheduled pickup; money credited</a:t>
            </a:r>
            <a:endParaRPr lang="en-US" sz="850" dirty="0"/>
          </a:p>
        </p:txBody>
      </p:sp>
      <p:sp>
        <p:nvSpPr>
          <p:cNvPr id="62" name="Shape 59"/>
          <p:cNvSpPr/>
          <p:nvPr/>
        </p:nvSpPr>
        <p:spPr>
          <a:xfrm>
            <a:off x="9982962" y="4672584"/>
            <a:ext cx="676656" cy="219456"/>
          </a:xfrm>
          <a:prstGeom prst="roundRect">
            <a:avLst>
              <a:gd name="adj" fmla="val 16667"/>
            </a:avLst>
          </a:prstGeom>
          <a:solidFill>
            <a:srgbClr val="E5EDFC"/>
          </a:solidFill>
          <a:ln/>
        </p:spPr>
        <p:txBody>
          <a:bodyPr/>
          <a:lstStyle/>
          <a:p>
            <a:endParaRPr lang="en-IN"/>
          </a:p>
        </p:txBody>
      </p:sp>
      <p:sp>
        <p:nvSpPr>
          <p:cNvPr id="63" name="Text 60"/>
          <p:cNvSpPr/>
          <p:nvPr/>
        </p:nvSpPr>
        <p:spPr>
          <a:xfrm>
            <a:off x="9982962" y="4672584"/>
            <a:ext cx="676656" cy="219456"/>
          </a:xfrm>
          <a:prstGeom prst="rect">
            <a:avLst/>
          </a:prstGeom>
          <a:noFill/>
          <a:ln/>
        </p:spPr>
        <p:txBody>
          <a:bodyPr wrap="square" lIns="0" tIns="0" rIns="0" bIns="0" rtlCol="0" anchor="ctr"/>
          <a:lstStyle/>
          <a:p>
            <a:pPr marL="0" indent="0" algn="ctr">
              <a:buNone/>
            </a:pPr>
            <a:r>
              <a:rPr lang="en-US" sz="800" b="1" dirty="0">
                <a:solidFill>
                  <a:srgbClr val="2563EB"/>
                </a:solidFill>
                <a:latin typeface="Trebuchet MS" pitchFamily="34" charset="0"/>
                <a:ea typeface="Trebuchet MS" pitchFamily="34" charset="-122"/>
                <a:cs typeface="Trebuchet MS" pitchFamily="34" charset="-120"/>
              </a:rPr>
              <a:t>REAL</a:t>
            </a:r>
            <a:endParaRPr lang="en-US" sz="800" dirty="0"/>
          </a:p>
        </p:txBody>
      </p:sp>
      <p:sp>
        <p:nvSpPr>
          <p:cNvPr id="64" name="Text 61"/>
          <p:cNvSpPr/>
          <p:nvPr/>
        </p:nvSpPr>
        <p:spPr>
          <a:xfrm>
            <a:off x="566928" y="5065776"/>
            <a:ext cx="5486400" cy="201168"/>
          </a:xfrm>
          <a:prstGeom prst="rect">
            <a:avLst/>
          </a:prstGeom>
          <a:noFill/>
          <a:ln/>
        </p:spPr>
        <p:txBody>
          <a:bodyPr wrap="square" lIns="0" tIns="0" rIns="0" bIns="0" rtlCol="0" anchor="ctr"/>
          <a:lstStyle/>
          <a:p>
            <a:pPr marL="0" indent="0">
              <a:buNone/>
            </a:pPr>
            <a:r>
              <a:rPr lang="en-US" sz="950" b="1" kern="0" spc="150" dirty="0">
                <a:solidFill>
                  <a:srgbClr val="0E7C7B"/>
                </a:solidFill>
                <a:latin typeface="Trebuchet MS" pitchFamily="34" charset="0"/>
                <a:ea typeface="Trebuchet MS" pitchFamily="34" charset="-122"/>
                <a:cs typeface="Trebuchet MS" pitchFamily="34" charset="-120"/>
              </a:rPr>
              <a:t>CERTIBUY TRUST INTERVENTIONS</a:t>
            </a:r>
            <a:endParaRPr lang="en-US" sz="950" dirty="0"/>
          </a:p>
        </p:txBody>
      </p:sp>
      <p:sp>
        <p:nvSpPr>
          <p:cNvPr id="65" name="Shape 62"/>
          <p:cNvSpPr/>
          <p:nvPr/>
        </p:nvSpPr>
        <p:spPr>
          <a:xfrm>
            <a:off x="566928" y="5285232"/>
            <a:ext cx="1751533" cy="822960"/>
          </a:xfrm>
          <a:prstGeom prst="roundRect">
            <a:avLst>
              <a:gd name="adj" fmla="val 5556"/>
            </a:avLst>
          </a:prstGeom>
          <a:solidFill>
            <a:srgbClr val="E4F3EF"/>
          </a:solidFill>
          <a:ln/>
        </p:spPr>
        <p:txBody>
          <a:bodyPr/>
          <a:lstStyle/>
          <a:p>
            <a:endParaRPr lang="en-IN"/>
          </a:p>
        </p:txBody>
      </p:sp>
      <p:sp>
        <p:nvSpPr>
          <p:cNvPr id="66" name="Text 63"/>
          <p:cNvSpPr/>
          <p:nvPr/>
        </p:nvSpPr>
        <p:spPr>
          <a:xfrm>
            <a:off x="676656" y="5349240"/>
            <a:ext cx="1532077" cy="512064"/>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Trade-in / upgrade framing</a:t>
            </a:r>
            <a:endParaRPr lang="en-US" sz="850" dirty="0"/>
          </a:p>
        </p:txBody>
      </p:sp>
      <p:sp>
        <p:nvSpPr>
          <p:cNvPr id="67" name="Shape 64"/>
          <p:cNvSpPr/>
          <p:nvPr/>
        </p:nvSpPr>
        <p:spPr>
          <a:xfrm>
            <a:off x="676656" y="5843016"/>
            <a:ext cx="676656" cy="219456"/>
          </a:xfrm>
          <a:prstGeom prst="roundRect">
            <a:avLst>
              <a:gd name="adj" fmla="val 16667"/>
            </a:avLst>
          </a:prstGeom>
          <a:solidFill>
            <a:srgbClr val="E9EEF6"/>
          </a:solidFill>
          <a:ln/>
        </p:spPr>
        <p:txBody>
          <a:bodyPr/>
          <a:lstStyle/>
          <a:p>
            <a:endParaRPr lang="en-IN"/>
          </a:p>
        </p:txBody>
      </p:sp>
      <p:sp>
        <p:nvSpPr>
          <p:cNvPr id="68" name="Text 65"/>
          <p:cNvSpPr/>
          <p:nvPr/>
        </p:nvSpPr>
        <p:spPr>
          <a:xfrm>
            <a:off x="676656" y="5843016"/>
            <a:ext cx="676656" cy="219456"/>
          </a:xfrm>
          <a:prstGeom prst="rect">
            <a:avLst/>
          </a:prstGeom>
          <a:noFill/>
          <a:ln/>
        </p:spPr>
        <p:txBody>
          <a:bodyPr wrap="square" lIns="0" tIns="0" rIns="0" bIns="0" rtlCol="0" anchor="ctr"/>
          <a:lstStyle/>
          <a:p>
            <a:pPr marL="0" indent="0" algn="ctr">
              <a:buNone/>
            </a:pPr>
            <a:r>
              <a:rPr lang="en-US" sz="800" b="1" dirty="0">
                <a:solidFill>
                  <a:srgbClr val="0E7C7B"/>
                </a:solidFill>
                <a:latin typeface="Trebuchet MS" pitchFamily="34" charset="0"/>
                <a:ea typeface="Trebuchet MS" pitchFamily="34" charset="-122"/>
                <a:cs typeface="Trebuchet MS" pitchFamily="34" charset="-120"/>
              </a:rPr>
              <a:t>AI</a:t>
            </a:r>
            <a:endParaRPr lang="en-US" sz="800" dirty="0"/>
          </a:p>
        </p:txBody>
      </p:sp>
      <p:sp>
        <p:nvSpPr>
          <p:cNvPr id="69" name="Shape 66"/>
          <p:cNvSpPr/>
          <p:nvPr/>
        </p:nvSpPr>
        <p:spPr>
          <a:xfrm>
            <a:off x="2428189" y="5285232"/>
            <a:ext cx="1751533" cy="822960"/>
          </a:xfrm>
          <a:prstGeom prst="roundRect">
            <a:avLst>
              <a:gd name="adj" fmla="val 5556"/>
            </a:avLst>
          </a:prstGeom>
          <a:solidFill>
            <a:srgbClr val="E4F3EF"/>
          </a:solidFill>
          <a:ln/>
        </p:spPr>
        <p:txBody>
          <a:bodyPr/>
          <a:lstStyle/>
          <a:p>
            <a:endParaRPr lang="en-IN"/>
          </a:p>
        </p:txBody>
      </p:sp>
      <p:sp>
        <p:nvSpPr>
          <p:cNvPr id="70" name="Text 67"/>
          <p:cNvSpPr/>
          <p:nvPr/>
        </p:nvSpPr>
        <p:spPr>
          <a:xfrm>
            <a:off x="2537917" y="5349240"/>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AI price + multi-angle capture</a:t>
            </a:r>
            <a:endParaRPr lang="en-US" sz="850" dirty="0"/>
          </a:p>
        </p:txBody>
      </p:sp>
      <p:sp>
        <p:nvSpPr>
          <p:cNvPr id="71" name="Shape 68"/>
          <p:cNvSpPr/>
          <p:nvPr/>
        </p:nvSpPr>
        <p:spPr>
          <a:xfrm>
            <a:off x="4289450" y="5285232"/>
            <a:ext cx="1751533" cy="822960"/>
          </a:xfrm>
          <a:prstGeom prst="roundRect">
            <a:avLst>
              <a:gd name="adj" fmla="val 5556"/>
            </a:avLst>
          </a:prstGeom>
          <a:solidFill>
            <a:srgbClr val="E4F3EF"/>
          </a:solidFill>
          <a:ln/>
        </p:spPr>
        <p:txBody>
          <a:bodyPr/>
          <a:lstStyle/>
          <a:p>
            <a:endParaRPr lang="en-IN"/>
          </a:p>
        </p:txBody>
      </p:sp>
      <p:sp>
        <p:nvSpPr>
          <p:cNvPr id="72" name="Text 69"/>
          <p:cNvSpPr/>
          <p:nvPr/>
        </p:nvSpPr>
        <p:spPr>
          <a:xfrm>
            <a:off x="4399178" y="5349240"/>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Independent inspection + comparison tool</a:t>
            </a:r>
            <a:endParaRPr lang="en-US" sz="850" dirty="0"/>
          </a:p>
        </p:txBody>
      </p:sp>
      <p:sp>
        <p:nvSpPr>
          <p:cNvPr id="73" name="Shape 70"/>
          <p:cNvSpPr/>
          <p:nvPr/>
        </p:nvSpPr>
        <p:spPr>
          <a:xfrm>
            <a:off x="6150712" y="5285232"/>
            <a:ext cx="1751533" cy="822960"/>
          </a:xfrm>
          <a:prstGeom prst="roundRect">
            <a:avLst>
              <a:gd name="adj" fmla="val 5556"/>
            </a:avLst>
          </a:prstGeom>
          <a:solidFill>
            <a:srgbClr val="E4F3EF"/>
          </a:solidFill>
          <a:ln/>
        </p:spPr>
        <p:txBody>
          <a:bodyPr/>
          <a:lstStyle/>
          <a:p>
            <a:endParaRPr lang="en-IN"/>
          </a:p>
        </p:txBody>
      </p:sp>
      <p:sp>
        <p:nvSpPr>
          <p:cNvPr id="74" name="Text 71"/>
          <p:cNvSpPr/>
          <p:nvPr/>
        </p:nvSpPr>
        <p:spPr>
          <a:xfrm>
            <a:off x="6260440" y="5349240"/>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Tiered badge + video inspection</a:t>
            </a:r>
            <a:endParaRPr lang="en-US" sz="850" dirty="0"/>
          </a:p>
        </p:txBody>
      </p:sp>
      <p:sp>
        <p:nvSpPr>
          <p:cNvPr id="75" name="Shape 72"/>
          <p:cNvSpPr/>
          <p:nvPr/>
        </p:nvSpPr>
        <p:spPr>
          <a:xfrm>
            <a:off x="8011973" y="5285232"/>
            <a:ext cx="1751533" cy="822960"/>
          </a:xfrm>
          <a:prstGeom prst="roundRect">
            <a:avLst>
              <a:gd name="adj" fmla="val 5556"/>
            </a:avLst>
          </a:prstGeom>
          <a:solidFill>
            <a:srgbClr val="E4F3EF"/>
          </a:solidFill>
          <a:ln/>
        </p:spPr>
        <p:txBody>
          <a:bodyPr/>
          <a:lstStyle/>
          <a:p>
            <a:endParaRPr lang="en-IN"/>
          </a:p>
        </p:txBody>
      </p:sp>
      <p:sp>
        <p:nvSpPr>
          <p:cNvPr id="76" name="Text 73"/>
          <p:cNvSpPr/>
          <p:nvPr/>
        </p:nvSpPr>
        <p:spPr>
          <a:xfrm>
            <a:off x="8121701" y="5349240"/>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Secure escrow + structured Q&amp;A</a:t>
            </a:r>
            <a:endParaRPr lang="en-US" sz="850" dirty="0"/>
          </a:p>
        </p:txBody>
      </p:sp>
      <p:sp>
        <p:nvSpPr>
          <p:cNvPr id="77" name="Shape 74"/>
          <p:cNvSpPr/>
          <p:nvPr/>
        </p:nvSpPr>
        <p:spPr>
          <a:xfrm>
            <a:off x="9873234" y="5285232"/>
            <a:ext cx="1751533" cy="822960"/>
          </a:xfrm>
          <a:prstGeom prst="roundRect">
            <a:avLst>
              <a:gd name="adj" fmla="val 5556"/>
            </a:avLst>
          </a:prstGeom>
          <a:solidFill>
            <a:srgbClr val="E4F3EF"/>
          </a:solidFill>
          <a:ln/>
        </p:spPr>
        <p:txBody>
          <a:bodyPr/>
          <a:lstStyle/>
          <a:p>
            <a:endParaRPr lang="en-IN"/>
          </a:p>
        </p:txBody>
      </p:sp>
      <p:sp>
        <p:nvSpPr>
          <p:cNvPr id="78" name="Text 75"/>
          <p:cNvSpPr/>
          <p:nvPr/>
        </p:nvSpPr>
        <p:spPr>
          <a:xfrm>
            <a:off x="9982962" y="5349240"/>
            <a:ext cx="1532077" cy="713232"/>
          </a:xfrm>
          <a:prstGeom prst="rect">
            <a:avLst/>
          </a:prstGeom>
          <a:noFill/>
          <a:ln/>
        </p:spPr>
        <p:txBody>
          <a:bodyPr wrap="square" lIns="0" tIns="0" rIns="0" bIns="0" rtlCol="0" anchor="t"/>
          <a:lstStyle/>
          <a:p>
            <a:pPr marL="0" indent="0">
              <a:lnSpc>
                <a:spcPct val="100000"/>
              </a:lnSpc>
              <a:buNone/>
            </a:pPr>
            <a:r>
              <a:rPr lang="en-US" sz="850" dirty="0">
                <a:solidFill>
                  <a:srgbClr val="1B2A4A"/>
                </a:solidFill>
                <a:latin typeface="Calibri" pitchFamily="34" charset="0"/>
                <a:ea typeface="Calibri" pitchFamily="34" charset="-122"/>
                <a:cs typeface="Calibri" pitchFamily="34" charset="-120"/>
              </a:rPr>
              <a:t>Contact-free handoff + easy returns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buNone/>
            </a:pPr>
            <a:r>
              <a:rPr lang="en-US" sz="1150" b="1" kern="0" spc="200" dirty="0">
                <a:solidFill>
                  <a:srgbClr val="0E7C7B"/>
                </a:solidFill>
                <a:latin typeface="Trebuchet MS" pitchFamily="34" charset="0"/>
                <a:ea typeface="Trebuchet MS" pitchFamily="34" charset="-122"/>
                <a:cs typeface="Trebuchet MS" pitchFamily="34" charset="-120"/>
              </a:rPr>
              <a:t>PRODUCT IMPLICATIONS</a:t>
            </a:r>
            <a:endParaRPr lang="en-US" sz="1150" dirty="0"/>
          </a:p>
        </p:txBody>
      </p:sp>
      <p:sp>
        <p:nvSpPr>
          <p:cNvPr id="3" name="Text 1"/>
          <p:cNvSpPr/>
          <p:nvPr/>
        </p:nvSpPr>
        <p:spPr>
          <a:xfrm>
            <a:off x="566928" y="658368"/>
            <a:ext cx="11057839" cy="603504"/>
          </a:xfrm>
          <a:prstGeom prst="rect">
            <a:avLst/>
          </a:prstGeom>
          <a:noFill/>
          <a:ln/>
        </p:spPr>
        <p:txBody>
          <a:bodyPr wrap="square" lIns="0" tIns="0" rIns="0" bIns="0" rtlCol="0" anchor="ctr"/>
          <a:lstStyle/>
          <a:p>
            <a:pPr marL="0" indent="0">
              <a:buNone/>
            </a:pPr>
            <a:r>
              <a:rPr lang="en-US" sz="2700" b="1" dirty="0">
                <a:solidFill>
                  <a:srgbClr val="1B2A4A"/>
                </a:solidFill>
                <a:latin typeface="Georgia" pitchFamily="34" charset="0"/>
                <a:ea typeface="Georgia" pitchFamily="34" charset="-122"/>
                <a:cs typeface="Georgia" pitchFamily="34" charset="-120"/>
              </a:rPr>
              <a:t>Five Moves — and What to Build First</a:t>
            </a:r>
            <a:endParaRPr lang="en-US" sz="2700" dirty="0"/>
          </a:p>
        </p:txBody>
      </p:sp>
      <p:sp>
        <p:nvSpPr>
          <p:cNvPr id="4" name="Shape 2"/>
          <p:cNvSpPr/>
          <p:nvPr/>
        </p:nvSpPr>
        <p:spPr>
          <a:xfrm>
            <a:off x="566928" y="6437376"/>
            <a:ext cx="11057839" cy="0"/>
          </a:xfrm>
          <a:prstGeom prst="line">
            <a:avLst/>
          </a:prstGeom>
          <a:noFill/>
          <a:ln w="12700">
            <a:solidFill>
              <a:srgbClr val="E3E8F0"/>
            </a:solidFill>
            <a:prstDash val="solid"/>
          </a:ln>
        </p:spPr>
        <p:txBody>
          <a:bodyPr/>
          <a:lstStyle/>
          <a:p>
            <a:endParaRPr lang="en-IN"/>
          </a:p>
        </p:txBody>
      </p:sp>
      <p:sp>
        <p:nvSpPr>
          <p:cNvPr id="5" name="Text 3"/>
          <p:cNvSpPr/>
          <p:nvPr/>
        </p:nvSpPr>
        <p:spPr>
          <a:xfrm>
            <a:off x="566928" y="6473952"/>
            <a:ext cx="6400800" cy="274320"/>
          </a:xfrm>
          <a:prstGeom prst="rect">
            <a:avLst/>
          </a:prstGeom>
          <a:noFill/>
          <a:ln/>
        </p:spPr>
        <p:txBody>
          <a:bodyPr wrap="square" lIns="0" tIns="0" rIns="0" bIns="0" rtlCol="0" anchor="ctr"/>
          <a:lstStyle/>
          <a:p>
            <a:pPr marL="0" indent="0">
              <a:buNone/>
            </a:pPr>
            <a:r>
              <a:rPr lang="en-US" sz="850" kern="0" spc="100" dirty="0">
                <a:solidFill>
                  <a:srgbClr val="8A97AD"/>
                </a:solidFill>
                <a:latin typeface="Trebuchet MS" pitchFamily="34" charset="0"/>
                <a:ea typeface="Trebuchet MS" pitchFamily="34" charset="-122"/>
                <a:cs typeface="Trebuchet MS" pitchFamily="34" charset="-120"/>
              </a:rPr>
              <a:t>CertiBuy  ·  Assignment 1</a:t>
            </a:r>
            <a:endParaRPr lang="en-US" sz="850" dirty="0"/>
          </a:p>
        </p:txBody>
      </p:sp>
      <p:sp>
        <p:nvSpPr>
          <p:cNvPr id="6" name="Text 4"/>
          <p:cNvSpPr/>
          <p:nvPr/>
        </p:nvSpPr>
        <p:spPr>
          <a:xfrm>
            <a:off x="4675327" y="6473952"/>
            <a:ext cx="6583680" cy="274320"/>
          </a:xfrm>
          <a:prstGeom prst="rect">
            <a:avLst/>
          </a:prstGeom>
          <a:noFill/>
          <a:ln/>
        </p:spPr>
        <p:txBody>
          <a:bodyPr wrap="square" lIns="0" tIns="0" rIns="0" bIns="0" rtlCol="0" anchor="ctr"/>
          <a:lstStyle/>
          <a:p>
            <a:pPr marL="0" indent="0" algn="r">
              <a:buNone/>
            </a:pPr>
            <a:r>
              <a:rPr lang="en-US" sz="850" dirty="0">
                <a:solidFill>
                  <a:srgbClr val="8A97AD"/>
                </a:solidFill>
                <a:latin typeface="Trebuchet MS" pitchFamily="34" charset="0"/>
                <a:ea typeface="Trebuchet MS" pitchFamily="34" charset="-122"/>
                <a:cs typeface="Trebuchet MS" pitchFamily="34" charset="-120"/>
              </a:rPr>
              <a:t>IITM Pravartak  ·  AI-Powered Product Design &amp; Management  ·  Batch 2 · Group 16</a:t>
            </a:r>
            <a:endParaRPr lang="en-US" sz="850" dirty="0"/>
          </a:p>
        </p:txBody>
      </p:sp>
      <p:sp>
        <p:nvSpPr>
          <p:cNvPr id="7" name="Text 5"/>
          <p:cNvSpPr/>
          <p:nvPr/>
        </p:nvSpPr>
        <p:spPr>
          <a:xfrm>
            <a:off x="11259007" y="6473952"/>
            <a:ext cx="365760" cy="274320"/>
          </a:xfrm>
          <a:prstGeom prst="rect">
            <a:avLst/>
          </a:prstGeom>
          <a:noFill/>
          <a:ln/>
        </p:spPr>
        <p:txBody>
          <a:bodyPr wrap="square" lIns="0" tIns="0" rIns="0" bIns="0" rtlCol="0" anchor="ctr"/>
          <a:lstStyle/>
          <a:p>
            <a:pPr marL="0" indent="0" algn="r">
              <a:buNone/>
            </a:pPr>
            <a:r>
              <a:rPr lang="en-US" sz="850" b="1" dirty="0">
                <a:solidFill>
                  <a:srgbClr val="8A97AD"/>
                </a:solidFill>
                <a:latin typeface="Trebuchet MS" pitchFamily="34" charset="0"/>
                <a:ea typeface="Trebuchet MS" pitchFamily="34" charset="-122"/>
                <a:cs typeface="Trebuchet MS" pitchFamily="34" charset="-120"/>
              </a:rPr>
              <a:t>11</a:t>
            </a:r>
            <a:endParaRPr lang="en-US" sz="850" dirty="0"/>
          </a:p>
        </p:txBody>
      </p:sp>
      <p:sp>
        <p:nvSpPr>
          <p:cNvPr id="8" name="Shape 6"/>
          <p:cNvSpPr/>
          <p:nvPr/>
        </p:nvSpPr>
        <p:spPr>
          <a:xfrm>
            <a:off x="566928" y="1417320"/>
            <a:ext cx="6720840" cy="822960"/>
          </a:xfrm>
          <a:prstGeom prst="roundRect">
            <a:avLst>
              <a:gd name="adj" fmla="val 5556"/>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9" name="Shape 7"/>
          <p:cNvSpPr/>
          <p:nvPr/>
        </p:nvSpPr>
        <p:spPr>
          <a:xfrm>
            <a:off x="731520" y="1581912"/>
            <a:ext cx="493776" cy="493776"/>
          </a:xfrm>
          <a:prstGeom prst="ellipse">
            <a:avLst/>
          </a:prstGeom>
          <a:solidFill>
            <a:srgbClr val="E9EEF6"/>
          </a:solidFill>
          <a:ln/>
        </p:spPr>
        <p:txBody>
          <a:bodyPr/>
          <a:lstStyle/>
          <a:p>
            <a:endParaRPr lang="en-IN"/>
          </a:p>
        </p:txBody>
      </p:sp>
      <p:pic>
        <p:nvPicPr>
          <p:cNvPr id="10" name="Image 0" descr="preencoded.png"/>
          <p:cNvPicPr>
            <a:picLocks noChangeAspect="1"/>
          </p:cNvPicPr>
          <p:nvPr/>
        </p:nvPicPr>
        <p:blipFill>
          <a:blip r:embed="rId3"/>
          <a:stretch>
            <a:fillRect/>
          </a:stretch>
        </p:blipFill>
        <p:spPr>
          <a:xfrm>
            <a:off x="850392" y="1700784"/>
            <a:ext cx="256032" cy="256032"/>
          </a:xfrm>
          <a:prstGeom prst="rect">
            <a:avLst/>
          </a:prstGeom>
        </p:spPr>
      </p:pic>
      <p:sp>
        <p:nvSpPr>
          <p:cNvPr id="11" name="Text 8"/>
          <p:cNvSpPr/>
          <p:nvPr/>
        </p:nvSpPr>
        <p:spPr>
          <a:xfrm>
            <a:off x="1335024" y="1563624"/>
            <a:ext cx="329184" cy="530352"/>
          </a:xfrm>
          <a:prstGeom prst="rect">
            <a:avLst/>
          </a:prstGeom>
          <a:noFill/>
          <a:ln/>
        </p:spPr>
        <p:txBody>
          <a:bodyPr wrap="square" lIns="0" tIns="0" rIns="0" bIns="0" rtlCol="0" anchor="ctr"/>
          <a:lstStyle/>
          <a:p>
            <a:pPr marL="0" indent="0">
              <a:buNone/>
            </a:pPr>
            <a:r>
              <a:rPr lang="en-US" sz="2000" b="1" dirty="0">
                <a:solidFill>
                  <a:srgbClr val="B07D0A"/>
                </a:solidFill>
                <a:latin typeface="Georgia" pitchFamily="34" charset="0"/>
                <a:ea typeface="Georgia" pitchFamily="34" charset="-122"/>
                <a:cs typeface="Georgia" pitchFamily="34" charset="-120"/>
              </a:rPr>
              <a:t>1</a:t>
            </a:r>
            <a:endParaRPr lang="en-US" sz="2000" dirty="0"/>
          </a:p>
        </p:txBody>
      </p:sp>
      <p:sp>
        <p:nvSpPr>
          <p:cNvPr id="12" name="Text 9"/>
          <p:cNvSpPr/>
          <p:nvPr/>
        </p:nvSpPr>
        <p:spPr>
          <a:xfrm>
            <a:off x="1700784" y="1527048"/>
            <a:ext cx="3200400" cy="603504"/>
          </a:xfrm>
          <a:prstGeom prst="rect">
            <a:avLst/>
          </a:prstGeom>
          <a:noFill/>
          <a:ln/>
        </p:spPr>
        <p:txBody>
          <a:bodyPr wrap="square" lIns="0" tIns="0" rIns="0" bIns="0" rtlCol="0" anchor="ctr"/>
          <a:lstStyle/>
          <a:p>
            <a:pPr marL="0" indent="0">
              <a:lnSpc>
                <a:spcPct val="95000"/>
              </a:lnSpc>
              <a:buNone/>
            </a:pPr>
            <a:r>
              <a:rPr lang="en-US" sz="1250" b="1" dirty="0">
                <a:solidFill>
                  <a:srgbClr val="1B2A4A"/>
                </a:solidFill>
                <a:latin typeface="Trebuchet MS" pitchFamily="34" charset="0"/>
                <a:ea typeface="Trebuchet MS" pitchFamily="34" charset="-122"/>
                <a:cs typeface="Trebuchet MS" pitchFamily="34" charset="-120"/>
              </a:rPr>
              <a:t>Certification as a premium-pricing layer</a:t>
            </a:r>
            <a:endParaRPr lang="en-US" sz="1250" dirty="0"/>
          </a:p>
        </p:txBody>
      </p:sp>
      <p:sp>
        <p:nvSpPr>
          <p:cNvPr id="13" name="Text 10"/>
          <p:cNvSpPr/>
          <p:nvPr/>
        </p:nvSpPr>
        <p:spPr>
          <a:xfrm>
            <a:off x="4937760" y="1527048"/>
            <a:ext cx="2240280" cy="603504"/>
          </a:xfrm>
          <a:prstGeom prst="rect">
            <a:avLst/>
          </a:prstGeom>
          <a:noFill/>
          <a:ln/>
        </p:spPr>
        <p:txBody>
          <a:bodyPr wrap="square" lIns="0" tIns="0" rIns="0" bIns="0" rtlCol="0" anchor="ctr"/>
          <a:lstStyle/>
          <a:p>
            <a:pPr marL="0" indent="0">
              <a:lnSpc>
                <a:spcPct val="102000"/>
              </a:lnSpc>
              <a:buNone/>
            </a:pPr>
            <a:r>
              <a:rPr lang="en-US" sz="950" dirty="0">
                <a:solidFill>
                  <a:srgbClr val="55617A"/>
                </a:solidFill>
                <a:latin typeface="Calibri" pitchFamily="34" charset="0"/>
                <a:ea typeface="Calibri" pitchFamily="34" charset="-122"/>
                <a:cs typeface="Calibri" pitchFamily="34" charset="-120"/>
              </a:rPr>
              <a:t>Tiered Verified / Premium Verified with graded, independent reports</a:t>
            </a:r>
            <a:endParaRPr lang="en-US" sz="950" dirty="0"/>
          </a:p>
        </p:txBody>
      </p:sp>
      <p:sp>
        <p:nvSpPr>
          <p:cNvPr id="14" name="Text 11"/>
          <p:cNvSpPr/>
          <p:nvPr/>
        </p:nvSpPr>
        <p:spPr>
          <a:xfrm>
            <a:off x="731520" y="2020824"/>
            <a:ext cx="1737360" cy="201168"/>
          </a:xfrm>
          <a:prstGeom prst="rect">
            <a:avLst/>
          </a:prstGeom>
          <a:noFill/>
          <a:ln/>
        </p:spPr>
        <p:txBody>
          <a:bodyPr wrap="square" lIns="0" tIns="0" rIns="0" bIns="0" rtlCol="0" anchor="ctr"/>
          <a:lstStyle/>
          <a:p>
            <a:pPr marL="0" indent="0" algn="ctr">
              <a:buNone/>
            </a:pPr>
            <a:r>
              <a:rPr lang="en-US" sz="750" b="1" dirty="0">
                <a:solidFill>
                  <a:srgbClr val="B07D0A"/>
                </a:solidFill>
                <a:latin typeface="Trebuchet MS" pitchFamily="34" charset="0"/>
                <a:ea typeface="Trebuchet MS" pitchFamily="34" charset="-122"/>
                <a:cs typeface="Trebuchet MS" pitchFamily="34" charset="-120"/>
              </a:rPr>
              <a:t>Feature · Pricing</a:t>
            </a:r>
            <a:endParaRPr lang="en-US" sz="750" dirty="0"/>
          </a:p>
        </p:txBody>
      </p:sp>
      <p:sp>
        <p:nvSpPr>
          <p:cNvPr id="15" name="Shape 12"/>
          <p:cNvSpPr/>
          <p:nvPr/>
        </p:nvSpPr>
        <p:spPr>
          <a:xfrm>
            <a:off x="566928" y="2350008"/>
            <a:ext cx="6720840" cy="822960"/>
          </a:xfrm>
          <a:prstGeom prst="roundRect">
            <a:avLst>
              <a:gd name="adj" fmla="val 5556"/>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16" name="Shape 13"/>
          <p:cNvSpPr/>
          <p:nvPr/>
        </p:nvSpPr>
        <p:spPr>
          <a:xfrm>
            <a:off x="731520" y="2514600"/>
            <a:ext cx="493776" cy="493776"/>
          </a:xfrm>
          <a:prstGeom prst="ellipse">
            <a:avLst/>
          </a:prstGeom>
          <a:solidFill>
            <a:srgbClr val="E9EEF6"/>
          </a:solidFill>
          <a:ln/>
        </p:spPr>
        <p:txBody>
          <a:bodyPr/>
          <a:lstStyle/>
          <a:p>
            <a:endParaRPr lang="en-IN"/>
          </a:p>
        </p:txBody>
      </p:sp>
      <p:pic>
        <p:nvPicPr>
          <p:cNvPr id="17" name="Image 1" descr="preencoded.png"/>
          <p:cNvPicPr>
            <a:picLocks noChangeAspect="1"/>
          </p:cNvPicPr>
          <p:nvPr/>
        </p:nvPicPr>
        <p:blipFill>
          <a:blip r:embed="rId4"/>
          <a:stretch>
            <a:fillRect/>
          </a:stretch>
        </p:blipFill>
        <p:spPr>
          <a:xfrm>
            <a:off x="850392" y="2633472"/>
            <a:ext cx="256032" cy="256032"/>
          </a:xfrm>
          <a:prstGeom prst="rect">
            <a:avLst/>
          </a:prstGeom>
        </p:spPr>
      </p:pic>
      <p:sp>
        <p:nvSpPr>
          <p:cNvPr id="18" name="Text 14"/>
          <p:cNvSpPr/>
          <p:nvPr/>
        </p:nvSpPr>
        <p:spPr>
          <a:xfrm>
            <a:off x="1335024" y="2496312"/>
            <a:ext cx="329184" cy="530352"/>
          </a:xfrm>
          <a:prstGeom prst="rect">
            <a:avLst/>
          </a:prstGeom>
          <a:noFill/>
          <a:ln/>
        </p:spPr>
        <p:txBody>
          <a:bodyPr wrap="square" lIns="0" tIns="0" rIns="0" bIns="0" rtlCol="0" anchor="ctr"/>
          <a:lstStyle/>
          <a:p>
            <a:pPr marL="0" indent="0">
              <a:buNone/>
            </a:pPr>
            <a:r>
              <a:rPr lang="en-US" sz="2000" b="1" dirty="0">
                <a:solidFill>
                  <a:srgbClr val="C0392B"/>
                </a:solidFill>
                <a:latin typeface="Georgia" pitchFamily="34" charset="0"/>
                <a:ea typeface="Georgia" pitchFamily="34" charset="-122"/>
                <a:cs typeface="Georgia" pitchFamily="34" charset="-120"/>
              </a:rPr>
              <a:t>2</a:t>
            </a:r>
            <a:endParaRPr lang="en-US" sz="2000" dirty="0"/>
          </a:p>
        </p:txBody>
      </p:sp>
      <p:sp>
        <p:nvSpPr>
          <p:cNvPr id="19" name="Text 15"/>
          <p:cNvSpPr/>
          <p:nvPr/>
        </p:nvSpPr>
        <p:spPr>
          <a:xfrm>
            <a:off x="1700784" y="2459736"/>
            <a:ext cx="3200400" cy="603504"/>
          </a:xfrm>
          <a:prstGeom prst="rect">
            <a:avLst/>
          </a:prstGeom>
          <a:noFill/>
          <a:ln/>
        </p:spPr>
        <p:txBody>
          <a:bodyPr wrap="square" lIns="0" tIns="0" rIns="0" bIns="0" rtlCol="0" anchor="ctr"/>
          <a:lstStyle/>
          <a:p>
            <a:pPr marL="0" indent="0">
              <a:lnSpc>
                <a:spcPct val="95000"/>
              </a:lnSpc>
              <a:buNone/>
            </a:pPr>
            <a:r>
              <a:rPr lang="en-US" sz="1250" b="1" dirty="0">
                <a:solidFill>
                  <a:srgbClr val="1B2A4A"/>
                </a:solidFill>
                <a:latin typeface="Trebuchet MS" pitchFamily="34" charset="0"/>
                <a:ea typeface="Trebuchet MS" pitchFamily="34" charset="-122"/>
                <a:cs typeface="Trebuchet MS" pitchFamily="34" charset="-120"/>
              </a:rPr>
              <a:t>Seller safety &amp; dignity architecture</a:t>
            </a:r>
            <a:endParaRPr lang="en-US" sz="1250" dirty="0"/>
          </a:p>
        </p:txBody>
      </p:sp>
      <p:sp>
        <p:nvSpPr>
          <p:cNvPr id="20" name="Text 16"/>
          <p:cNvSpPr/>
          <p:nvPr/>
        </p:nvSpPr>
        <p:spPr>
          <a:xfrm>
            <a:off x="4937760" y="2459736"/>
            <a:ext cx="2240280" cy="603504"/>
          </a:xfrm>
          <a:prstGeom prst="rect">
            <a:avLst/>
          </a:prstGeom>
          <a:noFill/>
          <a:ln/>
        </p:spPr>
        <p:txBody>
          <a:bodyPr wrap="square" lIns="0" tIns="0" rIns="0" bIns="0" rtlCol="0" anchor="ctr"/>
          <a:lstStyle/>
          <a:p>
            <a:pPr marL="0" indent="0">
              <a:lnSpc>
                <a:spcPct val="102000"/>
              </a:lnSpc>
              <a:buNone/>
            </a:pPr>
            <a:r>
              <a:rPr lang="en-US" sz="950" dirty="0">
                <a:solidFill>
                  <a:srgbClr val="55617A"/>
                </a:solidFill>
                <a:latin typeface="Calibri" pitchFamily="34" charset="0"/>
                <a:ea typeface="Calibri" pitchFamily="34" charset="-122"/>
                <a:cs typeface="Calibri" pitchFamily="34" charset="-120"/>
              </a:rPr>
              <a:t>Neutral handoff centre, anonymised identity, “care index”</a:t>
            </a:r>
            <a:endParaRPr lang="en-US" sz="950" dirty="0"/>
          </a:p>
        </p:txBody>
      </p:sp>
      <p:sp>
        <p:nvSpPr>
          <p:cNvPr id="21" name="Text 17"/>
          <p:cNvSpPr/>
          <p:nvPr/>
        </p:nvSpPr>
        <p:spPr>
          <a:xfrm>
            <a:off x="731520" y="2953512"/>
            <a:ext cx="1737360" cy="201168"/>
          </a:xfrm>
          <a:prstGeom prst="rect">
            <a:avLst/>
          </a:prstGeom>
          <a:noFill/>
          <a:ln/>
        </p:spPr>
        <p:txBody>
          <a:bodyPr wrap="square" lIns="0" tIns="0" rIns="0" bIns="0" rtlCol="0" anchor="ctr"/>
          <a:lstStyle/>
          <a:p>
            <a:pPr marL="0" indent="0" algn="ctr">
              <a:buNone/>
            </a:pPr>
            <a:r>
              <a:rPr lang="en-US" sz="750" b="1" dirty="0">
                <a:solidFill>
                  <a:srgbClr val="C0392B"/>
                </a:solidFill>
                <a:latin typeface="Trebuchet MS" pitchFamily="34" charset="0"/>
                <a:ea typeface="Trebuchet MS" pitchFamily="34" charset="-122"/>
                <a:cs typeface="Trebuchet MS" pitchFamily="34" charset="-120"/>
              </a:rPr>
              <a:t>Feature · Supply</a:t>
            </a:r>
            <a:endParaRPr lang="en-US" sz="750" dirty="0"/>
          </a:p>
        </p:txBody>
      </p:sp>
      <p:sp>
        <p:nvSpPr>
          <p:cNvPr id="22" name="Shape 18"/>
          <p:cNvSpPr/>
          <p:nvPr/>
        </p:nvSpPr>
        <p:spPr>
          <a:xfrm>
            <a:off x="566928" y="3282696"/>
            <a:ext cx="6720840" cy="822960"/>
          </a:xfrm>
          <a:prstGeom prst="roundRect">
            <a:avLst>
              <a:gd name="adj" fmla="val 5556"/>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23" name="Shape 19"/>
          <p:cNvSpPr/>
          <p:nvPr/>
        </p:nvSpPr>
        <p:spPr>
          <a:xfrm>
            <a:off x="731520" y="3447288"/>
            <a:ext cx="493776" cy="493776"/>
          </a:xfrm>
          <a:prstGeom prst="ellipse">
            <a:avLst/>
          </a:prstGeom>
          <a:solidFill>
            <a:srgbClr val="E9EEF6"/>
          </a:solidFill>
          <a:ln/>
        </p:spPr>
        <p:txBody>
          <a:bodyPr/>
          <a:lstStyle/>
          <a:p>
            <a:endParaRPr lang="en-IN"/>
          </a:p>
        </p:txBody>
      </p:sp>
      <p:pic>
        <p:nvPicPr>
          <p:cNvPr id="24" name="Image 2" descr="preencoded.png"/>
          <p:cNvPicPr>
            <a:picLocks noChangeAspect="1"/>
          </p:cNvPicPr>
          <p:nvPr/>
        </p:nvPicPr>
        <p:blipFill>
          <a:blip r:embed="rId5"/>
          <a:stretch>
            <a:fillRect/>
          </a:stretch>
        </p:blipFill>
        <p:spPr>
          <a:xfrm>
            <a:off x="850392" y="3566160"/>
            <a:ext cx="256032" cy="256032"/>
          </a:xfrm>
          <a:prstGeom prst="rect">
            <a:avLst/>
          </a:prstGeom>
        </p:spPr>
      </p:pic>
      <p:sp>
        <p:nvSpPr>
          <p:cNvPr id="25" name="Text 20"/>
          <p:cNvSpPr/>
          <p:nvPr/>
        </p:nvSpPr>
        <p:spPr>
          <a:xfrm>
            <a:off x="1335024" y="3429000"/>
            <a:ext cx="329184" cy="530352"/>
          </a:xfrm>
          <a:prstGeom prst="rect">
            <a:avLst/>
          </a:prstGeom>
          <a:noFill/>
          <a:ln/>
        </p:spPr>
        <p:txBody>
          <a:bodyPr wrap="square" lIns="0" tIns="0" rIns="0" bIns="0" rtlCol="0" anchor="ctr"/>
          <a:lstStyle/>
          <a:p>
            <a:pPr marL="0" indent="0">
              <a:buNone/>
            </a:pPr>
            <a:r>
              <a:rPr lang="en-US" sz="2000" b="1" dirty="0">
                <a:solidFill>
                  <a:srgbClr val="0E7C7B"/>
                </a:solidFill>
                <a:latin typeface="Georgia" pitchFamily="34" charset="0"/>
                <a:ea typeface="Georgia" pitchFamily="34" charset="-122"/>
                <a:cs typeface="Georgia" pitchFamily="34" charset="-120"/>
              </a:rPr>
              <a:t>3</a:t>
            </a:r>
            <a:endParaRPr lang="en-US" sz="2000" dirty="0"/>
          </a:p>
        </p:txBody>
      </p:sp>
      <p:sp>
        <p:nvSpPr>
          <p:cNvPr id="26" name="Text 21"/>
          <p:cNvSpPr/>
          <p:nvPr/>
        </p:nvSpPr>
        <p:spPr>
          <a:xfrm>
            <a:off x="1700784" y="3392424"/>
            <a:ext cx="3200400" cy="603504"/>
          </a:xfrm>
          <a:prstGeom prst="rect">
            <a:avLst/>
          </a:prstGeom>
          <a:noFill/>
          <a:ln/>
        </p:spPr>
        <p:txBody>
          <a:bodyPr wrap="square" lIns="0" tIns="0" rIns="0" bIns="0" rtlCol="0" anchor="ctr"/>
          <a:lstStyle/>
          <a:p>
            <a:pPr marL="0" indent="0">
              <a:lnSpc>
                <a:spcPct val="95000"/>
              </a:lnSpc>
              <a:buNone/>
            </a:pPr>
            <a:r>
              <a:rPr lang="en-US" sz="1250" b="1" dirty="0">
                <a:solidFill>
                  <a:srgbClr val="1B2A4A"/>
                </a:solidFill>
                <a:latin typeface="Trebuchet MS" pitchFamily="34" charset="0"/>
                <a:ea typeface="Trebuchet MS" pitchFamily="34" charset="-122"/>
                <a:cs typeface="Trebuchet MS" pitchFamily="34" charset="-120"/>
              </a:rPr>
              <a:t>Reframe as upgrade infrastructure</a:t>
            </a:r>
            <a:endParaRPr lang="en-US" sz="1250" dirty="0"/>
          </a:p>
        </p:txBody>
      </p:sp>
      <p:sp>
        <p:nvSpPr>
          <p:cNvPr id="27" name="Text 22"/>
          <p:cNvSpPr/>
          <p:nvPr/>
        </p:nvSpPr>
        <p:spPr>
          <a:xfrm>
            <a:off x="4937760" y="3392424"/>
            <a:ext cx="2240280" cy="603504"/>
          </a:xfrm>
          <a:prstGeom prst="rect">
            <a:avLst/>
          </a:prstGeom>
          <a:noFill/>
          <a:ln/>
        </p:spPr>
        <p:txBody>
          <a:bodyPr wrap="square" lIns="0" tIns="0" rIns="0" bIns="0" rtlCol="0" anchor="ctr"/>
          <a:lstStyle/>
          <a:p>
            <a:pPr marL="0" indent="0">
              <a:lnSpc>
                <a:spcPct val="102000"/>
              </a:lnSpc>
              <a:buNone/>
            </a:pPr>
            <a:r>
              <a:rPr lang="en-US" sz="950" dirty="0">
                <a:solidFill>
                  <a:srgbClr val="55617A"/>
                </a:solidFill>
                <a:latin typeface="Calibri" pitchFamily="34" charset="0"/>
                <a:ea typeface="Calibri" pitchFamily="34" charset="-122"/>
                <a:cs typeface="Calibri" pitchFamily="34" charset="-120"/>
              </a:rPr>
              <a:t>Own the sell-then-buy loop and a guilt-free, circular narrative</a:t>
            </a:r>
            <a:endParaRPr lang="en-US" sz="950" dirty="0"/>
          </a:p>
        </p:txBody>
      </p:sp>
      <p:sp>
        <p:nvSpPr>
          <p:cNvPr id="28" name="Text 23"/>
          <p:cNvSpPr/>
          <p:nvPr/>
        </p:nvSpPr>
        <p:spPr>
          <a:xfrm>
            <a:off x="731520" y="3886200"/>
            <a:ext cx="1737360" cy="201168"/>
          </a:xfrm>
          <a:prstGeom prst="rect">
            <a:avLst/>
          </a:prstGeom>
          <a:noFill/>
          <a:ln/>
        </p:spPr>
        <p:txBody>
          <a:bodyPr wrap="square" lIns="0" tIns="0" rIns="0" bIns="0" rtlCol="0" anchor="ctr"/>
          <a:lstStyle/>
          <a:p>
            <a:pPr marL="0" indent="0" algn="ctr">
              <a:buNone/>
            </a:pPr>
            <a:r>
              <a:rPr lang="en-US" sz="750" b="1" dirty="0">
                <a:solidFill>
                  <a:srgbClr val="0E7C7B"/>
                </a:solidFill>
                <a:latin typeface="Trebuchet MS" pitchFamily="34" charset="0"/>
                <a:ea typeface="Trebuchet MS" pitchFamily="34" charset="-122"/>
                <a:cs typeface="Trebuchet MS" pitchFamily="34" charset="-120"/>
              </a:rPr>
              <a:t>Positioning · Acq.</a:t>
            </a:r>
            <a:endParaRPr lang="en-US" sz="750" dirty="0"/>
          </a:p>
        </p:txBody>
      </p:sp>
      <p:sp>
        <p:nvSpPr>
          <p:cNvPr id="29" name="Shape 24"/>
          <p:cNvSpPr/>
          <p:nvPr/>
        </p:nvSpPr>
        <p:spPr>
          <a:xfrm>
            <a:off x="566928" y="4215384"/>
            <a:ext cx="6720840" cy="822960"/>
          </a:xfrm>
          <a:prstGeom prst="roundRect">
            <a:avLst>
              <a:gd name="adj" fmla="val 5556"/>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30" name="Shape 25"/>
          <p:cNvSpPr/>
          <p:nvPr/>
        </p:nvSpPr>
        <p:spPr>
          <a:xfrm>
            <a:off x="731520" y="4379976"/>
            <a:ext cx="493776" cy="493776"/>
          </a:xfrm>
          <a:prstGeom prst="ellipse">
            <a:avLst/>
          </a:prstGeom>
          <a:solidFill>
            <a:srgbClr val="E9EEF6"/>
          </a:solidFill>
          <a:ln/>
        </p:spPr>
        <p:txBody>
          <a:bodyPr/>
          <a:lstStyle/>
          <a:p>
            <a:endParaRPr lang="en-IN"/>
          </a:p>
        </p:txBody>
      </p:sp>
      <p:pic>
        <p:nvPicPr>
          <p:cNvPr id="31" name="Image 3" descr="preencoded.png"/>
          <p:cNvPicPr>
            <a:picLocks noChangeAspect="1"/>
          </p:cNvPicPr>
          <p:nvPr/>
        </p:nvPicPr>
        <p:blipFill>
          <a:blip r:embed="rId6"/>
          <a:stretch>
            <a:fillRect/>
          </a:stretch>
        </p:blipFill>
        <p:spPr>
          <a:xfrm>
            <a:off x="850392" y="4498848"/>
            <a:ext cx="256032" cy="256032"/>
          </a:xfrm>
          <a:prstGeom prst="rect">
            <a:avLst/>
          </a:prstGeom>
        </p:spPr>
      </p:pic>
      <p:sp>
        <p:nvSpPr>
          <p:cNvPr id="32" name="Text 26"/>
          <p:cNvSpPr/>
          <p:nvPr/>
        </p:nvSpPr>
        <p:spPr>
          <a:xfrm>
            <a:off x="1335024" y="4361688"/>
            <a:ext cx="329184" cy="530352"/>
          </a:xfrm>
          <a:prstGeom prst="rect">
            <a:avLst/>
          </a:prstGeom>
          <a:noFill/>
          <a:ln/>
        </p:spPr>
        <p:txBody>
          <a:bodyPr wrap="square" lIns="0" tIns="0" rIns="0" bIns="0" rtlCol="0" anchor="ctr"/>
          <a:lstStyle/>
          <a:p>
            <a:pPr marL="0" indent="0">
              <a:buNone/>
            </a:pPr>
            <a:r>
              <a:rPr lang="en-US" sz="2000" b="1" dirty="0">
                <a:solidFill>
                  <a:srgbClr val="0E7C7B"/>
                </a:solidFill>
                <a:latin typeface="Georgia" pitchFamily="34" charset="0"/>
                <a:ea typeface="Georgia" pitchFamily="34" charset="-122"/>
                <a:cs typeface="Georgia" pitchFamily="34" charset="-120"/>
              </a:rPr>
              <a:t>4</a:t>
            </a:r>
            <a:endParaRPr lang="en-US" sz="2000" dirty="0"/>
          </a:p>
        </p:txBody>
      </p:sp>
      <p:sp>
        <p:nvSpPr>
          <p:cNvPr id="33" name="Text 27"/>
          <p:cNvSpPr/>
          <p:nvPr/>
        </p:nvSpPr>
        <p:spPr>
          <a:xfrm>
            <a:off x="1700784" y="4325112"/>
            <a:ext cx="3200400" cy="603504"/>
          </a:xfrm>
          <a:prstGeom prst="rect">
            <a:avLst/>
          </a:prstGeom>
          <a:noFill/>
          <a:ln/>
        </p:spPr>
        <p:txBody>
          <a:bodyPr wrap="square" lIns="0" tIns="0" rIns="0" bIns="0" rtlCol="0" anchor="ctr"/>
          <a:lstStyle/>
          <a:p>
            <a:pPr marL="0" indent="0">
              <a:lnSpc>
                <a:spcPct val="95000"/>
              </a:lnSpc>
              <a:buNone/>
            </a:pPr>
            <a:r>
              <a:rPr lang="en-US" sz="1250" b="1" dirty="0">
                <a:solidFill>
                  <a:srgbClr val="1B2A4A"/>
                </a:solidFill>
                <a:latin typeface="Trebuchet MS" pitchFamily="34" charset="0"/>
                <a:ea typeface="Trebuchet MS" pitchFamily="34" charset="-122"/>
                <a:cs typeface="Trebuchet MS" pitchFamily="34" charset="-120"/>
              </a:rPr>
              <a:t>Maturity-segmented UX</a:t>
            </a:r>
            <a:endParaRPr lang="en-US" sz="1250" dirty="0"/>
          </a:p>
        </p:txBody>
      </p:sp>
      <p:sp>
        <p:nvSpPr>
          <p:cNvPr id="34" name="Text 28"/>
          <p:cNvSpPr/>
          <p:nvPr/>
        </p:nvSpPr>
        <p:spPr>
          <a:xfrm>
            <a:off x="4937760" y="4325112"/>
            <a:ext cx="2240280" cy="603504"/>
          </a:xfrm>
          <a:prstGeom prst="rect">
            <a:avLst/>
          </a:prstGeom>
          <a:noFill/>
          <a:ln/>
        </p:spPr>
        <p:txBody>
          <a:bodyPr wrap="square" lIns="0" tIns="0" rIns="0" bIns="0" rtlCol="0" anchor="ctr"/>
          <a:lstStyle/>
          <a:p>
            <a:pPr marL="0" indent="0">
              <a:lnSpc>
                <a:spcPct val="102000"/>
              </a:lnSpc>
              <a:buNone/>
            </a:pPr>
            <a:r>
              <a:rPr lang="en-US" sz="950" dirty="0">
                <a:solidFill>
                  <a:srgbClr val="55617A"/>
                </a:solidFill>
                <a:latin typeface="Calibri" pitchFamily="34" charset="0"/>
                <a:ea typeface="Calibri" pitchFamily="34" charset="-122"/>
                <a:cs typeface="Calibri" pitchFamily="34" charset="-120"/>
              </a:rPr>
              <a:t>Guided path for proxy buyers; raw-data fast lane for power users</a:t>
            </a:r>
            <a:endParaRPr lang="en-US" sz="950" dirty="0"/>
          </a:p>
        </p:txBody>
      </p:sp>
      <p:sp>
        <p:nvSpPr>
          <p:cNvPr id="35" name="Text 29"/>
          <p:cNvSpPr/>
          <p:nvPr/>
        </p:nvSpPr>
        <p:spPr>
          <a:xfrm>
            <a:off x="731520" y="4818888"/>
            <a:ext cx="1737360" cy="201168"/>
          </a:xfrm>
          <a:prstGeom prst="rect">
            <a:avLst/>
          </a:prstGeom>
          <a:noFill/>
          <a:ln/>
        </p:spPr>
        <p:txBody>
          <a:bodyPr wrap="square" lIns="0" tIns="0" rIns="0" bIns="0" rtlCol="0" anchor="ctr"/>
          <a:lstStyle/>
          <a:p>
            <a:pPr marL="0" indent="0" algn="ctr">
              <a:buNone/>
            </a:pPr>
            <a:r>
              <a:rPr lang="en-US" sz="750" b="1" dirty="0">
                <a:solidFill>
                  <a:srgbClr val="0E7C7B"/>
                </a:solidFill>
                <a:latin typeface="Trebuchet MS" pitchFamily="34" charset="0"/>
                <a:ea typeface="Trebuchet MS" pitchFamily="34" charset="-122"/>
                <a:cs typeface="Trebuchet MS" pitchFamily="34" charset="-120"/>
              </a:rPr>
              <a:t>UX · Prioritization</a:t>
            </a:r>
            <a:endParaRPr lang="en-US" sz="750" dirty="0"/>
          </a:p>
        </p:txBody>
      </p:sp>
      <p:sp>
        <p:nvSpPr>
          <p:cNvPr id="36" name="Shape 30"/>
          <p:cNvSpPr/>
          <p:nvPr/>
        </p:nvSpPr>
        <p:spPr>
          <a:xfrm>
            <a:off x="566928" y="5148072"/>
            <a:ext cx="6720840" cy="822960"/>
          </a:xfrm>
          <a:prstGeom prst="roundRect">
            <a:avLst>
              <a:gd name="adj" fmla="val 5556"/>
            </a:avLst>
          </a:prstGeom>
          <a:solidFill>
            <a:srgbClr val="F4F6FA"/>
          </a:solidFill>
          <a:ln/>
          <a:effectLst>
            <a:outerShdw blurRad="88900" dist="25400" dir="5400000" algn="bl" rotWithShape="0">
              <a:srgbClr val="8A86A8">
                <a:alpha val="20000"/>
              </a:srgbClr>
            </a:outerShdw>
          </a:effectLst>
        </p:spPr>
        <p:txBody>
          <a:bodyPr/>
          <a:lstStyle/>
          <a:p>
            <a:endParaRPr lang="en-IN"/>
          </a:p>
        </p:txBody>
      </p:sp>
      <p:sp>
        <p:nvSpPr>
          <p:cNvPr id="37" name="Shape 31"/>
          <p:cNvSpPr/>
          <p:nvPr/>
        </p:nvSpPr>
        <p:spPr>
          <a:xfrm>
            <a:off x="731520" y="5312664"/>
            <a:ext cx="493776" cy="493776"/>
          </a:xfrm>
          <a:prstGeom prst="ellipse">
            <a:avLst/>
          </a:prstGeom>
          <a:solidFill>
            <a:srgbClr val="E9EEF6"/>
          </a:solidFill>
          <a:ln/>
        </p:spPr>
        <p:txBody>
          <a:bodyPr/>
          <a:lstStyle/>
          <a:p>
            <a:endParaRPr lang="en-IN"/>
          </a:p>
        </p:txBody>
      </p:sp>
      <p:pic>
        <p:nvPicPr>
          <p:cNvPr id="38" name="Image 4" descr="preencoded.png"/>
          <p:cNvPicPr>
            <a:picLocks noChangeAspect="1"/>
          </p:cNvPicPr>
          <p:nvPr/>
        </p:nvPicPr>
        <p:blipFill>
          <a:blip r:embed="rId7"/>
          <a:stretch>
            <a:fillRect/>
          </a:stretch>
        </p:blipFill>
        <p:spPr>
          <a:xfrm>
            <a:off x="850392" y="5431536"/>
            <a:ext cx="256032" cy="256032"/>
          </a:xfrm>
          <a:prstGeom prst="rect">
            <a:avLst/>
          </a:prstGeom>
        </p:spPr>
      </p:pic>
      <p:sp>
        <p:nvSpPr>
          <p:cNvPr id="39" name="Text 32"/>
          <p:cNvSpPr/>
          <p:nvPr/>
        </p:nvSpPr>
        <p:spPr>
          <a:xfrm>
            <a:off x="1335024" y="5294376"/>
            <a:ext cx="329184" cy="530352"/>
          </a:xfrm>
          <a:prstGeom prst="rect">
            <a:avLst/>
          </a:prstGeom>
          <a:noFill/>
          <a:ln/>
        </p:spPr>
        <p:txBody>
          <a:bodyPr wrap="square" lIns="0" tIns="0" rIns="0" bIns="0" rtlCol="0" anchor="ctr"/>
          <a:lstStyle/>
          <a:p>
            <a:pPr marL="0" indent="0">
              <a:buNone/>
            </a:pPr>
            <a:r>
              <a:rPr lang="en-US" sz="2000" b="1" dirty="0">
                <a:solidFill>
                  <a:srgbClr val="2563EB"/>
                </a:solidFill>
                <a:latin typeface="Georgia" pitchFamily="34" charset="0"/>
                <a:ea typeface="Georgia" pitchFamily="34" charset="-122"/>
                <a:cs typeface="Georgia" pitchFamily="34" charset="-120"/>
              </a:rPr>
              <a:t>5</a:t>
            </a:r>
            <a:endParaRPr lang="en-US" sz="2000" dirty="0"/>
          </a:p>
        </p:txBody>
      </p:sp>
      <p:sp>
        <p:nvSpPr>
          <p:cNvPr id="40" name="Text 33"/>
          <p:cNvSpPr/>
          <p:nvPr/>
        </p:nvSpPr>
        <p:spPr>
          <a:xfrm>
            <a:off x="1700784" y="5257800"/>
            <a:ext cx="3200400" cy="603504"/>
          </a:xfrm>
          <a:prstGeom prst="rect">
            <a:avLst/>
          </a:prstGeom>
          <a:noFill/>
          <a:ln/>
        </p:spPr>
        <p:txBody>
          <a:bodyPr wrap="square" lIns="0" tIns="0" rIns="0" bIns="0" rtlCol="0" anchor="ctr"/>
          <a:lstStyle/>
          <a:p>
            <a:pPr marL="0" indent="0">
              <a:lnSpc>
                <a:spcPct val="95000"/>
              </a:lnSpc>
              <a:buNone/>
            </a:pPr>
            <a:r>
              <a:rPr lang="en-US" sz="1250" b="1" dirty="0">
                <a:solidFill>
                  <a:srgbClr val="1B2A4A"/>
                </a:solidFill>
                <a:latin typeface="Trebuchet MS" pitchFamily="34" charset="0"/>
                <a:ea typeface="Trebuchet MS" pitchFamily="34" charset="-122"/>
                <a:cs typeface="Trebuchet MS" pitchFamily="34" charset="-120"/>
              </a:rPr>
              <a:t>Trusted-friend proof at the dip</a:t>
            </a:r>
            <a:endParaRPr lang="en-US" sz="1250" dirty="0"/>
          </a:p>
        </p:txBody>
      </p:sp>
      <p:sp>
        <p:nvSpPr>
          <p:cNvPr id="41" name="Text 34"/>
          <p:cNvSpPr/>
          <p:nvPr/>
        </p:nvSpPr>
        <p:spPr>
          <a:xfrm>
            <a:off x="4937760" y="5257800"/>
            <a:ext cx="2240280" cy="603504"/>
          </a:xfrm>
          <a:prstGeom prst="rect">
            <a:avLst/>
          </a:prstGeom>
          <a:noFill/>
          <a:ln/>
        </p:spPr>
        <p:txBody>
          <a:bodyPr wrap="square" lIns="0" tIns="0" rIns="0" bIns="0" rtlCol="0" anchor="ctr"/>
          <a:lstStyle/>
          <a:p>
            <a:pPr marL="0" indent="0">
              <a:lnSpc>
                <a:spcPct val="102000"/>
              </a:lnSpc>
              <a:buNone/>
            </a:pPr>
            <a:r>
              <a:rPr lang="en-US" sz="950" dirty="0">
                <a:solidFill>
                  <a:srgbClr val="55617A"/>
                </a:solidFill>
                <a:latin typeface="Calibri" pitchFamily="34" charset="0"/>
                <a:ea typeface="Calibri" pitchFamily="34" charset="-122"/>
                <a:cs typeface="Calibri" pitchFamily="34" charset="-120"/>
              </a:rPr>
              <a:t>Use-case peer reviews + video inspection to break comparison paralysis</a:t>
            </a:r>
            <a:endParaRPr lang="en-US" sz="950" dirty="0"/>
          </a:p>
        </p:txBody>
      </p:sp>
      <p:sp>
        <p:nvSpPr>
          <p:cNvPr id="42" name="Text 35"/>
          <p:cNvSpPr/>
          <p:nvPr/>
        </p:nvSpPr>
        <p:spPr>
          <a:xfrm>
            <a:off x="731520" y="5751576"/>
            <a:ext cx="1737360" cy="201168"/>
          </a:xfrm>
          <a:prstGeom prst="rect">
            <a:avLst/>
          </a:prstGeom>
          <a:noFill/>
          <a:ln/>
        </p:spPr>
        <p:txBody>
          <a:bodyPr wrap="square" lIns="0" tIns="0" rIns="0" bIns="0" rtlCol="0" anchor="ctr"/>
          <a:lstStyle/>
          <a:p>
            <a:pPr marL="0" indent="0" algn="ctr">
              <a:buNone/>
            </a:pPr>
            <a:r>
              <a:rPr lang="en-US" sz="750" b="1" dirty="0">
                <a:solidFill>
                  <a:srgbClr val="2563EB"/>
                </a:solidFill>
                <a:latin typeface="Trebuchet MS" pitchFamily="34" charset="0"/>
                <a:ea typeface="Trebuchet MS" pitchFamily="34" charset="-122"/>
                <a:cs typeface="Trebuchet MS" pitchFamily="34" charset="-120"/>
              </a:rPr>
              <a:t>UX · Marketing</a:t>
            </a:r>
            <a:endParaRPr lang="en-US" sz="750" dirty="0"/>
          </a:p>
        </p:txBody>
      </p:sp>
      <p:sp>
        <p:nvSpPr>
          <p:cNvPr id="43" name="Shape 36"/>
          <p:cNvSpPr/>
          <p:nvPr/>
        </p:nvSpPr>
        <p:spPr>
          <a:xfrm>
            <a:off x="7607808" y="1417320"/>
            <a:ext cx="4016959" cy="2468880"/>
          </a:xfrm>
          <a:prstGeom prst="roundRect">
            <a:avLst>
              <a:gd name="adj" fmla="val 2222"/>
            </a:avLst>
          </a:prstGeom>
          <a:solidFill>
            <a:srgbClr val="F4F6FA"/>
          </a:solidFill>
          <a:ln w="15875">
            <a:solidFill>
              <a:srgbClr val="2E9E4F"/>
            </a:solidFill>
            <a:prstDash val="solid"/>
          </a:ln>
        </p:spPr>
        <p:txBody>
          <a:bodyPr/>
          <a:lstStyle/>
          <a:p>
            <a:endParaRPr lang="en-IN"/>
          </a:p>
        </p:txBody>
      </p:sp>
      <p:sp>
        <p:nvSpPr>
          <p:cNvPr id="44" name="Text 37"/>
          <p:cNvSpPr/>
          <p:nvPr/>
        </p:nvSpPr>
        <p:spPr>
          <a:xfrm>
            <a:off x="7836408" y="1563624"/>
            <a:ext cx="3559759" cy="274320"/>
          </a:xfrm>
          <a:prstGeom prst="rect">
            <a:avLst/>
          </a:prstGeom>
          <a:noFill/>
          <a:ln/>
        </p:spPr>
        <p:txBody>
          <a:bodyPr wrap="square" lIns="0" tIns="0" rIns="0" bIns="0" rtlCol="0" anchor="ctr"/>
          <a:lstStyle/>
          <a:p>
            <a:pPr marL="0" indent="0">
              <a:buNone/>
            </a:pPr>
            <a:r>
              <a:rPr lang="en-US" sz="1100" b="1" kern="0" spc="100" dirty="0">
                <a:solidFill>
                  <a:srgbClr val="2E9E4F"/>
                </a:solidFill>
                <a:latin typeface="Trebuchet MS" pitchFamily="34" charset="0"/>
                <a:ea typeface="Trebuchet MS" pitchFamily="34" charset="-122"/>
                <a:cs typeface="Trebuchet MS" pitchFamily="34" charset="-120"/>
              </a:rPr>
              <a:t>BUILD NOW · HIGH CONFIDENCE</a:t>
            </a:r>
            <a:endParaRPr lang="en-US" sz="1100" dirty="0"/>
          </a:p>
        </p:txBody>
      </p:sp>
      <p:sp>
        <p:nvSpPr>
          <p:cNvPr id="45" name="Text 38"/>
          <p:cNvSpPr/>
          <p:nvPr/>
        </p:nvSpPr>
        <p:spPr>
          <a:xfrm>
            <a:off x="7882128" y="1874520"/>
            <a:ext cx="3514039" cy="1920240"/>
          </a:xfrm>
          <a:prstGeom prst="rect">
            <a:avLst/>
          </a:prstGeom>
          <a:noFill/>
          <a:ln/>
        </p:spPr>
        <p:txBody>
          <a:bodyPr wrap="square" lIns="0" tIns="0" rIns="0" bIns="0" rtlCol="0" anchor="t"/>
          <a:lstStyle/>
          <a:p>
            <a:pPr marL="165100" indent="-165100">
              <a:spcAft>
                <a:spcPts val="500"/>
              </a:spcAft>
              <a:buSzPct val="100000"/>
              <a:buChar char="•"/>
            </a:pPr>
            <a:r>
              <a:rPr lang="en-US" sz="1000" dirty="0">
                <a:solidFill>
                  <a:srgbClr val="55617A"/>
                </a:solidFill>
                <a:latin typeface="Calibri" pitchFamily="34" charset="0"/>
                <a:ea typeface="Calibri" pitchFamily="34" charset="-122"/>
                <a:cs typeface="Calibri" pitchFamily="34" charset="-120"/>
              </a:rPr>
              <a:t>Trust gating as the core flow</a:t>
            </a:r>
            <a:endParaRPr lang="en-US" sz="1000" dirty="0"/>
          </a:p>
          <a:p>
            <a:pPr marL="165100" indent="-165100">
              <a:spcAft>
                <a:spcPts val="500"/>
              </a:spcAft>
              <a:buSzPct val="100000"/>
              <a:buChar char="•"/>
            </a:pPr>
            <a:r>
              <a:rPr lang="en-US" sz="1000" dirty="0">
                <a:solidFill>
                  <a:srgbClr val="55617A"/>
                </a:solidFill>
                <a:latin typeface="Calibri" pitchFamily="34" charset="0"/>
                <a:ea typeface="Calibri" pitchFamily="34" charset="-122"/>
                <a:cs typeface="Calibri" pitchFamily="34" charset="-120"/>
              </a:rPr>
              <a:t>Independent certification + grading</a:t>
            </a:r>
            <a:endParaRPr lang="en-US" sz="1000" dirty="0"/>
          </a:p>
          <a:p>
            <a:pPr marL="165100" indent="-165100">
              <a:spcAft>
                <a:spcPts val="500"/>
              </a:spcAft>
              <a:buSzPct val="100000"/>
              <a:buChar char="•"/>
            </a:pPr>
            <a:r>
              <a:rPr lang="en-US" sz="1000" dirty="0">
                <a:solidFill>
                  <a:srgbClr val="55617A"/>
                </a:solidFill>
                <a:latin typeface="Calibri" pitchFamily="34" charset="0"/>
                <a:ea typeface="Calibri" pitchFamily="34" charset="-122"/>
                <a:cs typeface="Calibri" pitchFamily="34" charset="-120"/>
              </a:rPr>
              <a:t>Upgrade-resell (trade-in) loop</a:t>
            </a:r>
            <a:endParaRPr lang="en-US" sz="1000" dirty="0"/>
          </a:p>
          <a:p>
            <a:pPr marL="165100" indent="-165100">
              <a:spcAft>
                <a:spcPts val="500"/>
              </a:spcAft>
              <a:buSzPct val="100000"/>
              <a:buChar char="•"/>
            </a:pPr>
            <a:r>
              <a:rPr lang="en-US" sz="1000" dirty="0">
                <a:solidFill>
                  <a:srgbClr val="55617A"/>
                </a:solidFill>
                <a:latin typeface="Calibri" pitchFamily="34" charset="0"/>
                <a:ea typeface="Calibri" pitchFamily="34" charset="-122"/>
                <a:cs typeface="Calibri" pitchFamily="34" charset="-120"/>
              </a:rPr>
              <a:t>Seller-safe, contact-free handoff</a:t>
            </a:r>
            <a:endParaRPr lang="en-US" sz="1000" dirty="0"/>
          </a:p>
          <a:p>
            <a:pPr marL="165100" indent="-165100">
              <a:spcAft>
                <a:spcPts val="500"/>
              </a:spcAft>
              <a:buSzPct val="100000"/>
              <a:buChar char="•"/>
            </a:pPr>
            <a:r>
              <a:rPr lang="en-US" sz="1000" dirty="0">
                <a:solidFill>
                  <a:srgbClr val="55617A"/>
                </a:solidFill>
                <a:latin typeface="Calibri" pitchFamily="34" charset="0"/>
                <a:ea typeface="Calibri" pitchFamily="34" charset="-122"/>
                <a:cs typeface="Calibri" pitchFamily="34" charset="-120"/>
              </a:rPr>
              <a:t>Peer / video proof at comparison</a:t>
            </a:r>
            <a:endParaRPr lang="en-US" sz="1000" dirty="0"/>
          </a:p>
        </p:txBody>
      </p:sp>
      <p:sp>
        <p:nvSpPr>
          <p:cNvPr id="46" name="Shape 39"/>
          <p:cNvSpPr/>
          <p:nvPr/>
        </p:nvSpPr>
        <p:spPr>
          <a:xfrm>
            <a:off x="7607808" y="4023360"/>
            <a:ext cx="4016959" cy="2194560"/>
          </a:xfrm>
          <a:prstGeom prst="roundRect">
            <a:avLst>
              <a:gd name="adj" fmla="val 2500"/>
            </a:avLst>
          </a:prstGeom>
          <a:solidFill>
            <a:srgbClr val="F4F6FA"/>
          </a:solidFill>
          <a:ln w="15875">
            <a:solidFill>
              <a:srgbClr val="B07D0A"/>
            </a:solidFill>
            <a:prstDash val="solid"/>
          </a:ln>
        </p:spPr>
        <p:txBody>
          <a:bodyPr/>
          <a:lstStyle/>
          <a:p>
            <a:endParaRPr lang="en-IN"/>
          </a:p>
        </p:txBody>
      </p:sp>
      <p:sp>
        <p:nvSpPr>
          <p:cNvPr id="47" name="Text 40"/>
          <p:cNvSpPr/>
          <p:nvPr/>
        </p:nvSpPr>
        <p:spPr>
          <a:xfrm>
            <a:off x="7836408" y="4169664"/>
            <a:ext cx="3559759" cy="274320"/>
          </a:xfrm>
          <a:prstGeom prst="rect">
            <a:avLst/>
          </a:prstGeom>
          <a:noFill/>
          <a:ln/>
        </p:spPr>
        <p:txBody>
          <a:bodyPr wrap="square" lIns="0" tIns="0" rIns="0" bIns="0" rtlCol="0" anchor="ctr"/>
          <a:lstStyle/>
          <a:p>
            <a:pPr marL="0" indent="0">
              <a:buNone/>
            </a:pPr>
            <a:r>
              <a:rPr lang="en-US" sz="1100" b="1" kern="0" spc="100" dirty="0">
                <a:solidFill>
                  <a:srgbClr val="B07D0A"/>
                </a:solidFill>
                <a:latin typeface="Trebuchet MS" pitchFamily="34" charset="0"/>
                <a:ea typeface="Trebuchet MS" pitchFamily="34" charset="-122"/>
                <a:cs typeface="Trebuchet MS" pitchFamily="34" charset="-120"/>
              </a:rPr>
              <a:t>VALIDATE NEXT · EXPLORATORY</a:t>
            </a:r>
            <a:endParaRPr lang="en-US" sz="1100" dirty="0"/>
          </a:p>
        </p:txBody>
      </p:sp>
      <p:sp>
        <p:nvSpPr>
          <p:cNvPr id="48" name="Text 41"/>
          <p:cNvSpPr/>
          <p:nvPr/>
        </p:nvSpPr>
        <p:spPr>
          <a:xfrm>
            <a:off x="7882128" y="4480560"/>
            <a:ext cx="3514039" cy="1645920"/>
          </a:xfrm>
          <a:prstGeom prst="rect">
            <a:avLst/>
          </a:prstGeom>
          <a:noFill/>
          <a:ln/>
        </p:spPr>
        <p:txBody>
          <a:bodyPr wrap="square" lIns="0" tIns="0" rIns="0" bIns="0" rtlCol="0" anchor="t"/>
          <a:lstStyle/>
          <a:p>
            <a:pPr marL="165100" indent="-165100">
              <a:spcAft>
                <a:spcPts val="500"/>
              </a:spcAft>
              <a:buSzPct val="100000"/>
              <a:buChar char="•"/>
            </a:pPr>
            <a:r>
              <a:rPr lang="en-US" sz="1000" dirty="0">
                <a:solidFill>
                  <a:srgbClr val="55617A"/>
                </a:solidFill>
                <a:latin typeface="Calibri" pitchFamily="34" charset="0"/>
                <a:ea typeface="Calibri" pitchFamily="34" charset="-122"/>
                <a:cs typeface="Calibri" pitchFamily="34" charset="-120"/>
              </a:rPr>
              <a:t>Power-user “speed &gt; trust” fast lane</a:t>
            </a:r>
            <a:endParaRPr lang="en-US" sz="1000" dirty="0"/>
          </a:p>
          <a:p>
            <a:pPr marL="165100" indent="-165100">
              <a:spcAft>
                <a:spcPts val="500"/>
              </a:spcAft>
              <a:buSzPct val="100000"/>
              <a:buChar char="•"/>
            </a:pPr>
            <a:r>
              <a:rPr lang="en-US" sz="1000" dirty="0">
                <a:solidFill>
                  <a:srgbClr val="55617A"/>
                </a:solidFill>
                <a:latin typeface="Calibri" pitchFamily="34" charset="0"/>
                <a:ea typeface="Calibri" pitchFamily="34" charset="-122"/>
                <a:cs typeface="Calibri" pitchFamily="34" charset="-120"/>
              </a:rPr>
              <a:t>Refurbished stigma &amp; certificate-as-alibi</a:t>
            </a:r>
            <a:endParaRPr lang="en-US" sz="1000" dirty="0"/>
          </a:p>
          <a:p>
            <a:pPr marL="165100" indent="-165100">
              <a:spcAft>
                <a:spcPts val="500"/>
              </a:spcAft>
              <a:buSzPct val="100000"/>
              <a:buChar char="•"/>
            </a:pPr>
            <a:r>
              <a:rPr lang="en-US" sz="1000" dirty="0">
                <a:solidFill>
                  <a:srgbClr val="55617A"/>
                </a:solidFill>
                <a:latin typeface="Calibri" pitchFamily="34" charset="0"/>
                <a:ea typeface="Calibri" pitchFamily="34" charset="-122"/>
                <a:cs typeface="Calibri" pitchFamily="34" charset="-120"/>
              </a:rPr>
              <a:t>Dormant idle-device supply unlock</a:t>
            </a:r>
            <a:endParaRPr lang="en-US" sz="1000" dirty="0"/>
          </a:p>
          <a:p>
            <a:pPr marL="165100" indent="-165100">
              <a:spcAft>
                <a:spcPts val="500"/>
              </a:spcAft>
              <a:buSzPct val="100000"/>
              <a:buChar char="•"/>
            </a:pPr>
            <a:r>
              <a:rPr lang="en-US" sz="1000" dirty="0">
                <a:solidFill>
                  <a:srgbClr val="55617A"/>
                </a:solidFill>
                <a:latin typeface="Calibri" pitchFamily="34" charset="0"/>
                <a:ea typeface="Calibri" pitchFamily="34" charset="-122"/>
                <a:cs typeface="Calibri" pitchFamily="34" charset="-120"/>
              </a:rPr>
              <a:t>Detractor win-back mechanics</a:t>
            </a:r>
            <a:endParaRPr lang="en-US" sz="1000" dirty="0"/>
          </a:p>
          <a:p>
            <a:pPr marL="165100" indent="-165100">
              <a:spcAft>
                <a:spcPts val="500"/>
              </a:spcAft>
              <a:buSzPct val="100000"/>
              <a:buChar char="•"/>
            </a:pPr>
            <a:r>
              <a:rPr lang="en-US" sz="1000" dirty="0">
                <a:solidFill>
                  <a:srgbClr val="55617A"/>
                </a:solidFill>
                <a:latin typeface="Calibri" pitchFamily="34" charset="0"/>
                <a:ea typeface="Calibri" pitchFamily="34" charset="-122"/>
                <a:cs typeface="Calibri" pitchFamily="34" charset="-120"/>
              </a:rPr>
              <a:t>Tier-2/3 &amp; proxy-buyer dynamics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buNone/>
            </a:pPr>
            <a:r>
              <a:rPr lang="en-US" sz="1150" b="1" kern="0" spc="200" dirty="0">
                <a:solidFill>
                  <a:srgbClr val="2A4068"/>
                </a:solidFill>
                <a:latin typeface="Trebuchet MS" pitchFamily="34" charset="0"/>
                <a:ea typeface="Trebuchet MS" pitchFamily="34" charset="-122"/>
                <a:cs typeface="Trebuchet MS" pitchFamily="34" charset="-120"/>
              </a:rPr>
              <a:t>APPENDIX</a:t>
            </a:r>
            <a:endParaRPr lang="en-US" sz="1150" dirty="0"/>
          </a:p>
        </p:txBody>
      </p:sp>
      <p:sp>
        <p:nvSpPr>
          <p:cNvPr id="3" name="Text 1"/>
          <p:cNvSpPr/>
          <p:nvPr/>
        </p:nvSpPr>
        <p:spPr>
          <a:xfrm>
            <a:off x="566928" y="658368"/>
            <a:ext cx="11057839" cy="603504"/>
          </a:xfrm>
          <a:prstGeom prst="rect">
            <a:avLst/>
          </a:prstGeom>
          <a:noFill/>
          <a:ln/>
        </p:spPr>
        <p:txBody>
          <a:bodyPr wrap="square" lIns="0" tIns="0" rIns="0" bIns="0" rtlCol="0" anchor="ctr"/>
          <a:lstStyle/>
          <a:p>
            <a:pPr marL="0" indent="0">
              <a:buNone/>
            </a:pPr>
            <a:r>
              <a:rPr lang="en-US" sz="2700" b="1" dirty="0">
                <a:solidFill>
                  <a:srgbClr val="1B2A4A"/>
                </a:solidFill>
                <a:latin typeface="Georgia" pitchFamily="34" charset="0"/>
                <a:ea typeface="Georgia" pitchFamily="34" charset="-122"/>
                <a:cs typeface="Georgia" pitchFamily="34" charset="-120"/>
              </a:rPr>
              <a:t>Prompt Documentation — the AI Workhorses</a:t>
            </a:r>
            <a:endParaRPr lang="en-US" sz="2700" dirty="0"/>
          </a:p>
        </p:txBody>
      </p:sp>
      <p:sp>
        <p:nvSpPr>
          <p:cNvPr id="4" name="Shape 2"/>
          <p:cNvSpPr/>
          <p:nvPr/>
        </p:nvSpPr>
        <p:spPr>
          <a:xfrm>
            <a:off x="566928" y="6437376"/>
            <a:ext cx="11057839" cy="0"/>
          </a:xfrm>
          <a:prstGeom prst="line">
            <a:avLst/>
          </a:prstGeom>
          <a:noFill/>
          <a:ln w="12700">
            <a:solidFill>
              <a:srgbClr val="E3E8F0"/>
            </a:solidFill>
            <a:prstDash val="solid"/>
          </a:ln>
        </p:spPr>
        <p:txBody>
          <a:bodyPr/>
          <a:lstStyle/>
          <a:p>
            <a:endParaRPr lang="en-IN"/>
          </a:p>
        </p:txBody>
      </p:sp>
      <p:sp>
        <p:nvSpPr>
          <p:cNvPr id="5" name="Text 3"/>
          <p:cNvSpPr/>
          <p:nvPr/>
        </p:nvSpPr>
        <p:spPr>
          <a:xfrm>
            <a:off x="566928" y="6473952"/>
            <a:ext cx="6400800" cy="274320"/>
          </a:xfrm>
          <a:prstGeom prst="rect">
            <a:avLst/>
          </a:prstGeom>
          <a:noFill/>
          <a:ln/>
        </p:spPr>
        <p:txBody>
          <a:bodyPr wrap="square" lIns="0" tIns="0" rIns="0" bIns="0" rtlCol="0" anchor="ctr"/>
          <a:lstStyle/>
          <a:p>
            <a:pPr marL="0" indent="0">
              <a:buNone/>
            </a:pPr>
            <a:r>
              <a:rPr lang="en-US" sz="850" kern="0" spc="100" dirty="0">
                <a:solidFill>
                  <a:srgbClr val="8A97AD"/>
                </a:solidFill>
                <a:latin typeface="Trebuchet MS" pitchFamily="34" charset="0"/>
                <a:ea typeface="Trebuchet MS" pitchFamily="34" charset="-122"/>
                <a:cs typeface="Trebuchet MS" pitchFamily="34" charset="-120"/>
              </a:rPr>
              <a:t>CertiBuy  ·  Assignment 1</a:t>
            </a:r>
            <a:endParaRPr lang="en-US" sz="850" dirty="0"/>
          </a:p>
        </p:txBody>
      </p:sp>
      <p:sp>
        <p:nvSpPr>
          <p:cNvPr id="6" name="Text 4"/>
          <p:cNvSpPr/>
          <p:nvPr/>
        </p:nvSpPr>
        <p:spPr>
          <a:xfrm>
            <a:off x="4675327" y="6473952"/>
            <a:ext cx="6583680" cy="274320"/>
          </a:xfrm>
          <a:prstGeom prst="rect">
            <a:avLst/>
          </a:prstGeom>
          <a:noFill/>
          <a:ln/>
        </p:spPr>
        <p:txBody>
          <a:bodyPr wrap="square" lIns="0" tIns="0" rIns="0" bIns="0" rtlCol="0" anchor="ctr"/>
          <a:lstStyle/>
          <a:p>
            <a:pPr marL="0" indent="0" algn="r">
              <a:buNone/>
            </a:pPr>
            <a:r>
              <a:rPr lang="en-US" sz="850" dirty="0">
                <a:solidFill>
                  <a:srgbClr val="8A97AD"/>
                </a:solidFill>
                <a:latin typeface="Trebuchet MS" pitchFamily="34" charset="0"/>
                <a:ea typeface="Trebuchet MS" pitchFamily="34" charset="-122"/>
                <a:cs typeface="Trebuchet MS" pitchFamily="34" charset="-120"/>
              </a:rPr>
              <a:t>IITM Pravartak  ·  AI-Powered Product Design &amp; Management  ·  Batch 2 · Group 16</a:t>
            </a:r>
            <a:endParaRPr lang="en-US" sz="850" dirty="0"/>
          </a:p>
        </p:txBody>
      </p:sp>
      <p:sp>
        <p:nvSpPr>
          <p:cNvPr id="7" name="Text 5"/>
          <p:cNvSpPr/>
          <p:nvPr/>
        </p:nvSpPr>
        <p:spPr>
          <a:xfrm>
            <a:off x="11259007" y="6473952"/>
            <a:ext cx="365760" cy="274320"/>
          </a:xfrm>
          <a:prstGeom prst="rect">
            <a:avLst/>
          </a:prstGeom>
          <a:noFill/>
          <a:ln/>
        </p:spPr>
        <p:txBody>
          <a:bodyPr wrap="square" lIns="0" tIns="0" rIns="0" bIns="0" rtlCol="0" anchor="ctr"/>
          <a:lstStyle/>
          <a:p>
            <a:pPr marL="0" indent="0" algn="r">
              <a:buNone/>
            </a:pPr>
            <a:r>
              <a:rPr lang="en-US" sz="850" b="1" dirty="0">
                <a:solidFill>
                  <a:srgbClr val="8A97AD"/>
                </a:solidFill>
                <a:latin typeface="Trebuchet MS" pitchFamily="34" charset="0"/>
                <a:ea typeface="Trebuchet MS" pitchFamily="34" charset="-122"/>
                <a:cs typeface="Trebuchet MS" pitchFamily="34" charset="-120"/>
              </a:rPr>
              <a:t>12</a:t>
            </a:r>
            <a:endParaRPr lang="en-US" sz="850" dirty="0"/>
          </a:p>
        </p:txBody>
      </p:sp>
      <p:sp>
        <p:nvSpPr>
          <p:cNvPr id="8" name="Text 6"/>
          <p:cNvSpPr/>
          <p:nvPr/>
        </p:nvSpPr>
        <p:spPr>
          <a:xfrm>
            <a:off x="566928" y="1353312"/>
            <a:ext cx="11057839" cy="365760"/>
          </a:xfrm>
          <a:prstGeom prst="rect">
            <a:avLst/>
          </a:prstGeom>
          <a:noFill/>
          <a:ln/>
        </p:spPr>
        <p:txBody>
          <a:bodyPr wrap="square" lIns="0" tIns="0" rIns="0" bIns="0" rtlCol="0" anchor="t"/>
          <a:lstStyle/>
          <a:p>
            <a:pPr marL="0" indent="0">
              <a:buNone/>
            </a:pPr>
            <a:r>
              <a:rPr lang="en-US" sz="1150" dirty="0">
                <a:solidFill>
                  <a:srgbClr val="55617A"/>
                </a:solidFill>
                <a:latin typeface="Calibri" pitchFamily="34" charset="0"/>
                <a:ea typeface="Calibri" pitchFamily="34" charset="-122"/>
                <a:cs typeface="Calibri" pitchFamily="34" charset="-120"/>
              </a:rPr>
              <a:t>Representative prompts from the synthesis pipeline. Each was engineered to keep outputs grounded, traceable and clearly separated from validated fact.</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5096" cy="4169664"/>
        </p:xfrm>
        <a:graphic>
          <a:graphicData uri="http://schemas.openxmlformats.org/drawingml/2006/table">
            <a:tbl>
              <a:tblPr/>
              <a:tblGrid>
                <a:gridCol w="155448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3465576">
                  <a:extLst>
                    <a:ext uri="{9D8B030D-6E8A-4147-A177-3AD203B41FA5}">
                      <a16:colId xmlns:a16="http://schemas.microsoft.com/office/drawing/2014/main" val="20002"/>
                    </a:ext>
                  </a:extLst>
                </a:gridCol>
              </a:tblGrid>
              <a:tr h="694944">
                <a:tc>
                  <a:txBody>
                    <a:bodyP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Stage</a:t>
                      </a:r>
                      <a:endParaRPr lang="en-US" sz="1000" dirty="0">
                        <a:latin typeface="Trebuchet MS" charset="0"/>
                        <a:ea typeface="Trebuchet MS" charset="0"/>
                        <a:cs typeface="Trebuchet MS"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1B2A4A"/>
                    </a:solidFill>
                  </a:tcPr>
                </a:tc>
                <a:tc>
                  <a:txBody>
                    <a:bodyP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Representative prompt (abridged)</a:t>
                      </a:r>
                      <a:endParaRPr lang="en-US" sz="1000" dirty="0">
                        <a:latin typeface="Trebuchet MS" charset="0"/>
                        <a:ea typeface="Trebuchet MS" charset="0"/>
                        <a:cs typeface="Trebuchet MS"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1B2A4A"/>
                    </a:solidFill>
                  </a:tcPr>
                </a:tc>
                <a:tc>
                  <a:txBody>
                    <a:bodyP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Design rationale &amp; effect</a:t>
                      </a:r>
                      <a:endParaRPr lang="en-US" sz="1000" dirty="0">
                        <a:latin typeface="Trebuchet MS" charset="0"/>
                        <a:ea typeface="Trebuchet MS" charset="0"/>
                        <a:cs typeface="Trebuchet MS"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94944">
                <a:tc>
                  <a:txBody>
                    <a:bodyPr/>
                    <a:lstStyle/>
                    <a:p>
                      <a:pPr marL="0" indent="0">
                        <a:buNone/>
                      </a:pPr>
                      <a:r>
                        <a:rPr lang="en-US" sz="950" b="1" dirty="0">
                          <a:solidFill>
                            <a:srgbClr val="1B2A4A"/>
                          </a:solidFill>
                          <a:latin typeface="Trebuchet MS" pitchFamily="34" charset="0"/>
                          <a:ea typeface="Trebuchet MS" pitchFamily="34" charset="-122"/>
                          <a:cs typeface="Trebuchet MS" pitchFamily="34" charset="-120"/>
                        </a:rPr>
                        <a:t>Analyze &amp; tag</a:t>
                      </a:r>
                      <a:endParaRPr lang="en-US" sz="950" dirty="0">
                        <a:latin typeface="Trebuchet MS" charset="0"/>
                        <a:ea typeface="Trebuchet MS" charset="0"/>
                        <a:cs typeface="Trebuchet MS"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buNone/>
                      </a:pPr>
                      <a:r>
                        <a:rPr lang="en-US" sz="900" dirty="0">
                          <a:solidFill>
                            <a:srgbClr val="33415C"/>
                          </a:solidFill>
                          <a:latin typeface="Consolas" pitchFamily="34" charset="0"/>
                          <a:ea typeface="Consolas" pitchFamily="34" charset="-122"/>
                          <a:cs typeface="Consolas" pitchFamily="34" charset="-120"/>
                        </a:rPr>
                        <a:t>“As a UX research analyst, extract motivations, frustrations and unmet needs from this transcript. Tag each EXPLICIT or IMPLICIT. Add nothing not grounded in the text.”</a:t>
                      </a:r>
                      <a:endParaRPr lang="en-US" sz="900" dirty="0">
                        <a:latin typeface="Consolas" charset="0"/>
                        <a:ea typeface="Consolas" charset="0"/>
                        <a:cs typeface="Consolas"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buNone/>
                      </a:pPr>
                      <a:r>
                        <a:rPr lang="en-US" sz="900" dirty="0">
                          <a:solidFill>
                            <a:srgbClr val="55617A"/>
                          </a:solidFill>
                          <a:latin typeface="Calibri" pitchFamily="34" charset="0"/>
                          <a:ea typeface="Calibri" pitchFamily="34" charset="-122"/>
                          <a:cs typeface="Calibri" pitchFamily="34" charset="-120"/>
                        </a:rPr>
                        <a:t>Forces evidence-bound extraction → suppresses hallucination; explicit/implicit split preserves nuance.</a:t>
                      </a:r>
                      <a:endParaRPr lang="en-US" sz="900" dirty="0">
                        <a:latin typeface="Calibri" charset="0"/>
                        <a:ea typeface="Calibri" charset="0"/>
                        <a:cs typeface="Calibri"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94944">
                <a:tc>
                  <a:txBody>
                    <a:bodyPr/>
                    <a:lstStyle/>
                    <a:p>
                      <a:pPr marL="0" indent="0">
                        <a:buNone/>
                      </a:pPr>
                      <a:r>
                        <a:rPr lang="en-US" sz="950" b="1" dirty="0">
                          <a:solidFill>
                            <a:srgbClr val="1B2A4A"/>
                          </a:solidFill>
                          <a:latin typeface="Trebuchet MS" pitchFamily="34" charset="0"/>
                          <a:ea typeface="Trebuchet MS" pitchFamily="34" charset="-122"/>
                          <a:cs typeface="Trebuchet MS" pitchFamily="34" charset="-120"/>
                        </a:rPr>
                        <a:t>Theme synthesis</a:t>
                      </a:r>
                      <a:endParaRPr lang="en-US" sz="950" dirty="0">
                        <a:latin typeface="Trebuchet MS" charset="0"/>
                        <a:ea typeface="Trebuchet MS" charset="0"/>
                        <a:cs typeface="Trebuchet MS"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tc>
                  <a:txBody>
                    <a:bodyPr/>
                    <a:lstStyle/>
                    <a:p>
                      <a:pPr marL="0" indent="0">
                        <a:buNone/>
                      </a:pPr>
                      <a:r>
                        <a:rPr lang="en-US" sz="900" dirty="0">
                          <a:solidFill>
                            <a:srgbClr val="33415C"/>
                          </a:solidFill>
                          <a:latin typeface="Consolas" pitchFamily="34" charset="0"/>
                          <a:ea typeface="Consolas" pitchFamily="34" charset="-122"/>
                          <a:cs typeface="Consolas" pitchFamily="34" charset="-120"/>
                        </a:rPr>
                        <a:t>“Across these 3 transcripts, cluster recurring themes. Report only patterns present in ≥2 participants and cite the supporting lines.”</a:t>
                      </a:r>
                      <a:endParaRPr lang="en-US" sz="900" dirty="0">
                        <a:latin typeface="Consolas" charset="0"/>
                        <a:ea typeface="Consolas" charset="0"/>
                        <a:cs typeface="Consolas"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tc>
                  <a:txBody>
                    <a:bodyPr/>
                    <a:lstStyle/>
                    <a:p>
                      <a:pPr marL="0" indent="0">
                        <a:buNone/>
                      </a:pPr>
                      <a:r>
                        <a:rPr lang="en-US" sz="900" dirty="0">
                          <a:solidFill>
                            <a:srgbClr val="55617A"/>
                          </a:solidFill>
                          <a:latin typeface="Calibri" pitchFamily="34" charset="0"/>
                          <a:ea typeface="Calibri" pitchFamily="34" charset="-122"/>
                          <a:cs typeface="Calibri" pitchFamily="34" charset="-120"/>
                        </a:rPr>
                        <a:t>≥2-participant rule + citation requirement → surfaces genuine convergence, not one-off anecdotes.</a:t>
                      </a:r>
                      <a:endParaRPr lang="en-US" sz="900" dirty="0">
                        <a:latin typeface="Calibri" charset="0"/>
                        <a:ea typeface="Calibri" charset="0"/>
                        <a:cs typeface="Calibri"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694944">
                <a:tc>
                  <a:txBody>
                    <a:bodyPr/>
                    <a:lstStyle/>
                    <a:p>
                      <a:pPr marL="0" indent="0">
                        <a:buNone/>
                      </a:pPr>
                      <a:r>
                        <a:rPr lang="en-US" sz="950" b="1" dirty="0">
                          <a:solidFill>
                            <a:srgbClr val="1B2A4A"/>
                          </a:solidFill>
                          <a:latin typeface="Trebuchet MS" pitchFamily="34" charset="0"/>
                          <a:ea typeface="Trebuchet MS" pitchFamily="34" charset="-122"/>
                          <a:cs typeface="Trebuchet MS" pitchFamily="34" charset="-120"/>
                        </a:rPr>
                        <a:t>Synthetic generation</a:t>
                      </a:r>
                      <a:endParaRPr lang="en-US" sz="950" dirty="0">
                        <a:latin typeface="Trebuchet MS" charset="0"/>
                        <a:ea typeface="Trebuchet MS" charset="0"/>
                        <a:cs typeface="Trebuchet MS"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buNone/>
                      </a:pPr>
                      <a:r>
                        <a:rPr lang="en-US" sz="900" dirty="0">
                          <a:solidFill>
                            <a:srgbClr val="33415C"/>
                          </a:solidFill>
                          <a:latin typeface="Consolas" pitchFamily="34" charset="0"/>
                          <a:ea typeface="Consolas" pitchFamily="34" charset="-122"/>
                          <a:cs typeface="Consolas" pitchFamily="34" charset="-120"/>
                        </a:rPr>
                        <a:t>“Generate 6 synthetic respondents from segments this sample misses. Ground each in the source findings. Label every claim REAL-echo, AI-hypothesis or research-gap.”</a:t>
                      </a:r>
                      <a:endParaRPr lang="en-US" sz="900" dirty="0">
                        <a:latin typeface="Consolas" charset="0"/>
                        <a:ea typeface="Consolas" charset="0"/>
                        <a:cs typeface="Consolas"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buNone/>
                      </a:pPr>
                      <a:r>
                        <a:rPr lang="en-US" sz="900" dirty="0">
                          <a:solidFill>
                            <a:srgbClr val="55617A"/>
                          </a:solidFill>
                          <a:latin typeface="Calibri" pitchFamily="34" charset="0"/>
                          <a:ea typeface="Calibri" pitchFamily="34" charset="-122"/>
                          <a:cs typeface="Calibri" pitchFamily="34" charset="-120"/>
                        </a:rPr>
                        <a:t>Coverage expansion with mandatory labels → extends reach while quarantining unvalidated claims.</a:t>
                      </a:r>
                      <a:endParaRPr lang="en-US" sz="900" dirty="0">
                        <a:latin typeface="Calibri" charset="0"/>
                        <a:ea typeface="Calibri" charset="0"/>
                        <a:cs typeface="Calibri"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94944">
                <a:tc>
                  <a:txBody>
                    <a:bodyPr/>
                    <a:lstStyle/>
                    <a:p>
                      <a:pPr marL="0" indent="0">
                        <a:buNone/>
                      </a:pPr>
                      <a:r>
                        <a:rPr lang="en-US" sz="950" b="1" dirty="0">
                          <a:solidFill>
                            <a:srgbClr val="1B2A4A"/>
                          </a:solidFill>
                          <a:latin typeface="Trebuchet MS" pitchFamily="34" charset="0"/>
                          <a:ea typeface="Trebuchet MS" pitchFamily="34" charset="-122"/>
                          <a:cs typeface="Trebuchet MS" pitchFamily="34" charset="-120"/>
                        </a:rPr>
                        <a:t>Edge-case probe</a:t>
                      </a:r>
                      <a:endParaRPr lang="en-US" sz="950" dirty="0">
                        <a:latin typeface="Trebuchet MS" charset="0"/>
                        <a:ea typeface="Trebuchet MS" charset="0"/>
                        <a:cs typeface="Trebuchet MS"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tc>
                  <a:txBody>
                    <a:bodyPr/>
                    <a:lstStyle/>
                    <a:p>
                      <a:pPr marL="0" indent="0">
                        <a:buNone/>
                      </a:pPr>
                      <a:r>
                        <a:rPr lang="en-US" sz="900" dirty="0">
                          <a:solidFill>
                            <a:srgbClr val="33415C"/>
                          </a:solidFill>
                          <a:latin typeface="Consolas" pitchFamily="34" charset="0"/>
                          <a:ea typeface="Consolas" pitchFamily="34" charset="-122"/>
                          <a:cs typeface="Consolas" pitchFamily="34" charset="-120"/>
                        </a:rPr>
                        <a:t>“For each synthetic profile, surface one outlier behaviour that would break the dominant ‘trust-first’ assumption.”</a:t>
                      </a:r>
                      <a:endParaRPr lang="en-US" sz="900" dirty="0">
                        <a:latin typeface="Consolas" charset="0"/>
                        <a:ea typeface="Consolas" charset="0"/>
                        <a:cs typeface="Consolas"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tc>
                  <a:txBody>
                    <a:bodyPr/>
                    <a:lstStyle/>
                    <a:p>
                      <a:pPr marL="0" indent="0">
                        <a:buNone/>
                      </a:pPr>
                      <a:r>
                        <a:rPr lang="en-US" sz="900" dirty="0">
                          <a:solidFill>
                            <a:srgbClr val="55617A"/>
                          </a:solidFill>
                          <a:latin typeface="Calibri" pitchFamily="34" charset="0"/>
                          <a:ea typeface="Calibri" pitchFamily="34" charset="-122"/>
                          <a:cs typeface="Calibri" pitchFamily="34" charset="-120"/>
                        </a:rPr>
                        <a:t>Deliberately seeks disconfirming cases → exposes the power-user speed tension as a hypothesis.</a:t>
                      </a:r>
                      <a:endParaRPr lang="en-US" sz="900" dirty="0">
                        <a:latin typeface="Calibri" charset="0"/>
                        <a:ea typeface="Calibri" charset="0"/>
                        <a:cs typeface="Calibri"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r h="694944">
                <a:tc>
                  <a:txBody>
                    <a:bodyPr/>
                    <a:lstStyle/>
                    <a:p>
                      <a:pPr marL="0" indent="0">
                        <a:buNone/>
                      </a:pPr>
                      <a:r>
                        <a:rPr lang="en-US" sz="950" b="1" dirty="0">
                          <a:solidFill>
                            <a:srgbClr val="1B2A4A"/>
                          </a:solidFill>
                          <a:latin typeface="Trebuchet MS" pitchFamily="34" charset="0"/>
                          <a:ea typeface="Trebuchet MS" pitchFamily="34" charset="-122"/>
                          <a:cs typeface="Trebuchet MS" pitchFamily="34" charset="-120"/>
                        </a:rPr>
                        <a:t>Consolidate + trace</a:t>
                      </a:r>
                      <a:endParaRPr lang="en-US" sz="950" dirty="0">
                        <a:latin typeface="Trebuchet MS" charset="0"/>
                        <a:ea typeface="Trebuchet MS" charset="0"/>
                        <a:cs typeface="Trebuchet MS"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buNone/>
                      </a:pPr>
                      <a:r>
                        <a:rPr lang="en-US" sz="900" dirty="0">
                          <a:solidFill>
                            <a:srgbClr val="33415C"/>
                          </a:solidFill>
                          <a:latin typeface="Consolas" pitchFamily="34" charset="0"/>
                          <a:ea typeface="Consolas" pitchFamily="34" charset="-122"/>
                          <a:cs typeface="Consolas" pitchFamily="34" charset="-120"/>
                        </a:rPr>
                        <a:t>“Merge real + synthetic into ONE persona. For every attribute, cite source and tag [REAL]/[AI]. Real overrides synthetic on conflict.”</a:t>
                      </a:r>
                      <a:endParaRPr lang="en-US" sz="900" dirty="0">
                        <a:latin typeface="Consolas" charset="0"/>
                        <a:ea typeface="Consolas" charset="0"/>
                        <a:cs typeface="Consolas"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tc>
                  <a:txBody>
                    <a:bodyPr/>
                    <a:lstStyle/>
                    <a:p>
                      <a:pPr marL="0" indent="0">
                        <a:buNone/>
                      </a:pPr>
                      <a:r>
                        <a:rPr lang="en-US" sz="900" dirty="0">
                          <a:solidFill>
                            <a:srgbClr val="55617A"/>
                          </a:solidFill>
                          <a:latin typeface="Calibri" pitchFamily="34" charset="0"/>
                          <a:ea typeface="Calibri" pitchFamily="34" charset="-122"/>
                          <a:cs typeface="Calibri" pitchFamily="34" charset="-120"/>
                        </a:rPr>
                        <a:t>Per-attribute traceability + precedence rule → an auditable persona with a clean evidence chain.</a:t>
                      </a:r>
                      <a:endParaRPr lang="en-US" sz="900" dirty="0">
                        <a:latin typeface="Calibri" charset="0"/>
                        <a:ea typeface="Calibri" charset="0"/>
                        <a:cs typeface="Calibri" charset="0"/>
                      </a:endParaRPr>
                    </a:p>
                  </a:txBody>
                  <a:tcPr marL="88900" marR="88900" marT="38100" marB="38100" anchor="ctr">
                    <a:lnL w="12700" cap="flat" cmpd="sng" algn="ctr">
                      <a:solidFill>
                        <a:srgbClr val="E6E4F0"/>
                      </a:solidFill>
                      <a:prstDash val="solid"/>
                      <a:round/>
                      <a:headEnd type="none" w="med" len="med"/>
                      <a:tailEnd type="none" w="med" len="med"/>
                    </a:lnL>
                    <a:lnR w="12700" cap="flat" cmpd="sng" algn="ctr">
                      <a:solidFill>
                        <a:srgbClr val="E6E4F0"/>
                      </a:solidFill>
                      <a:prstDash val="solid"/>
                      <a:round/>
                      <a:headEnd type="none" w="med" len="med"/>
                      <a:tailEnd type="none" w="med" len="med"/>
                    </a:lnR>
                    <a:lnT w="12700" cap="flat" cmpd="sng" algn="ctr">
                      <a:solidFill>
                        <a:srgbClr val="E6E4F0"/>
                      </a:solidFill>
                      <a:prstDash val="solid"/>
                      <a:round/>
                      <a:headEnd type="none" w="med" len="med"/>
                      <a:tailEnd type="none" w="med" len="med"/>
                    </a:lnT>
                    <a:lnB w="12700" cap="flat" cmpd="sng" algn="ctr">
                      <a:solidFill>
                        <a:srgbClr val="E6E4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 7"/>
          <p:cNvSpPr/>
          <p:nvPr/>
        </p:nvSpPr>
        <p:spPr>
          <a:xfrm>
            <a:off x="566928" y="6089904"/>
            <a:ext cx="11057839" cy="310896"/>
          </a:xfrm>
          <a:prstGeom prst="rect">
            <a:avLst/>
          </a:prstGeom>
          <a:noFill/>
          <a:ln/>
        </p:spPr>
        <p:txBody>
          <a:bodyPr wrap="square" lIns="0" tIns="0" rIns="0" bIns="0" rtlCol="0" anchor="t"/>
          <a:lstStyle/>
          <a:p>
            <a:pPr marL="0" indent="0">
              <a:buNone/>
            </a:pPr>
            <a:r>
              <a:rPr lang="en-US" sz="1000" b="1" i="1" dirty="0">
                <a:solidFill>
                  <a:srgbClr val="2A4068"/>
                </a:solidFill>
                <a:latin typeface="Calibri" pitchFamily="34" charset="0"/>
                <a:ea typeface="Calibri" pitchFamily="34" charset="-122"/>
                <a:cs typeface="Calibri" pitchFamily="34" charset="-120"/>
              </a:rPr>
              <a:t>Net effect:  </a:t>
            </a:r>
            <a:r>
              <a:rPr lang="en-US" sz="1000" i="1" dirty="0">
                <a:solidFill>
                  <a:srgbClr val="55617A"/>
                </a:solidFill>
                <a:latin typeface="Calibri" pitchFamily="34" charset="0"/>
                <a:ea typeface="Calibri" pitchFamily="34" charset="-122"/>
                <a:cs typeface="Calibri" pitchFamily="34" charset="-120"/>
              </a:rPr>
              <a:t>tagging + the “real overrides synthetic” precedence rule turned generative AI into a disciplined research multiplier — every persona attribute is defensible back to a source.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64008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Meet the CertiBuy Team</a:t>
            </a:r>
            <a:endParaRPr lang="en-US" sz="3400" dirty="0"/>
          </a:p>
        </p:txBody>
      </p:sp>
      <p:sp>
        <p:nvSpPr>
          <p:cNvPr id="3" name="Text 1"/>
          <p:cNvSpPr/>
          <p:nvPr/>
        </p:nvSpPr>
        <p:spPr>
          <a:xfrm>
            <a:off x="585216" y="987552"/>
            <a:ext cx="10972800" cy="329184"/>
          </a:xfrm>
          <a:prstGeom prst="rect">
            <a:avLst/>
          </a:prstGeom>
          <a:noFill/>
          <a:ln/>
        </p:spPr>
        <p:txBody>
          <a:bodyPr wrap="square" lIns="0" tIns="0" rIns="0" bIns="0" rtlCol="0" anchor="ctr"/>
          <a:lstStyle/>
          <a:p>
            <a:pPr marL="0" indent="0">
              <a:buNone/>
            </a:pPr>
            <a:r>
              <a:rPr lang="en-US" sz="1250" b="1" kern="0" spc="100" dirty="0">
                <a:solidFill>
                  <a:srgbClr val="2DC6B7"/>
                </a:solidFill>
                <a:latin typeface="Trebuchet MS" pitchFamily="34" charset="0"/>
                <a:ea typeface="Trebuchet MS" pitchFamily="34" charset="-122"/>
                <a:cs typeface="Trebuchet MS" pitchFamily="34" charset="-120"/>
              </a:rPr>
              <a:t>IITM Pravartak  ·  AI-Powered Product Design &amp; Management  ·  Batch 2  ·  Group 16</a:t>
            </a:r>
            <a:endParaRPr lang="en-US" sz="1250" dirty="0"/>
          </a:p>
        </p:txBody>
      </p:sp>
      <p:sp>
        <p:nvSpPr>
          <p:cNvPr id="4" name="Shape 2"/>
          <p:cNvSpPr/>
          <p:nvPr/>
        </p:nvSpPr>
        <p:spPr>
          <a:xfrm>
            <a:off x="283464" y="1481328"/>
            <a:ext cx="2157984" cy="4526280"/>
          </a:xfrm>
          <a:prstGeom prst="rect">
            <a:avLst/>
          </a:prstGeom>
          <a:solidFill>
            <a:srgbClr val="22335A"/>
          </a:solidFill>
          <a:ln/>
        </p:spPr>
        <p:txBody>
          <a:bodyPr/>
          <a:lstStyle/>
          <a:p>
            <a:endParaRPr lang="en-IN"/>
          </a:p>
        </p:txBody>
      </p:sp>
      <p:sp>
        <p:nvSpPr>
          <p:cNvPr id="5" name="Shape 3"/>
          <p:cNvSpPr/>
          <p:nvPr/>
        </p:nvSpPr>
        <p:spPr>
          <a:xfrm>
            <a:off x="283464" y="1481328"/>
            <a:ext cx="2157984" cy="100584"/>
          </a:xfrm>
          <a:prstGeom prst="rect">
            <a:avLst/>
          </a:prstGeom>
          <a:solidFill>
            <a:srgbClr val="2DC6B7"/>
          </a:solidFill>
          <a:ln/>
        </p:spPr>
        <p:txBody>
          <a:bodyPr/>
          <a:lstStyle/>
          <a:p>
            <a:endParaRPr lang="en-IN"/>
          </a:p>
        </p:txBody>
      </p:sp>
      <p:sp>
        <p:nvSpPr>
          <p:cNvPr id="6" name="Shape 4"/>
          <p:cNvSpPr/>
          <p:nvPr/>
        </p:nvSpPr>
        <p:spPr>
          <a:xfrm>
            <a:off x="694944" y="1792224"/>
            <a:ext cx="1335024" cy="1335024"/>
          </a:xfrm>
          <a:prstGeom prst="ellipse">
            <a:avLst/>
          </a:prstGeom>
          <a:solidFill>
            <a:srgbClr val="2DC6B7"/>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749808" y="1847088"/>
            <a:ext cx="1225296" cy="1225296"/>
          </a:xfrm>
          <a:prstGeom prst="ellipse">
            <a:avLst/>
          </a:prstGeom>
        </p:spPr>
      </p:pic>
      <p:sp>
        <p:nvSpPr>
          <p:cNvPr id="8" name="Text 5"/>
          <p:cNvSpPr/>
          <p:nvPr/>
        </p:nvSpPr>
        <p:spPr>
          <a:xfrm>
            <a:off x="374904" y="3264408"/>
            <a:ext cx="1975104" cy="384048"/>
          </a:xfrm>
          <a:prstGeom prst="rect">
            <a:avLst/>
          </a:prstGeom>
          <a:noFill/>
          <a:ln/>
        </p:spPr>
        <p:txBody>
          <a:bodyPr wrap="square" lIns="0" tIns="0" rIns="0" bIns="0" rtlCol="0" anchor="ctr"/>
          <a:lstStyle/>
          <a:p>
            <a:pPr marL="0" indent="0" algn="ctr">
              <a:lnSpc>
                <a:spcPct val="95000"/>
              </a:lnSpc>
              <a:buNone/>
            </a:pPr>
            <a:r>
              <a:rPr lang="en-US" sz="1600" b="1" dirty="0">
                <a:solidFill>
                  <a:srgbClr val="FFFFFF"/>
                </a:solidFill>
                <a:latin typeface="Georgia" pitchFamily="34" charset="0"/>
                <a:ea typeface="Georgia" pitchFamily="34" charset="-122"/>
                <a:cs typeface="Georgia" pitchFamily="34" charset="-120"/>
              </a:rPr>
              <a:t>Jithendran Nair</a:t>
            </a:r>
            <a:endParaRPr lang="en-US" sz="1600" dirty="0"/>
          </a:p>
        </p:txBody>
      </p:sp>
      <p:sp>
        <p:nvSpPr>
          <p:cNvPr id="9" name="Text 6"/>
          <p:cNvSpPr/>
          <p:nvPr/>
        </p:nvSpPr>
        <p:spPr>
          <a:xfrm>
            <a:off x="374904" y="3621024"/>
            <a:ext cx="1975104" cy="219456"/>
          </a:xfrm>
          <a:prstGeom prst="rect">
            <a:avLst/>
          </a:prstGeom>
          <a:noFill/>
          <a:ln/>
        </p:spPr>
        <p:txBody>
          <a:bodyPr wrap="square" lIns="0" tIns="0" rIns="0" bIns="0" rtlCol="0" anchor="ctr"/>
          <a:lstStyle/>
          <a:p>
            <a:pPr marL="0" indent="0" algn="ctr">
              <a:buNone/>
            </a:pPr>
            <a:r>
              <a:rPr lang="en-US" sz="1050" i="1" dirty="0">
                <a:solidFill>
                  <a:srgbClr val="9FB0C8"/>
                </a:solidFill>
                <a:latin typeface="Calibri" pitchFamily="34" charset="0"/>
                <a:ea typeface="Calibri" pitchFamily="34" charset="-122"/>
                <a:cs typeface="Calibri" pitchFamily="34" charset="-120"/>
              </a:rPr>
              <a:t>"Jeetu"</a:t>
            </a:r>
            <a:endParaRPr lang="en-US" sz="1050" dirty="0"/>
          </a:p>
        </p:txBody>
      </p:sp>
      <p:sp>
        <p:nvSpPr>
          <p:cNvPr id="10" name="Text 7"/>
          <p:cNvSpPr/>
          <p:nvPr/>
        </p:nvSpPr>
        <p:spPr>
          <a:xfrm>
            <a:off x="411480" y="3813048"/>
            <a:ext cx="1901952" cy="365760"/>
          </a:xfrm>
          <a:prstGeom prst="rect">
            <a:avLst/>
          </a:prstGeom>
          <a:noFill/>
          <a:ln/>
        </p:spPr>
        <p:txBody>
          <a:bodyPr wrap="square" lIns="0" tIns="0" rIns="0" bIns="0" rtlCol="0" anchor="ctr"/>
          <a:lstStyle/>
          <a:p>
            <a:pPr marL="0" indent="0" algn="ctr">
              <a:lnSpc>
                <a:spcPct val="95000"/>
              </a:lnSpc>
              <a:buNone/>
            </a:pPr>
            <a:r>
              <a:rPr lang="en-US" sz="1100" b="1" dirty="0">
                <a:solidFill>
                  <a:srgbClr val="2DC6B7"/>
                </a:solidFill>
                <a:latin typeface="Calibri" pitchFamily="34" charset="0"/>
                <a:ea typeface="Calibri" pitchFamily="34" charset="-122"/>
                <a:cs typeface="Calibri" pitchFamily="34" charset="-120"/>
              </a:rPr>
              <a:t>Product Vision &amp; Strategy</a:t>
            </a:r>
            <a:endParaRPr lang="en-US" sz="1100" dirty="0"/>
          </a:p>
        </p:txBody>
      </p:sp>
      <p:sp>
        <p:nvSpPr>
          <p:cNvPr id="11" name="Shape 8"/>
          <p:cNvSpPr/>
          <p:nvPr/>
        </p:nvSpPr>
        <p:spPr>
          <a:xfrm>
            <a:off x="740664" y="4206240"/>
            <a:ext cx="1243584" cy="0"/>
          </a:xfrm>
          <a:prstGeom prst="line">
            <a:avLst/>
          </a:prstGeom>
          <a:noFill/>
          <a:ln w="12700">
            <a:solidFill>
              <a:srgbClr val="3A4E72"/>
            </a:solidFill>
            <a:prstDash val="solid"/>
          </a:ln>
        </p:spPr>
        <p:txBody>
          <a:bodyPr/>
          <a:lstStyle/>
          <a:p>
            <a:endParaRPr lang="en-IN"/>
          </a:p>
        </p:txBody>
      </p:sp>
      <p:sp>
        <p:nvSpPr>
          <p:cNvPr id="12" name="Text 9"/>
          <p:cNvSpPr/>
          <p:nvPr/>
        </p:nvSpPr>
        <p:spPr>
          <a:xfrm>
            <a:off x="393192" y="4279392"/>
            <a:ext cx="1938528" cy="960120"/>
          </a:xfrm>
          <a:prstGeom prst="rect">
            <a:avLst/>
          </a:prstGeom>
          <a:noFill/>
          <a:ln/>
        </p:spPr>
        <p:txBody>
          <a:bodyPr wrap="square" lIns="0" tIns="0" rIns="0" bIns="0" rtlCol="0" anchor="t"/>
          <a:lstStyle/>
          <a:p>
            <a:pPr marL="0" indent="0" algn="ctr">
              <a:lnSpc>
                <a:spcPct val="103000"/>
              </a:lnSpc>
              <a:buNone/>
            </a:pPr>
            <a:r>
              <a:rPr lang="en-US" sz="870" dirty="0">
                <a:solidFill>
                  <a:srgbClr val="C6D2E4"/>
                </a:solidFill>
                <a:latin typeface="Calibri" pitchFamily="34" charset="0"/>
                <a:ea typeface="Calibri" pitchFamily="34" charset="-122"/>
                <a:cs typeface="Calibri" pitchFamily="34" charset="-120"/>
              </a:rPr>
              <a:t>Brought the initial product idea &amp; facilitated meetings · shared past PM experience to support the team · drove prompt engineering &amp; AI quality for polished output.</a:t>
            </a:r>
            <a:endParaRPr lang="en-US" sz="870" dirty="0"/>
          </a:p>
        </p:txBody>
      </p:sp>
      <p:sp>
        <p:nvSpPr>
          <p:cNvPr id="13" name="Text 10"/>
          <p:cNvSpPr/>
          <p:nvPr/>
        </p:nvSpPr>
        <p:spPr>
          <a:xfrm>
            <a:off x="374904" y="5184648"/>
            <a:ext cx="1975104" cy="548640"/>
          </a:xfrm>
          <a:prstGeom prst="rect">
            <a:avLst/>
          </a:prstGeom>
          <a:noFill/>
          <a:ln/>
        </p:spPr>
        <p:txBody>
          <a:bodyPr wrap="square" lIns="0" tIns="0" rIns="0" bIns="0" rtlCol="0" anchor="t"/>
          <a:lstStyle/>
          <a:p>
            <a:pPr marL="0" indent="0" algn="ctr">
              <a:lnSpc>
                <a:spcPct val="100000"/>
              </a:lnSpc>
              <a:buNone/>
            </a:pPr>
            <a:r>
              <a:rPr lang="en-US" sz="760" dirty="0">
                <a:solidFill>
                  <a:srgbClr val="9FB0C8"/>
                </a:solidFill>
                <a:latin typeface="Calibri" pitchFamily="34" charset="0"/>
                <a:ea typeface="Calibri" pitchFamily="34" charset="-122"/>
                <a:cs typeface="Calibri" pitchFamily="34" charset="-120"/>
              </a:rPr>
              <a:t>Sr Product Owner @ T-Mobile &amp; McKinsey &amp; Co · 15+ yrs in product &amp; telecom · Professional Scrum Product Owner II</a:t>
            </a:r>
            <a:endParaRPr lang="en-US" sz="760" dirty="0"/>
          </a:p>
        </p:txBody>
      </p:sp>
      <p:sp>
        <p:nvSpPr>
          <p:cNvPr id="14" name="Text 11"/>
          <p:cNvSpPr/>
          <p:nvPr/>
        </p:nvSpPr>
        <p:spPr>
          <a:xfrm>
            <a:off x="338328" y="5641848"/>
            <a:ext cx="2048256" cy="329184"/>
          </a:xfrm>
          <a:prstGeom prst="rect">
            <a:avLst/>
          </a:prstGeom>
          <a:noFill/>
          <a:ln/>
        </p:spPr>
        <p:txBody>
          <a:bodyPr wrap="square" lIns="0" tIns="0" rIns="0" bIns="0" rtlCol="0" anchor="t"/>
          <a:lstStyle/>
          <a:p>
            <a:pPr marL="0" indent="0" algn="ctr">
              <a:lnSpc>
                <a:spcPct val="100000"/>
              </a:lnSpc>
              <a:buNone/>
            </a:pPr>
            <a:r>
              <a:rPr lang="en-US" sz="760" u="sng" dirty="0">
                <a:solidFill>
                  <a:srgbClr val="2DC6B7"/>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www.linkedin.com/in/jithendran-nair-puravankara/</a:t>
            </a:r>
            <a:endParaRPr lang="en-US" sz="760" dirty="0"/>
          </a:p>
          <a:p>
            <a:pPr marL="0" indent="0" algn="ctr">
              <a:lnSpc>
                <a:spcPct val="100000"/>
              </a:lnSpc>
              <a:buNone/>
            </a:pPr>
            <a:r>
              <a:rPr lang="en-US" sz="760" dirty="0">
                <a:solidFill>
                  <a:srgbClr val="9FB0C8"/>
                </a:solidFill>
                <a:latin typeface="Calibri" pitchFamily="34" charset="0"/>
                <a:ea typeface="Calibri" pitchFamily="34" charset="-122"/>
                <a:cs typeface="Calibri" pitchFamily="34" charset="-120"/>
              </a:rPr>
              <a:t>nairjeetu@gmail.com</a:t>
            </a:r>
            <a:endParaRPr lang="en-US" sz="760" dirty="0"/>
          </a:p>
        </p:txBody>
      </p:sp>
      <p:sp>
        <p:nvSpPr>
          <p:cNvPr id="15" name="Shape 12"/>
          <p:cNvSpPr/>
          <p:nvPr/>
        </p:nvSpPr>
        <p:spPr>
          <a:xfrm>
            <a:off x="2642616" y="1481328"/>
            <a:ext cx="2157984" cy="4526280"/>
          </a:xfrm>
          <a:prstGeom prst="rect">
            <a:avLst/>
          </a:prstGeom>
          <a:solidFill>
            <a:srgbClr val="22335A"/>
          </a:solidFill>
          <a:ln/>
        </p:spPr>
        <p:txBody>
          <a:bodyPr/>
          <a:lstStyle/>
          <a:p>
            <a:endParaRPr lang="en-IN"/>
          </a:p>
        </p:txBody>
      </p:sp>
      <p:sp>
        <p:nvSpPr>
          <p:cNvPr id="16" name="Shape 13"/>
          <p:cNvSpPr/>
          <p:nvPr/>
        </p:nvSpPr>
        <p:spPr>
          <a:xfrm>
            <a:off x="2642616" y="1481328"/>
            <a:ext cx="2157984" cy="100584"/>
          </a:xfrm>
          <a:prstGeom prst="rect">
            <a:avLst/>
          </a:prstGeom>
          <a:solidFill>
            <a:srgbClr val="2DC6B7"/>
          </a:solidFill>
          <a:ln/>
        </p:spPr>
        <p:txBody>
          <a:bodyPr/>
          <a:lstStyle/>
          <a:p>
            <a:endParaRPr lang="en-IN"/>
          </a:p>
        </p:txBody>
      </p:sp>
      <p:sp>
        <p:nvSpPr>
          <p:cNvPr id="17" name="Shape 14"/>
          <p:cNvSpPr/>
          <p:nvPr/>
        </p:nvSpPr>
        <p:spPr>
          <a:xfrm>
            <a:off x="3054096" y="1792224"/>
            <a:ext cx="1335024" cy="1335024"/>
          </a:xfrm>
          <a:prstGeom prst="ellipse">
            <a:avLst/>
          </a:prstGeom>
          <a:solidFill>
            <a:srgbClr val="2DC6B7"/>
          </a:solidFill>
          <a:ln/>
        </p:spPr>
        <p:txBody>
          <a:bodyPr/>
          <a:lstStyle/>
          <a:p>
            <a:endParaRPr lang="en-IN"/>
          </a:p>
        </p:txBody>
      </p:sp>
      <p:pic>
        <p:nvPicPr>
          <p:cNvPr id="18" name="Image 1" descr="preencoded.png"/>
          <p:cNvPicPr>
            <a:picLocks noChangeAspect="1"/>
          </p:cNvPicPr>
          <p:nvPr/>
        </p:nvPicPr>
        <p:blipFill>
          <a:blip r:embed="rId5"/>
          <a:stretch>
            <a:fillRect/>
          </a:stretch>
        </p:blipFill>
        <p:spPr>
          <a:xfrm>
            <a:off x="3108960" y="1847088"/>
            <a:ext cx="1225296" cy="1225296"/>
          </a:xfrm>
          <a:prstGeom prst="ellipse">
            <a:avLst/>
          </a:prstGeom>
        </p:spPr>
      </p:pic>
      <p:sp>
        <p:nvSpPr>
          <p:cNvPr id="19" name="Text 15"/>
          <p:cNvSpPr/>
          <p:nvPr/>
        </p:nvSpPr>
        <p:spPr>
          <a:xfrm>
            <a:off x="2734056" y="3264408"/>
            <a:ext cx="1975104" cy="384048"/>
          </a:xfrm>
          <a:prstGeom prst="rect">
            <a:avLst/>
          </a:prstGeom>
          <a:noFill/>
          <a:ln/>
        </p:spPr>
        <p:txBody>
          <a:bodyPr wrap="square" lIns="0" tIns="0" rIns="0" bIns="0" rtlCol="0" anchor="ctr"/>
          <a:lstStyle/>
          <a:p>
            <a:pPr marL="0" indent="0" algn="ctr">
              <a:lnSpc>
                <a:spcPct val="95000"/>
              </a:lnSpc>
              <a:buNone/>
            </a:pPr>
            <a:r>
              <a:rPr lang="en-US" sz="1600" b="1" dirty="0">
                <a:solidFill>
                  <a:srgbClr val="FFFFFF"/>
                </a:solidFill>
                <a:latin typeface="Georgia" pitchFamily="34" charset="0"/>
                <a:ea typeface="Georgia" pitchFamily="34" charset="-122"/>
                <a:cs typeface="Georgia" pitchFamily="34" charset="-120"/>
              </a:rPr>
              <a:t>Jyoti Rawat</a:t>
            </a:r>
            <a:endParaRPr lang="en-US" sz="1600" dirty="0"/>
          </a:p>
        </p:txBody>
      </p:sp>
      <p:sp>
        <p:nvSpPr>
          <p:cNvPr id="20" name="Text 16"/>
          <p:cNvSpPr/>
          <p:nvPr/>
        </p:nvSpPr>
        <p:spPr>
          <a:xfrm>
            <a:off x="2734056" y="3621024"/>
            <a:ext cx="1975104" cy="219456"/>
          </a:xfrm>
          <a:prstGeom prst="rect">
            <a:avLst/>
          </a:prstGeom>
          <a:noFill/>
          <a:ln/>
        </p:spPr>
        <p:txBody>
          <a:bodyPr wrap="square" lIns="0" tIns="0" rIns="0" bIns="0" rtlCol="0" anchor="ctr"/>
          <a:lstStyle/>
          <a:p>
            <a:pPr marL="0" indent="0" algn="ctr">
              <a:buNone/>
            </a:pPr>
            <a:r>
              <a:rPr lang="en-US" sz="1050" i="1" dirty="0">
                <a:solidFill>
                  <a:srgbClr val="9FB0C8"/>
                </a:solidFill>
                <a:latin typeface="Calibri" pitchFamily="34" charset="0"/>
                <a:ea typeface="Calibri" pitchFamily="34" charset="-122"/>
                <a:cs typeface="Calibri" pitchFamily="34" charset="-120"/>
              </a:rPr>
              <a:t>"Jyoti"</a:t>
            </a:r>
            <a:endParaRPr lang="en-US" sz="1050" dirty="0"/>
          </a:p>
        </p:txBody>
      </p:sp>
      <p:sp>
        <p:nvSpPr>
          <p:cNvPr id="21" name="Text 17"/>
          <p:cNvSpPr/>
          <p:nvPr/>
        </p:nvSpPr>
        <p:spPr>
          <a:xfrm>
            <a:off x="2770632" y="3813048"/>
            <a:ext cx="1901952" cy="365760"/>
          </a:xfrm>
          <a:prstGeom prst="rect">
            <a:avLst/>
          </a:prstGeom>
          <a:noFill/>
          <a:ln/>
        </p:spPr>
        <p:txBody>
          <a:bodyPr wrap="square" lIns="0" tIns="0" rIns="0" bIns="0" rtlCol="0" anchor="ctr"/>
          <a:lstStyle/>
          <a:p>
            <a:pPr marL="0" indent="0" algn="ctr">
              <a:lnSpc>
                <a:spcPct val="95000"/>
              </a:lnSpc>
              <a:buNone/>
            </a:pPr>
            <a:r>
              <a:rPr lang="en-US" sz="1100" b="1" dirty="0">
                <a:solidFill>
                  <a:srgbClr val="2DC6B7"/>
                </a:solidFill>
                <a:latin typeface="Calibri" pitchFamily="34" charset="0"/>
                <a:ea typeface="Calibri" pitchFamily="34" charset="-122"/>
                <a:cs typeface="Calibri" pitchFamily="34" charset="-120"/>
              </a:rPr>
              <a:t>Research, Persona &amp; Delivery</a:t>
            </a:r>
            <a:endParaRPr lang="en-US" sz="1100" dirty="0"/>
          </a:p>
        </p:txBody>
      </p:sp>
      <p:sp>
        <p:nvSpPr>
          <p:cNvPr id="22" name="Shape 18"/>
          <p:cNvSpPr/>
          <p:nvPr/>
        </p:nvSpPr>
        <p:spPr>
          <a:xfrm>
            <a:off x="3099816" y="4206240"/>
            <a:ext cx="1243584" cy="0"/>
          </a:xfrm>
          <a:prstGeom prst="line">
            <a:avLst/>
          </a:prstGeom>
          <a:noFill/>
          <a:ln w="12700">
            <a:solidFill>
              <a:srgbClr val="3A4E72"/>
            </a:solidFill>
            <a:prstDash val="solid"/>
          </a:ln>
        </p:spPr>
        <p:txBody>
          <a:bodyPr/>
          <a:lstStyle/>
          <a:p>
            <a:endParaRPr lang="en-IN"/>
          </a:p>
        </p:txBody>
      </p:sp>
      <p:sp>
        <p:nvSpPr>
          <p:cNvPr id="23" name="Text 19"/>
          <p:cNvSpPr/>
          <p:nvPr/>
        </p:nvSpPr>
        <p:spPr>
          <a:xfrm>
            <a:off x="2752344" y="4279392"/>
            <a:ext cx="1938528" cy="960120"/>
          </a:xfrm>
          <a:prstGeom prst="rect">
            <a:avLst/>
          </a:prstGeom>
          <a:noFill/>
          <a:ln/>
        </p:spPr>
        <p:txBody>
          <a:bodyPr wrap="square" lIns="0" tIns="0" rIns="0" bIns="0" rtlCol="0" anchor="t"/>
          <a:lstStyle/>
          <a:p>
            <a:pPr marL="0" indent="0" algn="ctr">
              <a:lnSpc>
                <a:spcPct val="103000"/>
              </a:lnSpc>
              <a:buNone/>
            </a:pPr>
            <a:r>
              <a:rPr lang="en-US" sz="870" dirty="0">
                <a:solidFill>
                  <a:srgbClr val="C6D2E4"/>
                </a:solidFill>
                <a:latin typeface="Calibri" pitchFamily="34" charset="0"/>
                <a:ea typeface="Calibri" pitchFamily="34" charset="-122"/>
                <a:cs typeface="Calibri" pitchFamily="34" charset="-120"/>
              </a:rPr>
              <a:t>Set the pace for the team, initiated the core work and timelines, owned key documentation from persona to final deck, led the Rishabh interview, and supported an on-time delivery.</a:t>
            </a:r>
            <a:endParaRPr lang="en-US" sz="870" dirty="0"/>
          </a:p>
        </p:txBody>
      </p:sp>
      <p:sp>
        <p:nvSpPr>
          <p:cNvPr id="24" name="Text 20"/>
          <p:cNvSpPr/>
          <p:nvPr/>
        </p:nvSpPr>
        <p:spPr>
          <a:xfrm>
            <a:off x="2734056" y="5184648"/>
            <a:ext cx="1975104" cy="548640"/>
          </a:xfrm>
          <a:prstGeom prst="rect">
            <a:avLst/>
          </a:prstGeom>
          <a:noFill/>
          <a:ln/>
        </p:spPr>
        <p:txBody>
          <a:bodyPr wrap="square" lIns="0" tIns="0" rIns="0" bIns="0" rtlCol="0" anchor="t"/>
          <a:lstStyle/>
          <a:p>
            <a:pPr marL="0" indent="0" algn="ctr">
              <a:lnSpc>
                <a:spcPct val="100000"/>
              </a:lnSpc>
              <a:buNone/>
            </a:pPr>
            <a:r>
              <a:rPr lang="en-US" sz="760" dirty="0">
                <a:solidFill>
                  <a:srgbClr val="9FB0C8"/>
                </a:solidFill>
                <a:latin typeface="Calibri" pitchFamily="34" charset="0"/>
                <a:ea typeface="Calibri" pitchFamily="34" charset="-122"/>
                <a:cs typeface="Calibri" pitchFamily="34" charset="-120"/>
              </a:rPr>
              <a:t>Sr Associate – Staffing &amp; Resource Mgmt @ Alvarez &amp; Marsal · 6+ yrs in workforce strategy across A&amp;M, ADL &amp; EY GBS</a:t>
            </a:r>
            <a:endParaRPr lang="en-US" sz="760" dirty="0"/>
          </a:p>
        </p:txBody>
      </p:sp>
      <p:sp>
        <p:nvSpPr>
          <p:cNvPr id="25" name="Text 21"/>
          <p:cNvSpPr/>
          <p:nvPr/>
        </p:nvSpPr>
        <p:spPr>
          <a:xfrm>
            <a:off x="2697480" y="5641848"/>
            <a:ext cx="2048256" cy="329184"/>
          </a:xfrm>
          <a:prstGeom prst="rect">
            <a:avLst/>
          </a:prstGeom>
          <a:noFill/>
          <a:ln/>
        </p:spPr>
        <p:txBody>
          <a:bodyPr wrap="square" lIns="0" tIns="0" rIns="0" bIns="0" rtlCol="0" anchor="t"/>
          <a:lstStyle/>
          <a:p>
            <a:pPr marL="0" indent="0" algn="ctr">
              <a:lnSpc>
                <a:spcPct val="100000"/>
              </a:lnSpc>
              <a:buNone/>
            </a:pPr>
            <a:r>
              <a:rPr lang="en-US" sz="760" u="sng" dirty="0">
                <a:solidFill>
                  <a:srgbClr val="2DC6B7"/>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www.linkedin.com/in/jyoti-rawat-9a2754168</a:t>
            </a:r>
            <a:endParaRPr lang="en-US" sz="760" dirty="0"/>
          </a:p>
          <a:p>
            <a:pPr marL="0" indent="0" algn="ctr">
              <a:lnSpc>
                <a:spcPct val="100000"/>
              </a:lnSpc>
              <a:buNone/>
            </a:pPr>
            <a:r>
              <a:rPr lang="en-US" sz="760" dirty="0">
                <a:solidFill>
                  <a:srgbClr val="9FB0C8"/>
                </a:solidFill>
                <a:latin typeface="Calibri" pitchFamily="34" charset="0"/>
                <a:ea typeface="Calibri" pitchFamily="34" charset="-122"/>
                <a:cs typeface="Calibri" pitchFamily="34" charset="-120"/>
              </a:rPr>
              <a:t>jyotirawat.ecti@gmail.com</a:t>
            </a:r>
            <a:endParaRPr lang="en-US" sz="760" dirty="0"/>
          </a:p>
        </p:txBody>
      </p:sp>
      <p:sp>
        <p:nvSpPr>
          <p:cNvPr id="26" name="Shape 22"/>
          <p:cNvSpPr/>
          <p:nvPr/>
        </p:nvSpPr>
        <p:spPr>
          <a:xfrm>
            <a:off x="5001768" y="1481328"/>
            <a:ext cx="2157984" cy="4526280"/>
          </a:xfrm>
          <a:prstGeom prst="rect">
            <a:avLst/>
          </a:prstGeom>
          <a:solidFill>
            <a:srgbClr val="22335A"/>
          </a:solidFill>
          <a:ln/>
        </p:spPr>
        <p:txBody>
          <a:bodyPr/>
          <a:lstStyle/>
          <a:p>
            <a:endParaRPr lang="en-IN"/>
          </a:p>
        </p:txBody>
      </p:sp>
      <p:sp>
        <p:nvSpPr>
          <p:cNvPr id="27" name="Shape 23"/>
          <p:cNvSpPr/>
          <p:nvPr/>
        </p:nvSpPr>
        <p:spPr>
          <a:xfrm>
            <a:off x="5001768" y="1481328"/>
            <a:ext cx="2157984" cy="100584"/>
          </a:xfrm>
          <a:prstGeom prst="rect">
            <a:avLst/>
          </a:prstGeom>
          <a:solidFill>
            <a:srgbClr val="2DC6B7"/>
          </a:solidFill>
          <a:ln/>
        </p:spPr>
        <p:txBody>
          <a:bodyPr/>
          <a:lstStyle/>
          <a:p>
            <a:endParaRPr lang="en-IN"/>
          </a:p>
        </p:txBody>
      </p:sp>
      <p:sp>
        <p:nvSpPr>
          <p:cNvPr id="38" name="Shape 34"/>
          <p:cNvSpPr/>
          <p:nvPr/>
        </p:nvSpPr>
        <p:spPr>
          <a:xfrm>
            <a:off x="7360920" y="1481328"/>
            <a:ext cx="2157984" cy="4526280"/>
          </a:xfrm>
          <a:prstGeom prst="rect">
            <a:avLst/>
          </a:prstGeom>
          <a:solidFill>
            <a:srgbClr val="22335A"/>
          </a:solidFill>
          <a:ln/>
        </p:spPr>
        <p:txBody>
          <a:bodyPr/>
          <a:lstStyle/>
          <a:p>
            <a:endParaRPr lang="en-IN"/>
          </a:p>
        </p:txBody>
      </p:sp>
      <p:sp>
        <p:nvSpPr>
          <p:cNvPr id="39" name="Shape 35"/>
          <p:cNvSpPr/>
          <p:nvPr/>
        </p:nvSpPr>
        <p:spPr>
          <a:xfrm>
            <a:off x="7360920" y="1481328"/>
            <a:ext cx="2157984" cy="100584"/>
          </a:xfrm>
          <a:prstGeom prst="rect">
            <a:avLst/>
          </a:prstGeom>
          <a:solidFill>
            <a:srgbClr val="2DC6B7"/>
          </a:solidFill>
          <a:ln/>
        </p:spPr>
        <p:txBody>
          <a:bodyPr/>
          <a:lstStyle/>
          <a:p>
            <a:endParaRPr lang="en-IN"/>
          </a:p>
        </p:txBody>
      </p:sp>
      <p:sp>
        <p:nvSpPr>
          <p:cNvPr id="50" name="Shape 46"/>
          <p:cNvSpPr/>
          <p:nvPr/>
        </p:nvSpPr>
        <p:spPr>
          <a:xfrm>
            <a:off x="9720072" y="1481328"/>
            <a:ext cx="2157984" cy="4526280"/>
          </a:xfrm>
          <a:prstGeom prst="rect">
            <a:avLst/>
          </a:prstGeom>
          <a:solidFill>
            <a:srgbClr val="22335A"/>
          </a:solidFill>
          <a:ln/>
        </p:spPr>
        <p:txBody>
          <a:bodyPr/>
          <a:lstStyle/>
          <a:p>
            <a:endParaRPr lang="en-IN"/>
          </a:p>
        </p:txBody>
      </p:sp>
      <p:sp>
        <p:nvSpPr>
          <p:cNvPr id="51" name="Shape 47"/>
          <p:cNvSpPr/>
          <p:nvPr/>
        </p:nvSpPr>
        <p:spPr>
          <a:xfrm>
            <a:off x="9720072" y="1481328"/>
            <a:ext cx="2157984" cy="100584"/>
          </a:xfrm>
          <a:prstGeom prst="rect">
            <a:avLst/>
          </a:prstGeom>
          <a:solidFill>
            <a:srgbClr val="2DC6B7"/>
          </a:solidFill>
          <a:ln/>
        </p:spPr>
        <p:txBody>
          <a:bodyPr/>
          <a:lstStyle/>
          <a:p>
            <a:endParaRPr lang="en-IN"/>
          </a:p>
        </p:txBody>
      </p:sp>
      <p:sp>
        <p:nvSpPr>
          <p:cNvPr id="62" name="Text 58"/>
          <p:cNvSpPr/>
          <p:nvPr/>
        </p:nvSpPr>
        <p:spPr>
          <a:xfrm>
            <a:off x="219456" y="6272784"/>
            <a:ext cx="8229600" cy="365760"/>
          </a:xfrm>
          <a:prstGeom prst="rect">
            <a:avLst/>
          </a:prstGeom>
          <a:noFill/>
          <a:ln/>
        </p:spPr>
        <p:txBody>
          <a:bodyPr wrap="square" lIns="0" tIns="0" rIns="0" bIns="0" rtlCol="0" anchor="ctr"/>
          <a:lstStyle/>
          <a:p>
            <a:pPr marL="0" indent="0">
              <a:buNone/>
            </a:pPr>
            <a:r>
              <a:rPr lang="en-US" sz="1200" i="1" dirty="0">
                <a:solidFill>
                  <a:srgbClr val="7E8FAC"/>
                </a:solidFill>
                <a:latin typeface="Calibri" pitchFamily="34" charset="0"/>
                <a:ea typeface="Calibri" pitchFamily="34" charset="-122"/>
                <a:cs typeface="Calibri" pitchFamily="34" charset="-120"/>
              </a:rPr>
              <a:t>Five members · One product story</a:t>
            </a:r>
            <a:endParaRPr lang="en-US" sz="1200" dirty="0"/>
          </a:p>
        </p:txBody>
      </p:sp>
      <p:sp>
        <p:nvSpPr>
          <p:cNvPr id="63" name="Text 26">
            <a:extLst>
              <a:ext uri="{FF2B5EF4-FFF2-40B4-BE49-F238E27FC236}">
                <a16:creationId xmlns:a16="http://schemas.microsoft.com/office/drawing/2014/main" id="{19A544E6-7C2E-860F-BB70-06A8239842D5}"/>
              </a:ext>
            </a:extLst>
          </p:cNvPr>
          <p:cNvSpPr/>
          <p:nvPr/>
        </p:nvSpPr>
        <p:spPr>
          <a:xfrm>
            <a:off x="5093208" y="3198508"/>
            <a:ext cx="1975104" cy="420624"/>
          </a:xfrm>
          <a:prstGeom prst="rect">
            <a:avLst/>
          </a:prstGeom>
          <a:noFill/>
          <a:ln/>
        </p:spPr>
        <p:txBody>
          <a:bodyPr wrap="square" lIns="0" tIns="0" rIns="0" bIns="0" rtlCol="0" anchor="ctr"/>
          <a:lstStyle/>
          <a:p>
            <a:pPr algn="ctr">
              <a:lnSpc>
                <a:spcPct val="95000"/>
              </a:lnSpc>
            </a:pPr>
            <a:r>
              <a:rPr lang="en-US" sz="1600" b="1" dirty="0">
                <a:solidFill>
                  <a:srgbClr val="FFFFFF"/>
                </a:solidFill>
                <a:latin typeface="Georgia" pitchFamily="34" charset="0"/>
              </a:rPr>
              <a:t>Tanya Dayal</a:t>
            </a:r>
          </a:p>
        </p:txBody>
      </p:sp>
      <p:sp>
        <p:nvSpPr>
          <p:cNvPr id="64" name="Text 38">
            <a:extLst>
              <a:ext uri="{FF2B5EF4-FFF2-40B4-BE49-F238E27FC236}">
                <a16:creationId xmlns:a16="http://schemas.microsoft.com/office/drawing/2014/main" id="{72357087-06F7-156A-7A9A-E3AF54147C07}"/>
              </a:ext>
            </a:extLst>
          </p:cNvPr>
          <p:cNvSpPr/>
          <p:nvPr/>
        </p:nvSpPr>
        <p:spPr>
          <a:xfrm>
            <a:off x="7452360" y="3198508"/>
            <a:ext cx="1975104" cy="420624"/>
          </a:xfrm>
          <a:prstGeom prst="rect">
            <a:avLst/>
          </a:prstGeom>
          <a:noFill/>
          <a:ln/>
        </p:spPr>
        <p:txBody>
          <a:bodyPr wrap="square" lIns="0" tIns="0" rIns="0" bIns="0" rtlCol="0" anchor="ctr"/>
          <a:lstStyle/>
          <a:p>
            <a:pPr algn="ctr">
              <a:lnSpc>
                <a:spcPct val="95000"/>
              </a:lnSpc>
            </a:pPr>
            <a:r>
              <a:rPr lang="en-US" sz="1600" b="1" dirty="0">
                <a:solidFill>
                  <a:srgbClr val="FFFFFF"/>
                </a:solidFill>
                <a:latin typeface="Georgia" pitchFamily="34" charset="0"/>
              </a:rPr>
              <a:t>Kiran</a:t>
            </a:r>
          </a:p>
        </p:txBody>
      </p:sp>
      <p:sp>
        <p:nvSpPr>
          <p:cNvPr id="65" name="Text 50">
            <a:extLst>
              <a:ext uri="{FF2B5EF4-FFF2-40B4-BE49-F238E27FC236}">
                <a16:creationId xmlns:a16="http://schemas.microsoft.com/office/drawing/2014/main" id="{8166BC9D-7FBA-907D-C740-0C09A441ED80}"/>
              </a:ext>
            </a:extLst>
          </p:cNvPr>
          <p:cNvSpPr/>
          <p:nvPr/>
        </p:nvSpPr>
        <p:spPr>
          <a:xfrm>
            <a:off x="9811512" y="3198508"/>
            <a:ext cx="1975104" cy="420624"/>
          </a:xfrm>
          <a:prstGeom prst="rect">
            <a:avLst/>
          </a:prstGeom>
          <a:noFill/>
          <a:ln/>
        </p:spPr>
        <p:txBody>
          <a:bodyPr wrap="square" lIns="0" tIns="0" rIns="0" bIns="0" rtlCol="0" anchor="ctr"/>
          <a:lstStyle/>
          <a:p>
            <a:pPr algn="ctr">
              <a:lnSpc>
                <a:spcPct val="95000"/>
              </a:lnSpc>
            </a:pPr>
            <a:r>
              <a:rPr lang="en-US" sz="1600" b="1" dirty="0">
                <a:solidFill>
                  <a:srgbClr val="FFFFFF"/>
                </a:solidFill>
                <a:latin typeface="Georgia" pitchFamily="34" charset="0"/>
              </a:rPr>
              <a:t>Pariza Mohan</a:t>
            </a:r>
          </a:p>
        </p:txBody>
      </p:sp>
      <p:sp>
        <p:nvSpPr>
          <p:cNvPr id="66" name="Shape 14">
            <a:extLst>
              <a:ext uri="{FF2B5EF4-FFF2-40B4-BE49-F238E27FC236}">
                <a16:creationId xmlns:a16="http://schemas.microsoft.com/office/drawing/2014/main" id="{7D6463AE-D2C5-56C9-7C6E-D7F394960FE1}"/>
              </a:ext>
            </a:extLst>
          </p:cNvPr>
          <p:cNvSpPr/>
          <p:nvPr/>
        </p:nvSpPr>
        <p:spPr>
          <a:xfrm>
            <a:off x="5402550" y="1801953"/>
            <a:ext cx="1344168" cy="1344168"/>
          </a:xfrm>
          <a:prstGeom prst="ellipse">
            <a:avLst/>
          </a:prstGeom>
          <a:solidFill>
            <a:srgbClr val="2DC6B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Picture 66">
            <a:extLst>
              <a:ext uri="{FF2B5EF4-FFF2-40B4-BE49-F238E27FC236}">
                <a16:creationId xmlns:a16="http://schemas.microsoft.com/office/drawing/2014/main" id="{BD867DCB-66CD-F500-647E-727D1E14CC24}"/>
              </a:ext>
              <a:ext uri="{C183D7F6-B498-43B3-948B-1728B52AA6E4}">
                <adec:decorative xmlns:adec="http://schemas.microsoft.com/office/drawing/2017/decorative" val="1"/>
              </a:ext>
            </a:extLst>
          </p:cNvPr>
          <p:cNvPicPr>
            <a:picLocks noChangeAspect="1"/>
          </p:cNvPicPr>
          <p:nvPr/>
        </p:nvPicPr>
        <p:blipFill>
          <a:blip r:embed="rId7"/>
          <a:srcRect l="7892" t="11159" r="7225" b="21741"/>
          <a:stretch>
            <a:fillRect/>
          </a:stretch>
        </p:blipFill>
        <p:spPr>
          <a:xfrm>
            <a:off x="5462321" y="1879236"/>
            <a:ext cx="1224626" cy="1209665"/>
          </a:xfrm>
          <a:prstGeom prst="ellipse">
            <a:avLst/>
          </a:prstGeom>
        </p:spPr>
      </p:pic>
      <p:sp>
        <p:nvSpPr>
          <p:cNvPr id="68" name="Shape 14">
            <a:extLst>
              <a:ext uri="{FF2B5EF4-FFF2-40B4-BE49-F238E27FC236}">
                <a16:creationId xmlns:a16="http://schemas.microsoft.com/office/drawing/2014/main" id="{CFBA7A8A-75D1-C2EF-2DB2-6D3A2FF40653}"/>
              </a:ext>
            </a:extLst>
          </p:cNvPr>
          <p:cNvSpPr/>
          <p:nvPr/>
        </p:nvSpPr>
        <p:spPr>
          <a:xfrm>
            <a:off x="7767828" y="1794904"/>
            <a:ext cx="1344168" cy="1344168"/>
          </a:xfrm>
          <a:prstGeom prst="ellipse">
            <a:avLst/>
          </a:prstGeom>
          <a:solidFill>
            <a:srgbClr val="2DC6B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14">
            <a:extLst>
              <a:ext uri="{FF2B5EF4-FFF2-40B4-BE49-F238E27FC236}">
                <a16:creationId xmlns:a16="http://schemas.microsoft.com/office/drawing/2014/main" id="{34AF2118-37D2-0E3B-EB26-2D8971AB31E9}"/>
              </a:ext>
            </a:extLst>
          </p:cNvPr>
          <p:cNvSpPr/>
          <p:nvPr/>
        </p:nvSpPr>
        <p:spPr>
          <a:xfrm>
            <a:off x="10126980" y="1799131"/>
            <a:ext cx="1344168" cy="1344168"/>
          </a:xfrm>
          <a:prstGeom prst="ellipse">
            <a:avLst/>
          </a:prstGeom>
          <a:solidFill>
            <a:srgbClr val="2DC6B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0" name="Picture 69">
            <a:extLst>
              <a:ext uri="{FF2B5EF4-FFF2-40B4-BE49-F238E27FC236}">
                <a16:creationId xmlns:a16="http://schemas.microsoft.com/office/drawing/2014/main" id="{2937897F-7212-25BE-168B-EFEB76A27506}"/>
              </a:ext>
              <a:ext uri="{C183D7F6-B498-43B3-948B-1728B52AA6E4}">
                <adec:decorative xmlns:adec="http://schemas.microsoft.com/office/drawing/2017/decorative" val="1"/>
              </a:ext>
            </a:extLst>
          </p:cNvPr>
          <p:cNvPicPr>
            <a:picLocks noChangeAspect="1"/>
          </p:cNvPicPr>
          <p:nvPr/>
        </p:nvPicPr>
        <p:blipFill>
          <a:blip r:embed="rId8"/>
          <a:srcRect l="16019" t="1468" r="13428" b="42488"/>
          <a:stretch>
            <a:fillRect/>
          </a:stretch>
        </p:blipFill>
        <p:spPr>
          <a:xfrm>
            <a:off x="7841415" y="1857817"/>
            <a:ext cx="1196993" cy="1222524"/>
          </a:xfrm>
          <a:prstGeom prst="ellipse">
            <a:avLst/>
          </a:prstGeom>
        </p:spPr>
      </p:pic>
      <p:pic>
        <p:nvPicPr>
          <p:cNvPr id="71" name="Picture 70">
            <a:extLst>
              <a:ext uri="{FF2B5EF4-FFF2-40B4-BE49-F238E27FC236}">
                <a16:creationId xmlns:a16="http://schemas.microsoft.com/office/drawing/2014/main" id="{D6B96784-30FD-30B2-77CD-755927C1D4D4}"/>
              </a:ext>
            </a:extLst>
          </p:cNvPr>
          <p:cNvPicPr>
            <a:picLocks noChangeAspect="1"/>
          </p:cNvPicPr>
          <p:nvPr/>
        </p:nvPicPr>
        <p:blipFill>
          <a:blip r:embed="rId9"/>
          <a:srcRect r="17850" b="33733"/>
          <a:stretch>
            <a:fillRect/>
          </a:stretch>
        </p:blipFill>
        <p:spPr>
          <a:xfrm>
            <a:off x="10179921" y="1885705"/>
            <a:ext cx="1238284" cy="1196727"/>
          </a:xfrm>
          <a:prstGeom prst="ellipse">
            <a:avLst/>
          </a:prstGeom>
        </p:spPr>
      </p:pic>
      <p:sp>
        <p:nvSpPr>
          <p:cNvPr id="72" name="Text 28">
            <a:extLst>
              <a:ext uri="{FF2B5EF4-FFF2-40B4-BE49-F238E27FC236}">
                <a16:creationId xmlns:a16="http://schemas.microsoft.com/office/drawing/2014/main" id="{EA415D8F-0279-ADE8-9302-7D4D71C58CF9}"/>
              </a:ext>
            </a:extLst>
          </p:cNvPr>
          <p:cNvSpPr/>
          <p:nvPr/>
        </p:nvSpPr>
        <p:spPr>
          <a:xfrm>
            <a:off x="5018593" y="3901447"/>
            <a:ext cx="2124334" cy="213286"/>
          </a:xfrm>
          <a:prstGeom prst="rect">
            <a:avLst/>
          </a:prstGeom>
          <a:noFill/>
          <a:ln/>
        </p:spPr>
        <p:txBody>
          <a:bodyPr wrap="square" lIns="0" tIns="0" rIns="0" bIns="0" rtlCol="0" anchor="ctr"/>
          <a:lstStyle/>
          <a:p>
            <a:pPr algn="ctr">
              <a:lnSpc>
                <a:spcPct val="95000"/>
              </a:lnSpc>
            </a:pPr>
            <a:r>
              <a:rPr lang="en-US" sz="1100" b="1" dirty="0">
                <a:solidFill>
                  <a:srgbClr val="2DC6B7"/>
                </a:solidFill>
                <a:latin typeface="Calibri" pitchFamily="34" charset="0"/>
                <a:ea typeface="Calibri" pitchFamily="34" charset="-122"/>
                <a:cs typeface="Calibri" pitchFamily="34" charset="-120"/>
              </a:rPr>
              <a:t>Workflow, Validation &amp; Research</a:t>
            </a:r>
          </a:p>
        </p:txBody>
      </p:sp>
      <p:sp>
        <p:nvSpPr>
          <p:cNvPr id="73" name="Text 30">
            <a:extLst>
              <a:ext uri="{FF2B5EF4-FFF2-40B4-BE49-F238E27FC236}">
                <a16:creationId xmlns:a16="http://schemas.microsoft.com/office/drawing/2014/main" id="{E67E3776-8A79-3311-FB6F-18DD60424C01}"/>
              </a:ext>
            </a:extLst>
          </p:cNvPr>
          <p:cNvSpPr/>
          <p:nvPr/>
        </p:nvSpPr>
        <p:spPr>
          <a:xfrm>
            <a:off x="5012467" y="4315177"/>
            <a:ext cx="2124334" cy="425828"/>
          </a:xfrm>
          <a:prstGeom prst="rect">
            <a:avLst/>
          </a:prstGeom>
          <a:noFill/>
          <a:ln/>
        </p:spPr>
        <p:txBody>
          <a:bodyPr wrap="square" lIns="0" tIns="0" rIns="0" bIns="0" rtlCol="0" anchor="t"/>
          <a:lstStyle/>
          <a:p>
            <a:pPr algn="ctr">
              <a:lnSpc>
                <a:spcPct val="103000"/>
              </a:lnSpc>
            </a:pPr>
            <a:r>
              <a:rPr lang="en-US" sz="870" dirty="0">
                <a:solidFill>
                  <a:srgbClr val="C6D2E4"/>
                </a:solidFill>
                <a:latin typeface="Calibri" pitchFamily="34" charset="0"/>
                <a:ea typeface="Calibri" pitchFamily="34" charset="-122"/>
                <a:cs typeface="Calibri" pitchFamily="34" charset="-120"/>
              </a:rPr>
              <a:t>Contributed to shaping the project vision and defining the workflow. Conducted two user interviews to identify key challenges and pain points, and supported document validation activities, providing valuable inputs throughout the process.</a:t>
            </a:r>
          </a:p>
        </p:txBody>
      </p:sp>
      <p:sp>
        <p:nvSpPr>
          <p:cNvPr id="74" name="Text 32">
            <a:extLst>
              <a:ext uri="{FF2B5EF4-FFF2-40B4-BE49-F238E27FC236}">
                <a16:creationId xmlns:a16="http://schemas.microsoft.com/office/drawing/2014/main" id="{AD022CC7-5F1A-8B97-0779-2C44E0A55D79}"/>
              </a:ext>
            </a:extLst>
          </p:cNvPr>
          <p:cNvSpPr/>
          <p:nvPr/>
        </p:nvSpPr>
        <p:spPr>
          <a:xfrm>
            <a:off x="5202936" y="5198044"/>
            <a:ext cx="1755648" cy="298603"/>
          </a:xfrm>
          <a:prstGeom prst="rect">
            <a:avLst/>
          </a:prstGeom>
          <a:noFill/>
          <a:ln/>
        </p:spPr>
        <p:txBody>
          <a:bodyPr wrap="square" lIns="0" tIns="0" rIns="0" bIns="0" rtlCol="0" anchor="t"/>
          <a:lstStyle/>
          <a:p>
            <a:pPr algn="ctr"/>
            <a:r>
              <a:rPr lang="en-US" sz="760" dirty="0">
                <a:solidFill>
                  <a:srgbClr val="9FB0C8"/>
                </a:solidFill>
                <a:latin typeface="Calibri" pitchFamily="34" charset="0"/>
                <a:ea typeface="Calibri" pitchFamily="34" charset="-122"/>
                <a:cs typeface="Calibri" pitchFamily="34" charset="-120"/>
              </a:rPr>
              <a:t>Sr. Software </a:t>
            </a:r>
            <a:r>
              <a:rPr lang="en-US" sz="760" dirty="0" err="1">
                <a:solidFill>
                  <a:srgbClr val="9FB0C8"/>
                </a:solidFill>
                <a:latin typeface="Calibri" pitchFamily="34" charset="0"/>
                <a:ea typeface="Calibri" pitchFamily="34" charset="-122"/>
                <a:cs typeface="Calibri" pitchFamily="34" charset="-120"/>
              </a:rPr>
              <a:t>engg</a:t>
            </a:r>
            <a:r>
              <a:rPr lang="en-US" sz="760" dirty="0">
                <a:solidFill>
                  <a:srgbClr val="9FB0C8"/>
                </a:solidFill>
                <a:latin typeface="Calibri" pitchFamily="34" charset="0"/>
                <a:ea typeface="Calibri" pitchFamily="34" charset="-122"/>
                <a:cs typeface="Calibri" pitchFamily="34" charset="-120"/>
              </a:rPr>
              <a:t> at </a:t>
            </a:r>
            <a:r>
              <a:rPr lang="en-US" sz="760" dirty="0" err="1">
                <a:solidFill>
                  <a:srgbClr val="9FB0C8"/>
                </a:solidFill>
                <a:latin typeface="Calibri" pitchFamily="34" charset="0"/>
                <a:ea typeface="Calibri" pitchFamily="34" charset="-122"/>
                <a:cs typeface="Calibri" pitchFamily="34" charset="-120"/>
              </a:rPr>
              <a:t>HSBCWith</a:t>
            </a:r>
            <a:r>
              <a:rPr lang="en-US" sz="760" dirty="0">
                <a:solidFill>
                  <a:srgbClr val="9FB0C8"/>
                </a:solidFill>
                <a:latin typeface="Calibri" pitchFamily="34" charset="0"/>
                <a:ea typeface="Calibri" pitchFamily="34" charset="-122"/>
                <a:cs typeface="Calibri" pitchFamily="34" charset="-120"/>
              </a:rPr>
              <a:t> 7+ years of experience in data analytics, </a:t>
            </a:r>
            <a:r>
              <a:rPr lang="en-US" sz="760" dirty="0" err="1">
                <a:solidFill>
                  <a:srgbClr val="9FB0C8"/>
                </a:solidFill>
                <a:latin typeface="Calibri" pitchFamily="34" charset="0"/>
                <a:ea typeface="Calibri" pitchFamily="34" charset="-122"/>
                <a:cs typeface="Calibri" pitchFamily="34" charset="-120"/>
              </a:rPr>
              <a:t>devops</a:t>
            </a:r>
            <a:r>
              <a:rPr lang="en-US" sz="760" dirty="0">
                <a:solidFill>
                  <a:srgbClr val="9FB0C8"/>
                </a:solidFill>
                <a:latin typeface="Calibri" pitchFamily="34" charset="0"/>
                <a:ea typeface="Calibri" pitchFamily="34" charset="-122"/>
                <a:cs typeface="Calibri" pitchFamily="34" charset="-120"/>
              </a:rPr>
              <a:t> and Bi tooling</a:t>
            </a:r>
          </a:p>
        </p:txBody>
      </p:sp>
      <p:sp>
        <p:nvSpPr>
          <p:cNvPr id="75" name="Text 33">
            <a:extLst>
              <a:ext uri="{FF2B5EF4-FFF2-40B4-BE49-F238E27FC236}">
                <a16:creationId xmlns:a16="http://schemas.microsoft.com/office/drawing/2014/main" id="{82C73F10-5BE6-5ECC-87D4-102440D7A1FD}"/>
              </a:ext>
            </a:extLst>
          </p:cNvPr>
          <p:cNvSpPr/>
          <p:nvPr/>
        </p:nvSpPr>
        <p:spPr>
          <a:xfrm>
            <a:off x="4994453" y="5565015"/>
            <a:ext cx="2172614" cy="441795"/>
          </a:xfrm>
          <a:prstGeom prst="rect">
            <a:avLst/>
          </a:prstGeom>
          <a:noFill/>
          <a:ln/>
        </p:spPr>
        <p:txBody>
          <a:bodyPr wrap="square" lIns="0" tIns="0" rIns="0" bIns="0" rtlCol="0" anchor="ctr"/>
          <a:lstStyle/>
          <a:p>
            <a:pPr marL="0" marR="0" lvl="0" indent="0" algn="ctr" defTabSz="914400" rtl="0" eaLnBrk="1" fontAlgn="auto" latinLnBrk="0" hangingPunct="1">
              <a:lnSpc>
                <a:spcPct val="104000"/>
              </a:lnSpc>
              <a:spcBef>
                <a:spcPts val="0"/>
              </a:spcBef>
              <a:spcAft>
                <a:spcPts val="0"/>
              </a:spcAft>
              <a:buClrTx/>
              <a:buSzTx/>
              <a:buFontTx/>
              <a:buNone/>
              <a:tabLst/>
              <a:defRPr/>
            </a:pPr>
            <a:r>
              <a:rPr kumimoji="0" lang="en-IN" sz="760" b="0" i="0" u="sng" strike="noStrike" kern="1200" cap="none" spc="0" normalizeH="0" baseline="0" noProof="0" dirty="0">
                <a:ln>
                  <a:noFill/>
                </a:ln>
                <a:solidFill>
                  <a:srgbClr val="2DC6B7"/>
                </a:solidFill>
                <a:effectLst/>
                <a:uLnTx/>
                <a:uFillTx/>
                <a:latin typeface="Calibri" pitchFamily="34" charset="0"/>
                <a:ea typeface="Calibri" pitchFamily="34" charset="-122"/>
                <a:cs typeface="Calibri" pitchFamily="34" charset="-120"/>
                <a:hlinkClick r:id="rId10" tooltip="https://www.linkedin.com/in/tanya-dayal-364540168">
                  <a:extLst>
                    <a:ext uri="{A12FA001-AC4F-418D-AE19-62706E023703}">
                      <ahyp:hlinkClr xmlns:ahyp="http://schemas.microsoft.com/office/drawing/2018/hyperlinkcolor" val="tx"/>
                    </a:ext>
                  </a:extLst>
                </a:hlinkClick>
              </a:rPr>
              <a:t>https://www.linkedin.com/in/tanya-dayal-364540168</a:t>
            </a:r>
            <a:endParaRPr kumimoji="0" lang="en-US" sz="760" b="0" i="0" u="sng" strike="noStrike" kern="1200" cap="none" spc="0" normalizeH="0" baseline="0" noProof="0" dirty="0">
              <a:ln>
                <a:noFill/>
              </a:ln>
              <a:solidFill>
                <a:srgbClr val="2DC6B7"/>
              </a:solidFill>
              <a:effectLst/>
              <a:uLnTx/>
              <a:uFillTx/>
              <a:latin typeface="Calibri" pitchFamily="34" charset="0"/>
              <a:ea typeface="Calibri" pitchFamily="34" charset="-122"/>
              <a:cs typeface="Calibri" pitchFamily="34" charset="-120"/>
            </a:endParaRPr>
          </a:p>
          <a:p>
            <a:pPr marL="0" marR="0" lvl="0" indent="0" algn="ctr" defTabSz="914400" rtl="0" eaLnBrk="1" fontAlgn="auto" latinLnBrk="0" hangingPunct="1">
              <a:lnSpc>
                <a:spcPct val="104000"/>
              </a:lnSpc>
              <a:spcBef>
                <a:spcPts val="0"/>
              </a:spcBef>
              <a:spcAft>
                <a:spcPts val="0"/>
              </a:spcAft>
              <a:buClrTx/>
              <a:buSzTx/>
              <a:buFontTx/>
              <a:buNone/>
              <a:tabLst/>
              <a:defRPr/>
            </a:pPr>
            <a:r>
              <a:rPr kumimoji="0" lang="en-US" sz="760" b="0" i="0" u="none" strike="noStrike" kern="1200" cap="none" spc="0" normalizeH="0" baseline="0" noProof="0" dirty="0">
                <a:ln>
                  <a:noFill/>
                </a:ln>
                <a:solidFill>
                  <a:srgbClr val="7A879E"/>
                </a:solidFill>
                <a:effectLst/>
                <a:uLnTx/>
                <a:uFillTx/>
                <a:latin typeface="Calibri" pitchFamily="34" charset="0"/>
                <a:ea typeface="Calibri" pitchFamily="34" charset="-122"/>
                <a:cs typeface="Calibri" pitchFamily="34" charset="-120"/>
              </a:rPr>
              <a:t>tanyadayal255@gmail.com</a:t>
            </a:r>
          </a:p>
        </p:txBody>
      </p:sp>
      <p:sp>
        <p:nvSpPr>
          <p:cNvPr id="76" name="Text 40">
            <a:extLst>
              <a:ext uri="{FF2B5EF4-FFF2-40B4-BE49-F238E27FC236}">
                <a16:creationId xmlns:a16="http://schemas.microsoft.com/office/drawing/2014/main" id="{43D10DDA-93C1-E0E0-8C5E-AA1E6B635B5F}"/>
              </a:ext>
            </a:extLst>
          </p:cNvPr>
          <p:cNvSpPr/>
          <p:nvPr/>
        </p:nvSpPr>
        <p:spPr>
          <a:xfrm>
            <a:off x="7474306" y="3882157"/>
            <a:ext cx="1931213" cy="234615"/>
          </a:xfrm>
          <a:prstGeom prst="rect">
            <a:avLst/>
          </a:prstGeom>
          <a:noFill/>
          <a:ln>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IN" sz="1100" b="1" i="0" u="none" strike="noStrike" kern="1200" cap="none" spc="0" normalizeH="0" baseline="0" noProof="0" dirty="0">
                <a:ln>
                  <a:noFill/>
                </a:ln>
                <a:solidFill>
                  <a:srgbClr val="2DC6B7"/>
                </a:solidFill>
                <a:effectLst/>
                <a:uLnTx/>
                <a:uFillTx/>
                <a:latin typeface="Calibri" pitchFamily="34" charset="0"/>
                <a:ea typeface="Calibri" pitchFamily="34" charset="-122"/>
                <a:cs typeface="Calibri" pitchFamily="34" charset="-120"/>
              </a:rPr>
              <a:t>Interview Prep &amp; Team Support</a:t>
            </a:r>
            <a:endParaRPr kumimoji="0" lang="en-US" sz="1100" b="1" i="0" u="none" strike="noStrike" kern="1200" cap="none" spc="0" normalizeH="0" baseline="0" noProof="0" dirty="0">
              <a:ln>
                <a:noFill/>
              </a:ln>
              <a:solidFill>
                <a:srgbClr val="2DC6B7"/>
              </a:solidFill>
              <a:effectLst/>
              <a:uLnTx/>
              <a:uFillTx/>
              <a:latin typeface="Calibri" pitchFamily="34" charset="0"/>
              <a:ea typeface="Calibri" pitchFamily="34" charset="-122"/>
              <a:cs typeface="Calibri" pitchFamily="34" charset="-120"/>
            </a:endParaRPr>
          </a:p>
        </p:txBody>
      </p:sp>
      <p:sp>
        <p:nvSpPr>
          <p:cNvPr id="77" name="Text 42">
            <a:extLst>
              <a:ext uri="{FF2B5EF4-FFF2-40B4-BE49-F238E27FC236}">
                <a16:creationId xmlns:a16="http://schemas.microsoft.com/office/drawing/2014/main" id="{1B4667CE-014E-DFA7-B48F-3C5453D3A241}"/>
              </a:ext>
            </a:extLst>
          </p:cNvPr>
          <p:cNvSpPr/>
          <p:nvPr/>
        </p:nvSpPr>
        <p:spPr>
          <a:xfrm>
            <a:off x="7383234" y="4323388"/>
            <a:ext cx="2124334" cy="685800"/>
          </a:xfrm>
          <a:prstGeom prst="rect">
            <a:avLst/>
          </a:prstGeom>
          <a:noFill/>
          <a:ln/>
        </p:spPr>
        <p:txBody>
          <a:bodyPr wrap="square" lIns="0" tIns="0" rIns="0" bIns="0" rtlCol="0" anchor="t"/>
          <a:lstStyle/>
          <a:p>
            <a:pPr algn="ctr">
              <a:lnSpc>
                <a:spcPct val="103000"/>
              </a:lnSpc>
            </a:pPr>
            <a:r>
              <a:rPr lang="en-US" sz="870" dirty="0">
                <a:solidFill>
                  <a:srgbClr val="C6D2E4"/>
                </a:solidFill>
                <a:latin typeface="Calibri" pitchFamily="34" charset="0"/>
                <a:ea typeface="Calibri" pitchFamily="34" charset="-122"/>
                <a:cs typeface="Calibri" pitchFamily="34" charset="-120"/>
              </a:rPr>
              <a:t>Supported interview question preparation and execution activities for the assignment. Contributed through discussions and reviews. Assisted in coordinating deliverables, validating outputs, and supporting the team in driving the assignment toward completion.</a:t>
            </a:r>
          </a:p>
        </p:txBody>
      </p:sp>
      <p:sp>
        <p:nvSpPr>
          <p:cNvPr id="78" name="Text 44">
            <a:extLst>
              <a:ext uri="{FF2B5EF4-FFF2-40B4-BE49-F238E27FC236}">
                <a16:creationId xmlns:a16="http://schemas.microsoft.com/office/drawing/2014/main" id="{E304B3B8-05E1-5DF4-7DC8-23C95F89024D}"/>
              </a:ext>
            </a:extLst>
          </p:cNvPr>
          <p:cNvSpPr/>
          <p:nvPr/>
        </p:nvSpPr>
        <p:spPr>
          <a:xfrm>
            <a:off x="7562088" y="5243499"/>
            <a:ext cx="1755648" cy="328463"/>
          </a:xfrm>
          <a:prstGeom prst="rect">
            <a:avLst/>
          </a:prstGeom>
          <a:noFill/>
          <a:ln/>
        </p:spPr>
        <p:txBody>
          <a:bodyPr wrap="square" lIns="0" tIns="0" rIns="0" bIns="0" rtlCol="0" anchor="t"/>
          <a:lstStyle/>
          <a:p>
            <a:pPr algn="ctr"/>
            <a:r>
              <a:rPr lang="en-US" sz="760" dirty="0">
                <a:solidFill>
                  <a:srgbClr val="9FB0C8"/>
                </a:solidFill>
                <a:latin typeface="Calibri" pitchFamily="34" charset="0"/>
                <a:ea typeface="Calibri" pitchFamily="34" charset="-122"/>
                <a:cs typeface="Calibri" pitchFamily="34" charset="-120"/>
              </a:rPr>
              <a:t>Lead Engineer @ HCL · Automotive &amp; Semiconductor Design</a:t>
            </a:r>
          </a:p>
        </p:txBody>
      </p:sp>
      <p:sp>
        <p:nvSpPr>
          <p:cNvPr id="79" name="Text 45">
            <a:extLst>
              <a:ext uri="{FF2B5EF4-FFF2-40B4-BE49-F238E27FC236}">
                <a16:creationId xmlns:a16="http://schemas.microsoft.com/office/drawing/2014/main" id="{E495DA23-9D5C-5E42-97F4-972870549DBE}"/>
              </a:ext>
            </a:extLst>
          </p:cNvPr>
          <p:cNvSpPr/>
          <p:nvPr/>
        </p:nvSpPr>
        <p:spPr>
          <a:xfrm>
            <a:off x="7452360" y="5648752"/>
            <a:ext cx="1975104" cy="274320"/>
          </a:xfrm>
          <a:prstGeom prst="rect">
            <a:avLst/>
          </a:prstGeom>
          <a:noFill/>
          <a:ln/>
        </p:spPr>
        <p:txBody>
          <a:bodyPr wrap="square" lIns="0" tIns="0" rIns="0" bIns="0" rtlCol="0" anchor="ctr"/>
          <a:lstStyle/>
          <a:p>
            <a:pPr marL="0" marR="0" lvl="0" indent="0" algn="ctr" defTabSz="914400" rtl="0" eaLnBrk="1" fontAlgn="auto" latinLnBrk="0" hangingPunct="1">
              <a:lnSpc>
                <a:spcPct val="104000"/>
              </a:lnSpc>
              <a:spcBef>
                <a:spcPts val="0"/>
              </a:spcBef>
              <a:spcAft>
                <a:spcPts val="0"/>
              </a:spcAft>
              <a:buClrTx/>
              <a:buSzTx/>
              <a:buFontTx/>
              <a:buNone/>
              <a:tabLst/>
              <a:defRPr/>
            </a:pPr>
            <a:r>
              <a:rPr kumimoji="0" lang="en-IN" sz="760" b="0" i="0" u="sng" strike="noStrike" kern="1200" cap="none" spc="0" normalizeH="0" baseline="0" noProof="0" dirty="0">
                <a:ln>
                  <a:noFill/>
                </a:ln>
                <a:solidFill>
                  <a:srgbClr val="2DC6B7"/>
                </a:solidFill>
                <a:effectLst/>
                <a:uLnTx/>
                <a:uFillTx/>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linkedin.com/in/kiran-kumbar-5393a9158</a:t>
            </a:r>
            <a:endParaRPr kumimoji="0" lang="en-IN" sz="760" b="0" i="0" u="sng" strike="noStrike" kern="1200" cap="none" spc="0" normalizeH="0" baseline="0" noProof="0" dirty="0">
              <a:ln>
                <a:noFill/>
              </a:ln>
              <a:solidFill>
                <a:srgbClr val="2DC6B7"/>
              </a:solidFill>
              <a:effectLst/>
              <a:uLnTx/>
              <a:uFillTx/>
              <a:latin typeface="Calibri" pitchFamily="34" charset="0"/>
              <a:ea typeface="Calibri" pitchFamily="34" charset="-122"/>
              <a:cs typeface="Calibri" pitchFamily="34" charset="-120"/>
            </a:endParaRPr>
          </a:p>
          <a:p>
            <a:pPr marL="0" marR="0" lvl="0" indent="0" algn="ctr" defTabSz="914400" rtl="0" eaLnBrk="1" fontAlgn="auto" latinLnBrk="0" hangingPunct="1">
              <a:lnSpc>
                <a:spcPct val="104000"/>
              </a:lnSpc>
              <a:spcBef>
                <a:spcPts val="0"/>
              </a:spcBef>
              <a:spcAft>
                <a:spcPts val="0"/>
              </a:spcAft>
              <a:buClrTx/>
              <a:buSzTx/>
              <a:buFontTx/>
              <a:buNone/>
              <a:tabLst/>
              <a:defRPr/>
            </a:pPr>
            <a:r>
              <a:rPr kumimoji="0" lang="en-US" sz="760" b="0" i="0" u="none" strike="noStrike" kern="1200" cap="none" spc="0" normalizeH="0" baseline="0" noProof="0" dirty="0">
                <a:ln>
                  <a:noFill/>
                </a:ln>
                <a:solidFill>
                  <a:srgbClr val="7A879E"/>
                </a:solidFill>
                <a:effectLst/>
                <a:uLnTx/>
                <a:uFillTx/>
                <a:latin typeface="Calibri" pitchFamily="34" charset="0"/>
                <a:ea typeface="Calibri" pitchFamily="34" charset="-122"/>
                <a:cs typeface="Calibri" pitchFamily="34" charset="-120"/>
              </a:rPr>
              <a:t>kirankplr1996@gmail.com</a:t>
            </a:r>
          </a:p>
        </p:txBody>
      </p:sp>
      <p:sp>
        <p:nvSpPr>
          <p:cNvPr id="80" name="Text 40">
            <a:extLst>
              <a:ext uri="{FF2B5EF4-FFF2-40B4-BE49-F238E27FC236}">
                <a16:creationId xmlns:a16="http://schemas.microsoft.com/office/drawing/2014/main" id="{AB7079A5-95A0-C446-A457-1305CBEFC035}"/>
              </a:ext>
            </a:extLst>
          </p:cNvPr>
          <p:cNvSpPr/>
          <p:nvPr/>
        </p:nvSpPr>
        <p:spPr>
          <a:xfrm>
            <a:off x="9625599" y="3841240"/>
            <a:ext cx="2336767" cy="283885"/>
          </a:xfrm>
          <a:prstGeom prst="rect">
            <a:avLst/>
          </a:prstGeom>
          <a:noFill/>
          <a:ln>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IN" sz="1100" b="1" i="0" u="none" strike="noStrike" kern="1200" cap="none" spc="0" normalizeH="0" baseline="0" noProof="0" dirty="0">
                <a:ln>
                  <a:noFill/>
                </a:ln>
                <a:solidFill>
                  <a:srgbClr val="2DC6B7"/>
                </a:solidFill>
                <a:effectLst/>
                <a:uLnTx/>
                <a:uFillTx/>
                <a:latin typeface="Calibri" pitchFamily="34" charset="0"/>
                <a:ea typeface="Calibri" pitchFamily="34" charset="-122"/>
                <a:cs typeface="Calibri" pitchFamily="34" charset="-120"/>
              </a:rPr>
              <a:t>Interviews &amp; Persona Identification</a:t>
            </a:r>
            <a:endParaRPr kumimoji="0" lang="en-US" sz="1100" b="1" i="0" u="none" strike="noStrike" kern="1200" cap="none" spc="0" normalizeH="0" baseline="0" noProof="0" dirty="0">
              <a:ln>
                <a:noFill/>
              </a:ln>
              <a:solidFill>
                <a:srgbClr val="2DC6B7"/>
              </a:solidFill>
              <a:effectLst/>
              <a:uLnTx/>
              <a:uFillTx/>
              <a:latin typeface="Calibri" pitchFamily="34" charset="0"/>
              <a:ea typeface="Calibri" pitchFamily="34" charset="-122"/>
              <a:cs typeface="Calibri" pitchFamily="34" charset="-120"/>
            </a:endParaRPr>
          </a:p>
        </p:txBody>
      </p:sp>
      <p:sp>
        <p:nvSpPr>
          <p:cNvPr id="81" name="Text 42">
            <a:extLst>
              <a:ext uri="{FF2B5EF4-FFF2-40B4-BE49-F238E27FC236}">
                <a16:creationId xmlns:a16="http://schemas.microsoft.com/office/drawing/2014/main" id="{840DAFC0-3AE8-BCDF-2FD3-372B78F3E575}"/>
              </a:ext>
            </a:extLst>
          </p:cNvPr>
          <p:cNvSpPr/>
          <p:nvPr/>
        </p:nvSpPr>
        <p:spPr>
          <a:xfrm>
            <a:off x="9737304" y="4342118"/>
            <a:ext cx="2124334" cy="685800"/>
          </a:xfrm>
          <a:prstGeom prst="rect">
            <a:avLst/>
          </a:prstGeom>
          <a:noFill/>
          <a:ln/>
        </p:spPr>
        <p:txBody>
          <a:bodyPr wrap="square" lIns="0" tIns="0" rIns="0" bIns="0" rtlCol="0" anchor="t"/>
          <a:lstStyle/>
          <a:p>
            <a:pPr algn="ctr">
              <a:lnSpc>
                <a:spcPct val="103000"/>
              </a:lnSpc>
            </a:pPr>
            <a:r>
              <a:rPr lang="en-US" sz="870" dirty="0">
                <a:solidFill>
                  <a:srgbClr val="C6D2E4"/>
                </a:solidFill>
                <a:latin typeface="Calibri" pitchFamily="34" charset="0"/>
                <a:ea typeface="Calibri" pitchFamily="34" charset="-122"/>
                <a:cs typeface="Calibri" pitchFamily="34" charset="-120"/>
              </a:rPr>
              <a:t>Led the user interview process end-to-end, conducting structured conversations to surface real pain points and </a:t>
            </a:r>
            <a:r>
              <a:rPr lang="en-US" sz="870" dirty="0" err="1">
                <a:solidFill>
                  <a:srgbClr val="C6D2E4"/>
                </a:solidFill>
                <a:latin typeface="Calibri" pitchFamily="34" charset="0"/>
                <a:ea typeface="Calibri" pitchFamily="34" charset="-122"/>
                <a:cs typeface="Calibri" pitchFamily="34" charset="-120"/>
              </a:rPr>
              <a:t>behaviours</a:t>
            </a:r>
            <a:r>
              <a:rPr lang="en-US" sz="870" dirty="0">
                <a:solidFill>
                  <a:srgbClr val="C6D2E4"/>
                </a:solidFill>
                <a:latin typeface="Calibri" pitchFamily="34" charset="0"/>
                <a:ea typeface="Calibri" pitchFamily="34" charset="-122"/>
                <a:cs typeface="Calibri" pitchFamily="34" charset="-120"/>
              </a:rPr>
              <a:t>. Drove persona identification by </a:t>
            </a:r>
            <a:r>
              <a:rPr lang="en-US" sz="870" dirty="0" err="1">
                <a:solidFill>
                  <a:srgbClr val="C6D2E4"/>
                </a:solidFill>
                <a:latin typeface="Calibri" pitchFamily="34" charset="0"/>
                <a:ea typeface="Calibri" pitchFamily="34" charset="-122"/>
                <a:cs typeface="Calibri" pitchFamily="34" charset="-120"/>
              </a:rPr>
              <a:t>synthesising</a:t>
            </a:r>
            <a:r>
              <a:rPr lang="en-US" sz="870" dirty="0">
                <a:solidFill>
                  <a:srgbClr val="C6D2E4"/>
                </a:solidFill>
                <a:latin typeface="Calibri" pitchFamily="34" charset="0"/>
                <a:ea typeface="Calibri" pitchFamily="34" charset="-122"/>
                <a:cs typeface="Calibri" pitchFamily="34" charset="-120"/>
              </a:rPr>
              <a:t> interview findings into actionable user profiles that shaped the platform's direction..</a:t>
            </a:r>
          </a:p>
        </p:txBody>
      </p:sp>
      <p:sp>
        <p:nvSpPr>
          <p:cNvPr id="82" name="Text 44">
            <a:extLst>
              <a:ext uri="{FF2B5EF4-FFF2-40B4-BE49-F238E27FC236}">
                <a16:creationId xmlns:a16="http://schemas.microsoft.com/office/drawing/2014/main" id="{303CE9AE-D67B-E228-BE92-961668BAA219}"/>
              </a:ext>
            </a:extLst>
          </p:cNvPr>
          <p:cNvSpPr/>
          <p:nvPr/>
        </p:nvSpPr>
        <p:spPr>
          <a:xfrm>
            <a:off x="9916158" y="5244974"/>
            <a:ext cx="1755648" cy="328463"/>
          </a:xfrm>
          <a:prstGeom prst="rect">
            <a:avLst/>
          </a:prstGeom>
          <a:noFill/>
          <a:ln/>
        </p:spPr>
        <p:txBody>
          <a:bodyPr wrap="square" lIns="0" tIns="0" rIns="0" bIns="0" rtlCol="0" anchor="t"/>
          <a:lstStyle/>
          <a:p>
            <a:pPr algn="ctr"/>
            <a:r>
              <a:rPr lang="en-US" sz="760" dirty="0">
                <a:solidFill>
                  <a:srgbClr val="9FB0C8"/>
                </a:solidFill>
                <a:latin typeface="Calibri" pitchFamily="34" charset="0"/>
                <a:ea typeface="Calibri" pitchFamily="34" charset="-122"/>
                <a:cs typeface="Calibri" pitchFamily="34" charset="-120"/>
              </a:rPr>
              <a:t>Program Manager @ GMMCO · Analytics and </a:t>
            </a:r>
            <a:r>
              <a:rPr lang="en-US" sz="760" dirty="0" err="1">
                <a:solidFill>
                  <a:srgbClr val="9FB0C8"/>
                </a:solidFill>
                <a:latin typeface="Calibri" pitchFamily="34" charset="0"/>
                <a:ea typeface="Calibri" pitchFamily="34" charset="-122"/>
                <a:cs typeface="Calibri" pitchFamily="34" charset="-120"/>
              </a:rPr>
              <a:t>Digitlisation</a:t>
            </a:r>
            <a:endParaRPr lang="en-US" sz="760" dirty="0">
              <a:solidFill>
                <a:srgbClr val="9FB0C8"/>
              </a:solidFill>
              <a:latin typeface="Calibri" pitchFamily="34" charset="0"/>
              <a:ea typeface="Calibri" pitchFamily="34" charset="-122"/>
              <a:cs typeface="Calibri" pitchFamily="34" charset="-120"/>
            </a:endParaRPr>
          </a:p>
        </p:txBody>
      </p:sp>
      <p:sp>
        <p:nvSpPr>
          <p:cNvPr id="83" name="Text 45">
            <a:extLst>
              <a:ext uri="{FF2B5EF4-FFF2-40B4-BE49-F238E27FC236}">
                <a16:creationId xmlns:a16="http://schemas.microsoft.com/office/drawing/2014/main" id="{357D74FD-D2EF-59CB-4364-38E1D0A9B66B}"/>
              </a:ext>
            </a:extLst>
          </p:cNvPr>
          <p:cNvSpPr/>
          <p:nvPr/>
        </p:nvSpPr>
        <p:spPr>
          <a:xfrm>
            <a:off x="9806430" y="5658852"/>
            <a:ext cx="1975104" cy="274320"/>
          </a:xfrm>
          <a:prstGeom prst="rect">
            <a:avLst/>
          </a:prstGeom>
          <a:noFill/>
          <a:ln/>
        </p:spPr>
        <p:txBody>
          <a:bodyPr wrap="square" lIns="0" tIns="0" rIns="0" bIns="0" rtlCol="0" anchor="ctr"/>
          <a:lstStyle/>
          <a:p>
            <a:pPr marL="0" marR="0" lvl="0" indent="0" algn="ctr" defTabSz="914400" rtl="0" eaLnBrk="1" fontAlgn="auto" latinLnBrk="0" hangingPunct="1">
              <a:lnSpc>
                <a:spcPct val="104000"/>
              </a:lnSpc>
              <a:spcBef>
                <a:spcPts val="0"/>
              </a:spcBef>
              <a:spcAft>
                <a:spcPts val="0"/>
              </a:spcAft>
              <a:buClrTx/>
              <a:buSzTx/>
              <a:buFontTx/>
              <a:buNone/>
              <a:tabLst/>
              <a:defRPr/>
            </a:pPr>
            <a:r>
              <a:rPr kumimoji="0" lang="en-IN" sz="760" b="0" i="0" u="sng" strike="noStrike" kern="1200" cap="none" spc="0" normalizeH="0" baseline="0" noProof="0" dirty="0">
                <a:ln>
                  <a:noFill/>
                </a:ln>
                <a:solidFill>
                  <a:srgbClr val="2DC6B7"/>
                </a:solidFill>
                <a:effectLst/>
                <a:uLnTx/>
                <a:uFillTx/>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linkedin.com/in/</a:t>
            </a:r>
            <a:r>
              <a:rPr kumimoji="0" lang="en-IN" sz="760" b="0" i="0" u="sng" strike="noStrike" kern="1200" cap="none" spc="0" normalizeH="0" baseline="0" noProof="0" dirty="0">
                <a:ln>
                  <a:noFill/>
                </a:ln>
                <a:solidFill>
                  <a:srgbClr val="2DC6B7"/>
                </a:solidFill>
                <a:effectLst/>
                <a:uLnTx/>
                <a:uFillTx/>
                <a:latin typeface="Calibri" pitchFamily="34" charset="0"/>
                <a:ea typeface="Calibri" pitchFamily="34" charset="-122"/>
                <a:cs typeface="Calibri" pitchFamily="34" charset="-120"/>
              </a:rPr>
              <a:t>Priya-mohan</a:t>
            </a:r>
          </a:p>
          <a:p>
            <a:pPr marL="0" marR="0" lvl="0" indent="0" algn="ctr" defTabSz="914400" rtl="0" eaLnBrk="1" fontAlgn="auto" latinLnBrk="0" hangingPunct="1">
              <a:lnSpc>
                <a:spcPct val="104000"/>
              </a:lnSpc>
              <a:spcBef>
                <a:spcPts val="0"/>
              </a:spcBef>
              <a:spcAft>
                <a:spcPts val="0"/>
              </a:spcAft>
              <a:buClrTx/>
              <a:buSzTx/>
              <a:buFontTx/>
              <a:buNone/>
              <a:tabLst/>
              <a:defRPr/>
            </a:pPr>
            <a:r>
              <a:rPr kumimoji="0" lang="en-US" sz="760" b="0" i="0" u="none" strike="noStrike" kern="1200" cap="none" spc="0" normalizeH="0" baseline="0" noProof="0" dirty="0">
                <a:ln>
                  <a:noFill/>
                </a:ln>
                <a:solidFill>
                  <a:srgbClr val="7A879E"/>
                </a:solidFill>
                <a:effectLst/>
                <a:uLnTx/>
                <a:uFillTx/>
                <a:latin typeface="Calibri" pitchFamily="34" charset="0"/>
                <a:ea typeface="Calibri" pitchFamily="34" charset="-122"/>
                <a:cs typeface="Calibri" pitchFamily="34" charset="-120"/>
              </a:rPr>
              <a:t>priyasam0414@gmail.com</a:t>
            </a:r>
          </a:p>
        </p:txBody>
      </p:sp>
      <p:sp>
        <p:nvSpPr>
          <p:cNvPr id="84" name="Shape 18">
            <a:extLst>
              <a:ext uri="{FF2B5EF4-FFF2-40B4-BE49-F238E27FC236}">
                <a16:creationId xmlns:a16="http://schemas.microsoft.com/office/drawing/2014/main" id="{DB948BF6-A8F7-7022-A658-38B6E61F9A22}"/>
              </a:ext>
            </a:extLst>
          </p:cNvPr>
          <p:cNvSpPr/>
          <p:nvPr/>
        </p:nvSpPr>
        <p:spPr>
          <a:xfrm>
            <a:off x="5443318" y="4211998"/>
            <a:ext cx="1243584" cy="0"/>
          </a:xfrm>
          <a:prstGeom prst="line">
            <a:avLst/>
          </a:prstGeom>
          <a:noFill/>
          <a:ln w="12700">
            <a:solidFill>
              <a:srgbClr val="3A4E72"/>
            </a:solidFill>
            <a:prstDash val="solid"/>
          </a:ln>
        </p:spPr>
        <p:txBody>
          <a:bodyPr/>
          <a:lstStyle/>
          <a:p>
            <a:endParaRPr lang="en-IN"/>
          </a:p>
        </p:txBody>
      </p:sp>
      <p:sp>
        <p:nvSpPr>
          <p:cNvPr id="85" name="Shape 18">
            <a:extLst>
              <a:ext uri="{FF2B5EF4-FFF2-40B4-BE49-F238E27FC236}">
                <a16:creationId xmlns:a16="http://schemas.microsoft.com/office/drawing/2014/main" id="{2E76BB4C-29B4-6689-F163-FEB132D7232B}"/>
              </a:ext>
            </a:extLst>
          </p:cNvPr>
          <p:cNvSpPr/>
          <p:nvPr/>
        </p:nvSpPr>
        <p:spPr>
          <a:xfrm>
            <a:off x="7838580" y="4209130"/>
            <a:ext cx="1243584" cy="0"/>
          </a:xfrm>
          <a:prstGeom prst="line">
            <a:avLst/>
          </a:prstGeom>
          <a:noFill/>
          <a:ln w="12700">
            <a:solidFill>
              <a:srgbClr val="3A4E72"/>
            </a:solidFill>
            <a:prstDash val="solid"/>
          </a:ln>
        </p:spPr>
        <p:txBody>
          <a:bodyPr/>
          <a:lstStyle/>
          <a:p>
            <a:endParaRPr lang="en-IN"/>
          </a:p>
        </p:txBody>
      </p:sp>
      <p:sp>
        <p:nvSpPr>
          <p:cNvPr id="86" name="Shape 18">
            <a:extLst>
              <a:ext uri="{FF2B5EF4-FFF2-40B4-BE49-F238E27FC236}">
                <a16:creationId xmlns:a16="http://schemas.microsoft.com/office/drawing/2014/main" id="{184F0093-7705-3E74-6610-B4D53EA8EED3}"/>
              </a:ext>
            </a:extLst>
          </p:cNvPr>
          <p:cNvSpPr/>
          <p:nvPr/>
        </p:nvSpPr>
        <p:spPr>
          <a:xfrm>
            <a:off x="10173456" y="4206261"/>
            <a:ext cx="1243584" cy="0"/>
          </a:xfrm>
          <a:prstGeom prst="line">
            <a:avLst/>
          </a:prstGeom>
          <a:noFill/>
          <a:ln w="12700">
            <a:solidFill>
              <a:srgbClr val="3A4E72"/>
            </a:solidFill>
            <a:prstDash val="solid"/>
          </a:ln>
        </p:spPr>
        <p:txBody>
          <a:bodyPr/>
          <a:lstStyle/>
          <a:p>
            <a:endParaRPr lang="en-IN"/>
          </a:p>
        </p:txBody>
      </p:sp>
      <p:sp>
        <p:nvSpPr>
          <p:cNvPr id="87" name="Text 16">
            <a:extLst>
              <a:ext uri="{FF2B5EF4-FFF2-40B4-BE49-F238E27FC236}">
                <a16:creationId xmlns:a16="http://schemas.microsoft.com/office/drawing/2014/main" id="{6FED68CE-F85A-D1D2-A9E8-07A82C2D5F32}"/>
              </a:ext>
            </a:extLst>
          </p:cNvPr>
          <p:cNvSpPr/>
          <p:nvPr/>
        </p:nvSpPr>
        <p:spPr>
          <a:xfrm>
            <a:off x="5108448" y="3625930"/>
            <a:ext cx="1975104" cy="219456"/>
          </a:xfrm>
          <a:prstGeom prst="rect">
            <a:avLst/>
          </a:prstGeom>
          <a:noFill/>
          <a:ln/>
        </p:spPr>
        <p:txBody>
          <a:bodyPr wrap="square" lIns="0" tIns="0" rIns="0" bIns="0" rtlCol="0" anchor="ctr"/>
          <a:lstStyle/>
          <a:p>
            <a:pPr marL="0" indent="0" algn="ctr">
              <a:buNone/>
            </a:pPr>
            <a:r>
              <a:rPr lang="en-US" sz="1050" i="1" dirty="0">
                <a:solidFill>
                  <a:srgbClr val="9FB0C8"/>
                </a:solidFill>
                <a:latin typeface="Calibri" pitchFamily="34" charset="0"/>
                <a:ea typeface="Calibri" pitchFamily="34" charset="-122"/>
                <a:cs typeface="Calibri" pitchFamily="34" charset="-120"/>
              </a:rPr>
              <a:t>“Tanya"</a:t>
            </a:r>
            <a:endParaRPr lang="en-US" sz="1050" dirty="0"/>
          </a:p>
        </p:txBody>
      </p:sp>
      <p:sp>
        <p:nvSpPr>
          <p:cNvPr id="88" name="Text 16">
            <a:extLst>
              <a:ext uri="{FF2B5EF4-FFF2-40B4-BE49-F238E27FC236}">
                <a16:creationId xmlns:a16="http://schemas.microsoft.com/office/drawing/2014/main" id="{62ED1D87-6CC0-AC04-85E3-1C242E0261BF}"/>
              </a:ext>
            </a:extLst>
          </p:cNvPr>
          <p:cNvSpPr/>
          <p:nvPr/>
        </p:nvSpPr>
        <p:spPr>
          <a:xfrm>
            <a:off x="7452359" y="3622149"/>
            <a:ext cx="1975104" cy="219456"/>
          </a:xfrm>
          <a:prstGeom prst="rect">
            <a:avLst/>
          </a:prstGeom>
          <a:noFill/>
          <a:ln/>
        </p:spPr>
        <p:txBody>
          <a:bodyPr wrap="square" lIns="0" tIns="0" rIns="0" bIns="0" rtlCol="0" anchor="ctr"/>
          <a:lstStyle/>
          <a:p>
            <a:pPr marL="0" indent="0" algn="ctr">
              <a:buNone/>
            </a:pPr>
            <a:r>
              <a:rPr lang="en-US" sz="1050" i="1" dirty="0">
                <a:solidFill>
                  <a:srgbClr val="9FB0C8"/>
                </a:solidFill>
                <a:latin typeface="Calibri" pitchFamily="34" charset="0"/>
                <a:ea typeface="Calibri" pitchFamily="34" charset="-122"/>
                <a:cs typeface="Calibri" pitchFamily="34" charset="-120"/>
              </a:rPr>
              <a:t>“Kiran"</a:t>
            </a:r>
            <a:endParaRPr lang="en-US" sz="1050" dirty="0"/>
          </a:p>
        </p:txBody>
      </p:sp>
      <p:sp>
        <p:nvSpPr>
          <p:cNvPr id="89" name="Text 16">
            <a:extLst>
              <a:ext uri="{FF2B5EF4-FFF2-40B4-BE49-F238E27FC236}">
                <a16:creationId xmlns:a16="http://schemas.microsoft.com/office/drawing/2014/main" id="{88C2D2F0-DAF1-C8A0-7F16-D9CEB6BB035C}"/>
              </a:ext>
            </a:extLst>
          </p:cNvPr>
          <p:cNvSpPr/>
          <p:nvPr/>
        </p:nvSpPr>
        <p:spPr>
          <a:xfrm>
            <a:off x="9805416" y="3626955"/>
            <a:ext cx="1975104" cy="219456"/>
          </a:xfrm>
          <a:prstGeom prst="rect">
            <a:avLst/>
          </a:prstGeom>
          <a:noFill/>
          <a:ln/>
        </p:spPr>
        <p:txBody>
          <a:bodyPr wrap="square" lIns="0" tIns="0" rIns="0" bIns="0" rtlCol="0" anchor="ctr"/>
          <a:lstStyle/>
          <a:p>
            <a:pPr marL="0" indent="0" algn="ctr">
              <a:buNone/>
            </a:pPr>
            <a:r>
              <a:rPr lang="en-US" sz="1050" i="1" dirty="0">
                <a:solidFill>
                  <a:srgbClr val="9FB0C8"/>
                </a:solidFill>
                <a:latin typeface="Calibri" pitchFamily="34" charset="0"/>
                <a:ea typeface="Calibri" pitchFamily="34" charset="-122"/>
                <a:cs typeface="Calibri" pitchFamily="34" charset="-120"/>
              </a:rPr>
              <a:t>“Pariza"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2832</Words>
  <Application>Microsoft Office PowerPoint</Application>
  <PresentationFormat>Widescreen</PresentationFormat>
  <Paragraphs>422</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Consolas</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CertiBuy — Consumer Insight to Product Strategy</dc:title>
  <dc:subject>PptxGenJS Presentation</dc:subject>
  <dc:creator>CertiBuy Insights &amp; Strategy</dc:creator>
  <cp:lastModifiedBy>Priya Dharshini M-Chennai-Digital</cp:lastModifiedBy>
  <cp:revision>2</cp:revision>
  <dcterms:created xsi:type="dcterms:W3CDTF">2026-06-02T16:27:42Z</dcterms:created>
  <dcterms:modified xsi:type="dcterms:W3CDTF">2026-06-03T12:51:25Z</dcterms:modified>
</cp:coreProperties>
</file>